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C2113EE3-8373-4C14-933F-C1E589D5B246}" type="datetime1">
              <a:rPr lang="en-GB" smtClean="0"/>
              <a:t>30/09/2026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buClrTx/>
              <a:buFont typeface="Arial" panose="020B0604020202020204" pitchFamily="34" charset="0"/>
              <a:buChar char="•"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03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C57D-47CF-4AB3-8F41-D74240EA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67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85BE-B3D8-4FF3-B29D-02E82975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8A-6410-47DE-B7D5-0F708CD13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B0D16-5BFA-42AC-ADC2-646F18F1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2B6E7-0296-4DDC-8A37-ADBF0331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E6CF-0013-49C7-AEB8-8E913747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B4A6D-F116-4484-8C9C-A4639CC1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1EE16-2CAA-4269-9363-D2817EE0D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35FF5-1094-4B0C-B250-AD8B448C6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47F8F-0A27-4035-ACD4-A78ECFE4A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F0084-C4B2-4571-BB9F-0F21077E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71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37DD-A251-437C-AEDD-CB5B4426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F1F1D-CD28-4160-A015-F8A9E022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FEFF-33E8-4DF3-9F82-C8924C64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1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A54E-07B9-4B62-B101-F97969B04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2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806B-9951-41F8-8355-56988956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2C372-A8E3-48FB-BC6D-03E9BE45A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F29B-6E7F-438B-A4F0-E7B08FC24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B0398-38BC-4D55-98B4-91433EB4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010A-D0D2-45E6-B04B-900AFC28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A6CE9-1503-44AE-9C80-F0F8D874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2AA1-1B6B-4E88-A09D-356FC685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4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5E3CF-3D05-44C8-88C8-D98ADD5B8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504C6-15EF-447C-AD59-74FEC0CCC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67EC9-ADE0-4807-A12B-A966A05B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7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E1190-2136-48F0-AC05-CF8B7090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720" y="365125"/>
            <a:ext cx="103331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45448-651E-4B5A-868C-102A5658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0DB5-9A54-43D6-A1BD-EE919D586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542081"/>
            <a:ext cx="2743200" cy="315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B768418-2B2A-4DD4-AF20-A6EC6C03C4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" y="78603"/>
            <a:ext cx="12192001" cy="2280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25" tIns="38963" rIns="77925" bIns="38963" anchor="ctr"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8" name="Picture 7" descr="CoM new.jpg">
            <a:extLst>
              <a:ext uri="{FF2B5EF4-FFF2-40B4-BE49-F238E27FC236}">
                <a16:creationId xmlns:a16="http://schemas.microsoft.com/office/drawing/2014/main" id="{CA1A8323-4ADE-4BE5-B7CC-3ABBBDEC976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8" y="365126"/>
            <a:ext cx="750719" cy="89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itMarcH/UNIMA_STA623_2026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t>STA623 Bayesian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/>
          <a:p>
            <a:pPr marL="0" lvl="0" indent="0">
              <a:buNone/>
            </a:pPr>
            <a:r>
              <a:t>Session 4: MCMC in practice: </a:t>
            </a:r>
            <a:r>
              <a:rPr>
                <a:latin typeface="Courier"/>
              </a:rPr>
              <a:t>NIMBLE</a:t>
            </a:r>
            <a:r>
              <a:t> and convergence diagnostics</a:t>
            </a:r>
            <a:br/>
            <a:br/>
            <a:r>
              <a:t>Marc Henrion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2026-10-01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rPr b="1"/>
              <a:t>PRELIMINARIES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Code notes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These notes have been prepared using </a:t>
            </a:r>
            <a:r>
              <a:rPr>
                <a:latin typeface="Courier"/>
              </a:rPr>
              <a:t>quarto</a:t>
            </a:r>
            <a:r>
              <a:t> - qmd shared on GitHub.</a:t>
            </a:r>
          </a:p>
          <a:p>
            <a:pPr lvl="0"/>
            <a:r>
              <a:t>All code is </a:t>
            </a:r>
            <a:r>
              <a:rPr>
                <a:latin typeface="Courier"/>
              </a:rPr>
              <a:t>R</a:t>
            </a:r>
            <a:r>
              <a:t>; Bayesian models are specified in </a:t>
            </a:r>
            <a:r>
              <a:rPr>
                <a:latin typeface="Courier"/>
              </a:rPr>
              <a:t>NIMBLE</a:t>
            </a:r>
            <a:r>
              <a:t> (a dialect of </a:t>
            </a:r>
            <a:r>
              <a:rPr>
                <a:latin typeface="Courier"/>
              </a:rPr>
              <a:t>BUGS</a:t>
            </a:r>
            <a:r>
              <a:t>).</a:t>
            </a:r>
          </a:p>
          <a:p>
            <a:pPr lvl="0"/>
            <a:r>
              <a:rPr>
                <a:latin typeface="Courier"/>
              </a:rPr>
              <a:t>R</a:t>
            </a:r>
            <a:r>
              <a:t> packages used: </a:t>
            </a:r>
            <a:r>
              <a:rPr>
                <a:latin typeface="Courier"/>
              </a:rPr>
              <a:t>tidyverse</a:t>
            </a:r>
            <a:r>
              <a:t>, </a:t>
            </a:r>
            <a:r>
              <a:rPr>
                <a:latin typeface="Courier"/>
              </a:rPr>
              <a:t>gridExtra</a:t>
            </a:r>
            <a:r>
              <a:t>, </a:t>
            </a:r>
            <a:r>
              <a:rPr>
                <a:latin typeface="Courier"/>
              </a:rPr>
              <a:t>HDInterval</a:t>
            </a:r>
            <a:r>
              <a:t>, </a:t>
            </a:r>
            <a:r>
              <a:rPr>
                <a:latin typeface="Courier"/>
              </a:rPr>
              <a:t>nimble</a:t>
            </a:r>
            <a:r>
              <a:t>, </a:t>
            </a:r>
            <a:r>
              <a:rPr>
                <a:latin typeface="Courier"/>
              </a:rPr>
              <a:t>coda</a:t>
            </a:r>
            <a:r>
              <a:t>, </a:t>
            </a:r>
            <a:r>
              <a:rPr>
                <a:latin typeface="Courier"/>
              </a:rPr>
              <a:t>posterior</a:t>
            </a:r>
            <a:r>
              <a:t>, </a:t>
            </a:r>
            <a:r>
              <a:rPr>
                <a:latin typeface="Courier"/>
              </a:rPr>
              <a:t>loo</a:t>
            </a:r>
            <a:r>
              <a:t> (plus </a:t>
            </a:r>
            <a:r>
              <a:rPr>
                <a:latin typeface="Courier"/>
              </a:rPr>
              <a:t>MCMCvis</a:t>
            </a:r>
            <a:r>
              <a:t> optionally). Install them all before the first practical: </a:t>
            </a:r>
            <a:r>
              <a:rPr>
                <a:latin typeface="Courier"/>
              </a:rPr>
              <a:t>NIMBLE</a:t>
            </a:r>
            <a:r>
              <a:t> needs a working C++ compiler (Rtools on Windows, Xcode command line tools on macOS).</a:t>
            </a:r>
          </a:p>
          <a:p>
            <a:pPr lvl="0"/>
            <a:r>
              <a:t>Course materials: </a:t>
            </a:r>
            <a:r>
              <a:rPr>
                <a:hlinkClick r:id="rId2"/>
              </a:rPr>
              <a:t>https://github.com/gitMarcH/UNIMA_STA623_2026</a:t>
            </a:r>
          </a:p>
        </p:txBody>
      </p:sp>
      <p:pic>
        <p:nvPicPr>
          <p:cNvPr id="2" name="Picture 1" descr="images/QR_GitHubRepo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842000" y="977900"/>
            <a:ext cx="4864100" cy="486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License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quarto code is subject to an MIT license (Marc Henrion).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compiled html is subject to a CC BY 4.0 license (Marc Henrion).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Morning quiz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7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Software for Bayesian computation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Software for Bayesian computation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Model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Samplers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NIMBLE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BUGS dialect, in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Gibbs, Metropolis, slice, block; HMC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Used in this 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Stan (rstan, cmdstanr)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Own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HMC / NUTS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State of the art; no discrete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brms, rstanarm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 formulas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Fastest route from a GLMM to a Bayesian 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JAGS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Gibbs, 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Very similar code to NIMBLE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R-INLA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 formulas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Not MCMC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Fast for latent Gaussian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concepts (model specification, priors, diagnostics, checking) transfer directly between these tools. Knowing </a:t>
            </a:r>
            <a:r>
              <a:rPr>
                <a:latin typeface="Courier"/>
              </a:rPr>
              <a:t>BUGS</a:t>
            </a:r>
            <a:r>
              <a:t>/</a:t>
            </a:r>
            <a:r>
              <a:rPr>
                <a:latin typeface="Courier"/>
              </a:rPr>
              <a:t>NIMBLE</a:t>
            </a:r>
            <a:r>
              <a:t> code also helps you read a large body of published epidemiological models.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NIMBLE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NIMBLE workflow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A </a:t>
                </a:r>
                <a:r>
                  <a:rPr dirty="0">
                    <a:latin typeface="Courier"/>
                  </a:rPr>
                  <a:t>NIMBLE</a:t>
                </a:r>
                <a:r>
                  <a:rPr dirty="0"/>
                  <a:t> analysis has four ingredients: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dirty="0"/>
              </a:p>
              <a:p>
                <a:pPr marL="457200" lvl="0" indent="-457200">
                  <a:buAutoNum type="arabicPeriod"/>
                </a:pPr>
                <a:r>
                  <a:rPr b="1" dirty="0"/>
                  <a:t>Model code</a:t>
                </a:r>
                <a:r>
                  <a:rPr dirty="0"/>
                  <a:t>, written with </a:t>
                </a:r>
                <a:r>
                  <a:rPr dirty="0" err="1">
                    <a:latin typeface="Courier"/>
                  </a:rPr>
                  <a:t>nimbleCode</a:t>
                </a:r>
                <a:r>
                  <a:rPr dirty="0">
                    <a:latin typeface="Courier"/>
                  </a:rPr>
                  <a:t>()</a:t>
                </a:r>
                <a:r>
                  <a:rPr dirty="0"/>
                  <a:t>. It declares </a:t>
                </a:r>
                <a:r>
                  <a:rPr i="1" dirty="0"/>
                  <a:t>stochastic</a:t>
                </a:r>
                <a:r>
                  <a:rPr dirty="0"/>
                  <a:t> relationships with </a:t>
                </a:r>
                <a:r>
                  <a:rPr dirty="0">
                    <a:latin typeface="Courier"/>
                  </a:rPr>
                  <a:t>~</a:t>
                </a:r>
                <a:r>
                  <a:rPr dirty="0"/>
                  <a:t> and </a:t>
                </a:r>
                <a:r>
                  <a:rPr i="1" dirty="0"/>
                  <a:t>deterministic</a:t>
                </a:r>
                <a:r>
                  <a:rPr dirty="0"/>
                  <a:t> ones with </a:t>
                </a:r>
                <a:r>
                  <a:rPr dirty="0">
                    <a:latin typeface="Courier"/>
                  </a:rPr>
                  <a:t>&lt;-</a:t>
                </a:r>
                <a:r>
                  <a:rPr dirty="0"/>
                  <a:t>, much like writing the model on paper.</a:t>
                </a:r>
              </a:p>
              <a:p>
                <a:pPr marL="457200" lvl="0" indent="-457200">
                  <a:buAutoNum type="arabicPeriod"/>
                </a:pPr>
                <a:r>
                  <a:rPr b="1" dirty="0"/>
                  <a:t>Constants</a:t>
                </a:r>
                <a:r>
                  <a:rPr dirty="0"/>
                  <a:t> (sample sizes, covariates that are fixed) and </a:t>
                </a:r>
                <a:r>
                  <a:rPr b="1" dirty="0"/>
                  <a:t>data</a:t>
                </a:r>
                <a:r>
                  <a:rPr dirty="0"/>
                  <a:t> (observed stochastic nodes).</a:t>
                </a:r>
              </a:p>
              <a:p>
                <a:pPr marL="457200" lvl="0" indent="-457200">
                  <a:buAutoNum type="arabicPeriod"/>
                </a:pPr>
                <a:r>
                  <a:rPr b="1" dirty="0"/>
                  <a:t>Initial values</a:t>
                </a:r>
                <a:r>
                  <a:rPr dirty="0"/>
                  <a:t> for the unknown quantities (one set per chain, ideally dispersed).</a:t>
                </a:r>
              </a:p>
              <a:p>
                <a:pPr marL="457200" lvl="0" indent="-457200">
                  <a:buAutoNum type="arabicPeriod"/>
                </a:pPr>
                <a:r>
                  <a:rPr b="1" dirty="0"/>
                  <a:t>MCMC settings</a:t>
                </a:r>
                <a:r>
                  <a:rPr dirty="0"/>
                  <a:t>: which nodes to monitor, number of chains, iterations, burn-in.</a:t>
                </a:r>
                <a:r>
                  <a:rPr lang="en-GB" dirty="0"/>
                  <a:t> </a:t>
                </a:r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the non-conjugate Poisson model of Lecture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 dirty="0">
                <a:solidFill>
                  <a:srgbClr val="003B4F"/>
                </a:solidFill>
                <a:latin typeface="Courier"/>
              </a:rPr>
              <a:t>y &lt;- </a:t>
            </a: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3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3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6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4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4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3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3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3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dirty="0" err="1">
                <a:solidFill>
                  <a:srgbClr val="003B4F"/>
                </a:solidFill>
                <a:latin typeface="Courier"/>
              </a:rPr>
              <a:t>pois_code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nimbleCode</a:t>
            </a:r>
            <a:r>
              <a:rPr dirty="0">
                <a:solidFill>
                  <a:srgbClr val="003B4F"/>
                </a:solidFill>
                <a:latin typeface="Courier"/>
              </a:rPr>
              <a:t>({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5E5E5E"/>
                </a:solidFill>
                <a:latin typeface="Courier"/>
              </a:rPr>
              <a:t># sampling model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b="1" dirty="0">
                <a:solidFill>
                  <a:srgbClr val="003B4F"/>
                </a:solidFill>
                <a:latin typeface="Courier"/>
              </a:rPr>
              <a:t>for</a:t>
            </a:r>
            <a:r>
              <a:rPr dirty="0">
                <a:solidFill>
                  <a:srgbClr val="003B4F"/>
                </a:solidFill>
                <a:latin typeface="Courier"/>
              </a:rPr>
              <a:t> (</a:t>
            </a:r>
            <a:r>
              <a:rPr dirty="0" err="1">
                <a:solidFill>
                  <a:srgbClr val="003B4F"/>
                </a:solidFill>
                <a:latin typeface="Courier"/>
              </a:rPr>
              <a:t>i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b="1" dirty="0">
                <a:solidFill>
                  <a:srgbClr val="003B4F"/>
                </a:solidFill>
                <a:latin typeface="Courier"/>
              </a:rPr>
              <a:t>in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5E5E5E"/>
                </a:solidFill>
                <a:latin typeface="Courier"/>
              </a:rPr>
              <a:t>:</a:t>
            </a:r>
            <a:r>
              <a:rPr dirty="0">
                <a:solidFill>
                  <a:srgbClr val="003B4F"/>
                </a:solidFill>
                <a:latin typeface="Courier"/>
              </a:rPr>
              <a:t>N) 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y[</a:t>
            </a:r>
            <a:r>
              <a:rPr dirty="0" err="1">
                <a:solidFill>
                  <a:srgbClr val="003B4F"/>
                </a:solidFill>
                <a:latin typeface="Courier"/>
              </a:rPr>
              <a:t>i</a:t>
            </a:r>
            <a:r>
              <a:rPr dirty="0">
                <a:solidFill>
                  <a:srgbClr val="003B4F"/>
                </a:solidFill>
                <a:latin typeface="Courier"/>
              </a:rPr>
              <a:t>]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dpois</a:t>
            </a:r>
            <a:r>
              <a:rPr dirty="0">
                <a:solidFill>
                  <a:srgbClr val="003B4F"/>
                </a:solidFill>
                <a:latin typeface="Courier"/>
              </a:rPr>
              <a:t>(lambda)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}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lambda &lt;- </a:t>
            </a:r>
            <a:r>
              <a:rPr dirty="0">
                <a:solidFill>
                  <a:srgbClr val="4758AB"/>
                </a:solidFill>
                <a:latin typeface="Courier"/>
              </a:rPr>
              <a:t>exp</a:t>
            </a:r>
            <a:r>
              <a:rPr dirty="0">
                <a:solidFill>
                  <a:srgbClr val="003B4F"/>
                </a:solidFill>
                <a:latin typeface="Courier"/>
              </a:rPr>
              <a:t>(theta)          </a:t>
            </a:r>
            <a:r>
              <a:rPr dirty="0">
                <a:solidFill>
                  <a:srgbClr val="5E5E5E"/>
                </a:solidFill>
                <a:latin typeface="Courier"/>
              </a:rPr>
              <a:t># deterministic node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5E5E5E"/>
                </a:solidFill>
                <a:latin typeface="Courier"/>
              </a:rPr>
              <a:t># prior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theta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dnorm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sd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1.5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})</a:t>
            </a:r>
            <a:r>
              <a:rPr lang="en-GB" dirty="0">
                <a:solidFill>
                  <a:srgbClr val="003B4F"/>
                </a:solidFill>
                <a:latin typeface="Courier"/>
              </a:rPr>
              <a:t> </a:t>
            </a:r>
            <a:endParaRPr dirty="0">
              <a:solidFill>
                <a:srgbClr val="003B4F"/>
              </a:solidFill>
              <a:latin typeface="Courier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the non-conjugate Poisson model of Lecture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The quickest way to run it is the one-line interface </a:t>
            </a:r>
            <a:r>
              <a:rPr dirty="0" err="1">
                <a:latin typeface="Courier"/>
              </a:rPr>
              <a:t>nimbleMCMC</a:t>
            </a:r>
            <a:r>
              <a:rPr dirty="0">
                <a:latin typeface="Courier"/>
              </a:rPr>
              <a:t>()</a:t>
            </a:r>
            <a:r>
              <a:rPr dirty="0"/>
              <a:t>:</a:t>
            </a:r>
          </a:p>
          <a:p>
            <a:pPr lvl="0" indent="0">
              <a:buNone/>
            </a:pPr>
            <a:r>
              <a:rPr dirty="0" err="1">
                <a:solidFill>
                  <a:srgbClr val="003B4F"/>
                </a:solidFill>
                <a:latin typeface="Courier"/>
              </a:rPr>
              <a:t>pois_fit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nimbleMCMC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lang="en-GB"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657422"/>
                </a:solidFill>
                <a:latin typeface="Courier"/>
              </a:rPr>
              <a:t>code     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pois_code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657422"/>
                </a:solidFill>
                <a:latin typeface="Courier"/>
              </a:rPr>
              <a:t>constants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list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N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length</a:t>
            </a:r>
            <a:r>
              <a:rPr dirty="0">
                <a:solidFill>
                  <a:srgbClr val="003B4F"/>
                </a:solidFill>
                <a:latin typeface="Courier"/>
              </a:rPr>
              <a:t>(y)),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657422"/>
                </a:solidFill>
                <a:latin typeface="Courier"/>
              </a:rPr>
              <a:t>data     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list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y),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657422"/>
                </a:solidFill>
                <a:latin typeface="Courier"/>
              </a:rPr>
              <a:t>inits</a:t>
            </a:r>
            <a:r>
              <a:rPr dirty="0">
                <a:solidFill>
                  <a:srgbClr val="657422"/>
                </a:solidFill>
                <a:latin typeface="Courier"/>
              </a:rPr>
              <a:t>    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b="1" dirty="0">
                <a:solidFill>
                  <a:srgbClr val="003B4F"/>
                </a:solidFill>
                <a:latin typeface="Courier"/>
              </a:rPr>
              <a:t>function</a:t>
            </a:r>
            <a:r>
              <a:rPr dirty="0">
                <a:solidFill>
                  <a:srgbClr val="003B4F"/>
                </a:solidFill>
                <a:latin typeface="Courier"/>
              </a:rPr>
              <a:t>() </a:t>
            </a:r>
            <a:r>
              <a:rPr dirty="0">
                <a:solidFill>
                  <a:srgbClr val="4758AB"/>
                </a:solidFill>
                <a:latin typeface="Courier"/>
              </a:rPr>
              <a:t>list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theta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rnorm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)),  </a:t>
            </a:r>
            <a:r>
              <a:rPr dirty="0">
                <a:solidFill>
                  <a:srgbClr val="5E5E5E"/>
                </a:solidFill>
                <a:latin typeface="Courier"/>
              </a:rPr>
              <a:t># a function: new draw for each chain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657422"/>
                </a:solidFill>
                <a:latin typeface="Courier"/>
              </a:rPr>
              <a:t>monitors 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20794D"/>
                </a:solidFill>
                <a:latin typeface="Courier"/>
              </a:rPr>
              <a:t>"theta"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20794D"/>
                </a:solidFill>
                <a:latin typeface="Courier"/>
              </a:rPr>
              <a:t>"lambda"</a:t>
            </a:r>
            <a:r>
              <a:rPr dirty="0">
                <a:solidFill>
                  <a:srgbClr val="003B4F"/>
                </a:solidFill>
                <a:latin typeface="Courier"/>
              </a:rPr>
              <a:t>),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657422"/>
                </a:solidFill>
                <a:latin typeface="Courier"/>
              </a:rPr>
              <a:t>nchains</a:t>
            </a:r>
            <a:r>
              <a:rPr dirty="0">
                <a:solidFill>
                  <a:srgbClr val="657422"/>
                </a:solidFill>
                <a:latin typeface="Courier"/>
              </a:rPr>
              <a:t>  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4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657422"/>
                </a:solidFill>
                <a:latin typeface="Courier"/>
              </a:rPr>
              <a:t>niter    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6000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657422"/>
                </a:solidFill>
                <a:latin typeface="Courier"/>
              </a:rPr>
              <a:t>nburnin</a:t>
            </a:r>
            <a:r>
              <a:rPr dirty="0">
                <a:solidFill>
                  <a:srgbClr val="657422"/>
                </a:solidFill>
                <a:latin typeface="Courier"/>
              </a:rPr>
              <a:t>  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1000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657422"/>
                </a:solidFill>
                <a:latin typeface="Courier"/>
              </a:rPr>
              <a:t>setSeed</a:t>
            </a:r>
            <a:r>
              <a:rPr dirty="0">
                <a:solidFill>
                  <a:srgbClr val="657422"/>
                </a:solidFill>
                <a:latin typeface="Courier"/>
              </a:rPr>
              <a:t>  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8F5902"/>
                </a:solidFill>
                <a:latin typeface="Courier"/>
              </a:rPr>
              <a:t>TRUE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657422"/>
                </a:solidFill>
                <a:latin typeface="Courier"/>
              </a:rPr>
              <a:t>progressBar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8F5902"/>
                </a:solidFill>
                <a:latin typeface="Courier"/>
              </a:rPr>
              <a:t>FALSE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657422"/>
                </a:solidFill>
                <a:latin typeface="Courier"/>
              </a:rPr>
              <a:t>samplesAsCodaMCMC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8F5902"/>
                </a:solidFill>
                <a:latin typeface="Courier"/>
              </a:rPr>
              <a:t>TRUE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14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the non-conjugate Poisson model of Lecture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The result is an </a:t>
            </a:r>
            <a:r>
              <a:rPr dirty="0" err="1">
                <a:latin typeface="Courier"/>
              </a:rPr>
              <a:t>mcmc.list</a:t>
            </a:r>
            <a:r>
              <a:rPr dirty="0"/>
              <a:t> (one matrix of draws per chain), which the </a:t>
            </a:r>
            <a:r>
              <a:rPr dirty="0">
                <a:latin typeface="Courier"/>
              </a:rPr>
              <a:t>coda</a:t>
            </a:r>
            <a:r>
              <a:rPr dirty="0"/>
              <a:t> and </a:t>
            </a:r>
            <a:r>
              <a:rPr dirty="0">
                <a:latin typeface="Courier"/>
              </a:rPr>
              <a:t>posterior</a:t>
            </a:r>
            <a:r>
              <a:rPr dirty="0"/>
              <a:t> packages understand: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summarise_draws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as_draws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pois_fit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  <a:r>
              <a:rPr lang="en-GB" dirty="0">
                <a:solidFill>
                  <a:srgbClr val="003B4F"/>
                </a:solidFill>
                <a:latin typeface="Courier"/>
              </a:rPr>
              <a:t> </a:t>
            </a:r>
            <a:endParaRPr dirty="0">
              <a:solidFill>
                <a:srgbClr val="003B4F"/>
              </a:solidFill>
              <a:latin typeface="Courier"/>
            </a:endParaRPr>
          </a:p>
          <a:p>
            <a:pPr lvl="0" indent="0">
              <a:buNone/>
            </a:pPr>
            <a:r>
              <a:rPr dirty="0">
                <a:latin typeface="Courier"/>
              </a:rPr>
              <a:t># A </a:t>
            </a:r>
            <a:r>
              <a:rPr dirty="0" err="1">
                <a:latin typeface="Courier"/>
              </a:rPr>
              <a:t>tibble</a:t>
            </a:r>
            <a:r>
              <a:rPr dirty="0">
                <a:latin typeface="Courier"/>
              </a:rPr>
              <a:t>: 2 × 10
  variable  mean median    </a:t>
            </a:r>
            <a:r>
              <a:rPr dirty="0" err="1">
                <a:latin typeface="Courier"/>
              </a:rPr>
              <a:t>sd</a:t>
            </a:r>
            <a:r>
              <a:rPr dirty="0">
                <a:latin typeface="Courier"/>
              </a:rPr>
              <a:t>   mad    q5   q95  </a:t>
            </a:r>
            <a:r>
              <a:rPr dirty="0" err="1">
                <a:latin typeface="Courier"/>
              </a:rPr>
              <a:t>rhat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ess_bulk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ess_tail</a:t>
            </a:r>
            <a:r>
              <a:rPr dirty="0">
                <a:latin typeface="Courier"/>
              </a:rPr>
              <a:t>
  &lt;chr&gt;   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 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   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   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
1 lambda   2.20   2.18  0.351 0.347 1.66   2.81  1.00    4341.    4765.
2 theta    0.777  0.780 0.160 0.159 0.505  1.03  1.00    4341.    4765.</a:t>
            </a:r>
          </a:p>
          <a:p>
            <a:pPr marL="0" lvl="0" indent="0">
              <a:buNone/>
            </a:pPr>
            <a:r>
              <a:rPr dirty="0"/>
              <a:t>Compare with your own Metropolis sampler from Lecture 3: the posterior summaries should agree up to Monte Carlo error.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step-by-step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>
                <a:latin typeface="Courier"/>
              </a:rPr>
              <a:t>nimbleMCMC()</a:t>
            </a:r>
            <a:r>
              <a:t> wraps several steps. Doing them explicitly gives more control, in particular over </a:t>
            </a:r>
            <a:r>
              <a:rPr b="1"/>
              <a:t>which sampler is used for which parameter</a:t>
            </a:r>
            <a:r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pois_model &lt;- </a:t>
            </a:r>
            <a:r>
              <a:rPr>
                <a:solidFill>
                  <a:srgbClr val="4758AB"/>
                </a:solidFill>
                <a:latin typeface="Courier"/>
              </a:rPr>
              <a:t>nimbleModel</a:t>
            </a:r>
            <a:r>
              <a:rPr>
                <a:solidFill>
                  <a:srgbClr val="003B4F"/>
                </a:solidFill>
                <a:latin typeface="Courier"/>
              </a:rPr>
              <a:t>(pois_code, </a:t>
            </a:r>
            <a:r>
              <a:rPr>
                <a:solidFill>
                  <a:srgbClr val="657422"/>
                </a:solidFill>
                <a:latin typeface="Courier"/>
              </a:rPr>
              <a:t>constants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(y)),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y), </a:t>
            </a:r>
            <a:r>
              <a:rPr>
                <a:solidFill>
                  <a:srgbClr val="657422"/>
                </a:solidFill>
                <a:latin typeface="Courier"/>
              </a:rPr>
              <a:t>inits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theta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pois_conf  &lt;- </a:t>
            </a:r>
            <a:r>
              <a:rPr>
                <a:solidFill>
                  <a:srgbClr val="4758AB"/>
                </a:solidFill>
                <a:latin typeface="Courier"/>
              </a:rPr>
              <a:t>configureMCMC</a:t>
            </a:r>
            <a:r>
              <a:rPr>
                <a:solidFill>
                  <a:srgbClr val="003B4F"/>
                </a:solidFill>
                <a:latin typeface="Courier"/>
              </a:rPr>
              <a:t>(pois_model, </a:t>
            </a:r>
            <a:r>
              <a:rPr>
                <a:solidFill>
                  <a:srgbClr val="657422"/>
                </a:solidFill>
                <a:latin typeface="Courier"/>
              </a:rPr>
              <a:t>monitors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"theta"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"lambda"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pois_conf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4758AB"/>
                </a:solidFill>
                <a:latin typeface="Courier"/>
              </a:rPr>
              <a:t>printSamplers</a:t>
            </a:r>
            <a:r>
              <a:rPr>
                <a:solidFill>
                  <a:srgbClr val="003B4F"/>
                </a:solidFill>
                <a:latin typeface="Courier"/>
              </a:rPr>
              <a:t>()   </a:t>
            </a:r>
            <a:r>
              <a:rPr>
                <a:solidFill>
                  <a:srgbClr val="5E5E5E"/>
                </a:solidFill>
                <a:latin typeface="Courier"/>
              </a:rPr>
              <a:t># NIMBLE chose an adaptive random-walk Metropolis sampler for theta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16</a:t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step-by-step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indent="0">
              <a:buNone/>
            </a:pPr>
            <a:r>
              <a:rPr dirty="0" err="1">
                <a:solidFill>
                  <a:srgbClr val="003B4F"/>
                </a:solidFill>
                <a:latin typeface="Courier"/>
              </a:rPr>
              <a:t>pois_mcmc</a:t>
            </a:r>
            <a:r>
              <a:rPr dirty="0">
                <a:solidFill>
                  <a:srgbClr val="003B4F"/>
                </a:solidFill>
                <a:latin typeface="Courier"/>
              </a:rPr>
              <a:t>  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buildMCMC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pois_conf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lang="en-GB"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 err="1">
                <a:solidFill>
                  <a:srgbClr val="003B4F"/>
                </a:solidFill>
                <a:latin typeface="Courier"/>
              </a:rPr>
              <a:t>c_model</a:t>
            </a:r>
            <a:r>
              <a:rPr dirty="0">
                <a:solidFill>
                  <a:srgbClr val="003B4F"/>
                </a:solidFill>
                <a:latin typeface="Courier"/>
              </a:rPr>
              <a:t>    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compileNimble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pois_model</a:t>
            </a:r>
            <a:r>
              <a:rPr dirty="0">
                <a:solidFill>
                  <a:srgbClr val="003B4F"/>
                </a:solidFill>
                <a:latin typeface="Courier"/>
              </a:rPr>
              <a:t>)                     </a:t>
            </a:r>
            <a:r>
              <a:rPr dirty="0">
                <a:solidFill>
                  <a:srgbClr val="5E5E5E"/>
                </a:solidFill>
                <a:latin typeface="Courier"/>
              </a:rPr>
              <a:t># translate to C++ and compile</a:t>
            </a:r>
            <a:br>
              <a:rPr dirty="0"/>
            </a:br>
            <a:r>
              <a:rPr dirty="0" err="1">
                <a:solidFill>
                  <a:srgbClr val="003B4F"/>
                </a:solidFill>
                <a:latin typeface="Courier"/>
              </a:rPr>
              <a:t>c_mcmc</a:t>
            </a:r>
            <a:r>
              <a:rPr dirty="0">
                <a:solidFill>
                  <a:srgbClr val="003B4F"/>
                </a:solidFill>
                <a:latin typeface="Courier"/>
              </a:rPr>
              <a:t>     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compileNimble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pois_mcmc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project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pois_model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pois_fit2  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runMCMC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c_mcmc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niter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6000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nburnin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1000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nchains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4</a:t>
            </a:r>
            <a:r>
              <a:rPr dirty="0">
                <a:solidFill>
                  <a:srgbClr val="003B4F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 dirty="0" err="1">
                <a:solidFill>
                  <a:srgbClr val="657422"/>
                </a:solidFill>
                <a:latin typeface="Courier"/>
              </a:rPr>
              <a:t>inits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b="1" dirty="0">
                <a:solidFill>
                  <a:srgbClr val="003B4F"/>
                </a:solidFill>
                <a:latin typeface="Courier"/>
              </a:rPr>
              <a:t>function</a:t>
            </a:r>
            <a:r>
              <a:rPr dirty="0">
                <a:solidFill>
                  <a:srgbClr val="003B4F"/>
                </a:solidFill>
                <a:latin typeface="Courier"/>
              </a:rPr>
              <a:t>() </a:t>
            </a:r>
            <a:r>
              <a:rPr dirty="0">
                <a:solidFill>
                  <a:srgbClr val="4758AB"/>
                </a:solidFill>
                <a:latin typeface="Courier"/>
              </a:rPr>
              <a:t>list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theta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rnorm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)),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 dirty="0" err="1">
                <a:solidFill>
                  <a:srgbClr val="657422"/>
                </a:solidFill>
                <a:latin typeface="Courier"/>
              </a:rPr>
              <a:t>setSeed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8F5902"/>
                </a:solidFill>
                <a:latin typeface="Courier"/>
              </a:rPr>
              <a:t>TRUE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progressBar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8F5902"/>
                </a:solidFill>
                <a:latin typeface="Courier"/>
              </a:rPr>
              <a:t>FALSE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samplesAsCodaMCMC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8F5902"/>
                </a:solidFill>
                <a:latin typeface="Courier"/>
              </a:rPr>
              <a:t>TRUE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dirty="0"/>
              <a:t>Between </a:t>
            </a:r>
            <a:r>
              <a:rPr dirty="0" err="1">
                <a:latin typeface="Courier"/>
              </a:rPr>
              <a:t>configureMCMC</a:t>
            </a:r>
            <a:r>
              <a:rPr dirty="0">
                <a:latin typeface="Courier"/>
              </a:rPr>
              <a:t>()</a:t>
            </a:r>
            <a:r>
              <a:rPr dirty="0"/>
              <a:t> and </a:t>
            </a:r>
            <a:r>
              <a:rPr dirty="0" err="1">
                <a:latin typeface="Courier"/>
              </a:rPr>
              <a:t>buildMCMC</a:t>
            </a:r>
            <a:r>
              <a:rPr dirty="0">
                <a:latin typeface="Courier"/>
              </a:rPr>
              <a:t>()</a:t>
            </a:r>
            <a:r>
              <a:rPr dirty="0"/>
              <a:t> you can remove, replace and add samplers (we will do this below). A compiled model can be re-run with different data or settings without recompiling.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NIMBLE / BUGS code: common pitfalls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b="1" dirty="0" err="1"/>
                  <a:t>Parameterisation</a:t>
                </a:r>
                <a:r>
                  <a:rPr b="1" dirty="0"/>
                  <a:t>.</a:t>
                </a:r>
                <a:r>
                  <a:rPr dirty="0"/>
                  <a:t> In </a:t>
                </a:r>
                <a:r>
                  <a:rPr dirty="0">
                    <a:latin typeface="Courier"/>
                  </a:rPr>
                  <a:t>BUGS</a:t>
                </a:r>
                <a:r>
                  <a:rPr dirty="0"/>
                  <a:t>, </a:t>
                </a:r>
                <a:r>
                  <a:rPr dirty="0" err="1">
                    <a:latin typeface="Courier"/>
                  </a:rPr>
                  <a:t>dnorm</a:t>
                </a:r>
                <a:r>
                  <a:rPr dirty="0">
                    <a:latin typeface="Courier"/>
                  </a:rPr>
                  <a:t>(mu, tau)</a:t>
                </a:r>
                <a:r>
                  <a:rPr dirty="0"/>
                  <a:t> uses the </a:t>
                </a:r>
                <a:r>
                  <a:rPr i="1" dirty="0"/>
                  <a:t>precision</a:t>
                </a:r>
                <a:r>
                  <a:rPr lang="en-GB" i="1" dirty="0"/>
                  <a:t> 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𝜏</m:t>
                    </m:r>
                    <m:r>
                      <a:rPr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dirty="0"/>
                  <a:t>. </a:t>
                </a:r>
                <a:r>
                  <a:rPr dirty="0">
                    <a:latin typeface="Courier"/>
                  </a:rPr>
                  <a:t>NIMBLE</a:t>
                </a:r>
                <a:r>
                  <a:rPr dirty="0"/>
                  <a:t> accepts this </a:t>
                </a:r>
                <a:r>
                  <a:rPr i="1" dirty="0"/>
                  <a:t>and</a:t>
                </a:r>
                <a:r>
                  <a:rPr dirty="0"/>
                  <a:t> named alternatives: </a:t>
                </a:r>
                <a:r>
                  <a:rPr dirty="0" err="1">
                    <a:latin typeface="Courier"/>
                  </a:rPr>
                  <a:t>dnorm</a:t>
                </a:r>
                <a:r>
                  <a:rPr dirty="0">
                    <a:latin typeface="Courier"/>
                  </a:rPr>
                  <a:t>(0, </a:t>
                </a:r>
                <a:r>
                  <a:rPr dirty="0" err="1">
                    <a:latin typeface="Courier"/>
                  </a:rPr>
                  <a:t>sd</a:t>
                </a:r>
                <a:r>
                  <a:rPr dirty="0">
                    <a:latin typeface="Courier"/>
                  </a:rPr>
                  <a:t> = 10)</a:t>
                </a:r>
                <a:r>
                  <a:rPr dirty="0"/>
                  <a:t>, </a:t>
                </a:r>
                <a:r>
                  <a:rPr dirty="0" err="1">
                    <a:latin typeface="Courier"/>
                  </a:rPr>
                  <a:t>dnorm</a:t>
                </a:r>
                <a:r>
                  <a:rPr dirty="0">
                    <a:latin typeface="Courier"/>
                  </a:rPr>
                  <a:t>(0, var = 100)</a:t>
                </a:r>
                <a:r>
                  <a:rPr dirty="0"/>
                  <a:t> and </a:t>
                </a:r>
                <a:r>
                  <a:rPr dirty="0" err="1">
                    <a:latin typeface="Courier"/>
                  </a:rPr>
                  <a:t>dnorm</a:t>
                </a:r>
                <a:r>
                  <a:rPr dirty="0">
                    <a:latin typeface="Courier"/>
                  </a:rPr>
                  <a:t>(0, 0.01)</a:t>
                </a:r>
                <a:r>
                  <a:rPr dirty="0"/>
                  <a:t> are identical. Always use named arguments to avoid confusion.</a:t>
                </a:r>
              </a:p>
              <a:p>
                <a:pPr lvl="0"/>
                <a:r>
                  <a:rPr dirty="0" err="1">
                    <a:latin typeface="Courier"/>
                  </a:rPr>
                  <a:t>dbin</a:t>
                </a:r>
                <a:r>
                  <a:rPr dirty="0">
                    <a:latin typeface="Courier"/>
                  </a:rPr>
                  <a:t>(p, n)</a:t>
                </a:r>
                <a:r>
                  <a:rPr dirty="0"/>
                  <a:t> and </a:t>
                </a:r>
                <a:r>
                  <a:rPr dirty="0" err="1">
                    <a:latin typeface="Courier"/>
                  </a:rPr>
                  <a:t>dnegbin</a:t>
                </a:r>
                <a:r>
                  <a:rPr dirty="0">
                    <a:latin typeface="Courier"/>
                  </a:rPr>
                  <a:t>(p, r)</a:t>
                </a:r>
                <a:r>
                  <a:rPr dirty="0"/>
                  <a:t> take the probability </a:t>
                </a:r>
                <a:r>
                  <a:rPr i="1" dirty="0"/>
                  <a:t>first</a:t>
                </a:r>
                <a:r>
                  <a:rPr dirty="0"/>
                  <a:t> (the </a:t>
                </a:r>
                <a:r>
                  <a:rPr dirty="0">
                    <a:latin typeface="Courier"/>
                  </a:rPr>
                  <a:t>BUGS</a:t>
                </a:r>
                <a:r>
                  <a:rPr dirty="0"/>
                  <a:t> order), unlike </a:t>
                </a:r>
                <a:r>
                  <a:rPr dirty="0">
                    <a:latin typeface="Courier"/>
                  </a:rPr>
                  <a:t>R</a:t>
                </a:r>
                <a:r>
                  <a:rPr dirty="0"/>
                  <a:t>’s </a:t>
                </a:r>
                <a:r>
                  <a:rPr dirty="0" err="1">
                    <a:latin typeface="Courier"/>
                  </a:rPr>
                  <a:t>dbinom</a:t>
                </a:r>
                <a:r>
                  <a:rPr dirty="0">
                    <a:latin typeface="Courier"/>
                  </a:rPr>
                  <a:t>(x, size, prob)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>
                    <a:latin typeface="Courier"/>
                  </a:rPr>
                  <a:t>dgamma</a:t>
                </a:r>
                <a:r>
                  <a:rPr dirty="0">
                    <a:latin typeface="Courier"/>
                  </a:rPr>
                  <a:t>(shape, rate)</a:t>
                </a:r>
                <a:r>
                  <a:rPr dirty="0"/>
                  <a:t>; </a:t>
                </a:r>
                <a:r>
                  <a:rPr dirty="0" err="1">
                    <a:latin typeface="Courier"/>
                  </a:rPr>
                  <a:t>dexp</a:t>
                </a:r>
                <a:r>
                  <a:rPr dirty="0">
                    <a:latin typeface="Courier"/>
                  </a:rPr>
                  <a:t>(rate)</a:t>
                </a:r>
                <a:r>
                  <a:rPr dirty="0"/>
                  <a:t>.</a:t>
                </a:r>
              </a:p>
              <a:p>
                <a:pPr lvl="0"/>
                <a:r>
                  <a:rPr dirty="0"/>
                  <a:t>Link functions can appear on the left of </a:t>
                </a:r>
                <a:r>
                  <a:rPr dirty="0">
                    <a:latin typeface="Courier"/>
                  </a:rPr>
                  <a:t>&lt;-</a:t>
                </a:r>
                <a:r>
                  <a:rPr dirty="0"/>
                  <a:t>: </a:t>
                </a:r>
                <a:r>
                  <a:rPr dirty="0">
                    <a:latin typeface="Courier"/>
                  </a:rPr>
                  <a:t>logit(p[</a:t>
                </a:r>
                <a:r>
                  <a:rPr dirty="0" err="1">
                    <a:latin typeface="Courier"/>
                  </a:rPr>
                  <a:t>i</a:t>
                </a:r>
                <a:r>
                  <a:rPr dirty="0">
                    <a:latin typeface="Courier"/>
                  </a:rPr>
                  <a:t>]) &lt;- b0 + b1 * x[</a:t>
                </a:r>
                <a:r>
                  <a:rPr dirty="0" err="1">
                    <a:latin typeface="Courier"/>
                  </a:rPr>
                  <a:t>i</a:t>
                </a:r>
                <a:r>
                  <a:rPr dirty="0">
                    <a:latin typeface="Courier"/>
                  </a:rPr>
                  <a:t>]</a:t>
                </a:r>
                <a:r>
                  <a:rPr dirty="0"/>
                  <a:t>, </a:t>
                </a:r>
                <a:r>
                  <a:rPr dirty="0">
                    <a:latin typeface="Courier"/>
                  </a:rPr>
                  <a:t>log(mu[</a:t>
                </a:r>
                <a:r>
                  <a:rPr dirty="0" err="1">
                    <a:latin typeface="Courier"/>
                  </a:rPr>
                  <a:t>i</a:t>
                </a:r>
                <a:r>
                  <a:rPr dirty="0">
                    <a:latin typeface="Courier"/>
                  </a:rPr>
                  <a:t>]) &lt;- ...</a:t>
                </a:r>
                <a:r>
                  <a:rPr dirty="0"/>
                  <a:t>.</a:t>
                </a:r>
              </a:p>
              <a:p>
                <a:pPr lvl="0"/>
                <a:r>
                  <a:rPr dirty="0"/>
                  <a:t>A node can be defined only once. Loops are for indexing, not for iterative computation.</a:t>
                </a:r>
              </a:p>
              <a:p>
                <a:pPr lvl="0"/>
                <a:r>
                  <a:rPr dirty="0"/>
                  <a:t>Vague priors such as </a:t>
                </a:r>
                <a:r>
                  <a:rPr dirty="0" err="1">
                    <a:latin typeface="Courier"/>
                  </a:rPr>
                  <a:t>dnorm</a:t>
                </a:r>
                <a:r>
                  <a:rPr dirty="0">
                    <a:latin typeface="Courier"/>
                  </a:rPr>
                  <a:t>(0, 0.0001)</a:t>
                </a:r>
                <a:r>
                  <a:rPr dirty="0"/>
                  <a:t> (SD 100) or </a:t>
                </a:r>
                <a:r>
                  <a:rPr dirty="0" err="1">
                    <a:latin typeface="Courier"/>
                  </a:rPr>
                  <a:t>dgamma</a:t>
                </a:r>
                <a:r>
                  <a:rPr dirty="0">
                    <a:latin typeface="Courier"/>
                  </a:rPr>
                  <a:t>(0.001, 0.001)</a:t>
                </a:r>
                <a:r>
                  <a:rPr dirty="0"/>
                  <a:t> are common in older code. Check what they imply with a prior predictive simulation (Lecture 2) before using them.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252" r="-121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18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Convergence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MCMC gives correct answers </a:t>
            </a:r>
            <a:r>
              <a:rPr i="1"/>
              <a:t>eventually</a:t>
            </a:r>
            <a:r>
              <a:t>.</a:t>
            </a:r>
          </a:p>
          <a:p>
            <a:pPr marL="0" lvl="0" indent="0">
              <a:buNone/>
            </a:pPr>
            <a:r>
              <a:t>Diagnostics ask: </a:t>
            </a:r>
            <a:r>
              <a:rPr b="1"/>
              <a:t>is our finite run long enough, and have the chains forgotten their starting values?</a:t>
            </a:r>
          </a:p>
          <a:p>
            <a:pPr marL="0" lvl="0" indent="0">
              <a:buNone/>
            </a:pPr>
            <a:r>
              <a:t>We can never prove convergence, but we can often detect non-convergence.</a:t>
            </a:r>
          </a:p>
          <a:p>
            <a:pPr marL="0" lvl="0" indent="0">
              <a:buNone/>
            </a:pPr>
            <a:r>
              <a:t>Always run </a:t>
            </a:r>
            <a:r>
              <a:rPr b="1"/>
              <a:t>at least 4 chains from dispersed starting values</a:t>
            </a:r>
            <a: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19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Trace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trace_plot</a:t>
            </a:r>
            <a:r>
              <a:rPr>
                <a:solidFill>
                  <a:srgbClr val="003B4F"/>
                </a:solidFill>
                <a:latin typeface="Courier"/>
              </a:rPr>
              <a:t>(pois_fit, </a:t>
            </a:r>
            <a:r>
              <a:rPr>
                <a:solidFill>
                  <a:srgbClr val="20794D"/>
                </a:solidFill>
                <a:latin typeface="Courier"/>
              </a:rPr>
              <a:t>"theta"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Trace plots</a:t>
            </a:r>
          </a:p>
        </p:txBody>
      </p:sp>
      <p:pic>
        <p:nvPicPr>
          <p:cNvPr id="3" name="Picture 1" descr="Chanco_STA623_BDA_2026_Henrion_Session4_files/figure-pptx/unnamed-chunk-8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162300"/>
            <a:ext cx="10515600" cy="196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Trace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rPr b="1"/>
              <a:t>Good</a:t>
            </a:r>
            <a:r>
              <a:t>: all chains overlap and look like stationary noise (“hairy caterpillars”).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rPr b="1"/>
              <a:t>Bad</a:t>
            </a:r>
            <a:r>
              <a:t>: trends, chains in different places, long flat stretches, occasional excursions.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22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 xmlns:m="http://schemas.openxmlformats.org/officeDocument/2006/math">
                <m:acc>
                  <m:accPr>
                    <m:chr m:val="̂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</m:acc>
              </m:oMath>
            </a14:m>
            <a:r>
              <a:t> (potential scale reduction factor)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 xmlns:m="http://schemas.openxmlformats.org/officeDocument/2006/math">
                <m:acc>
                  <m:accPr>
                    <m:chr m:val="̂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</m:acc>
              </m:oMath>
            </a14:m>
            <a:r>
              <a:t> compares the variation </a:t>
            </a:r>
            <a:r>
              <a:rPr i="1"/>
              <a:t>between</a:t>
            </a:r>
            <a:r>
              <a:t> chains with the variation </a:t>
            </a:r>
            <a:r>
              <a:rPr i="1"/>
              <a:t>within</a:t>
            </a:r>
            <a:r>
              <a:t> chains. If all chains sample the same distribution these agree and </a:t>
            </a:r>
            <a14:m xmlns:a14="http://schemas.microsoft.com/office/drawing/2010/main">
              <m:oMath xmlns:m="http://schemas.openxmlformats.org/officeDocument/2006/math">
                <m:acc>
                  <m:accPr>
                    <m:chr m:val="̂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≈1</m:t>
                </m:r>
              </m:oMath>
            </a14:m>
            <a:r>
              <a:t>. The modern, rank-normalised version (Vehtari et al., 2021, computed by the </a:t>
            </a:r>
            <a:r>
              <a:rPr>
                <a:latin typeface="Courier"/>
              </a:rPr>
              <a:t>posterior</a:t>
            </a:r>
            <a:r>
              <a:t> package) also detects differences in the tails and in scale.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rPr b="1"/>
              <a:t>Rule of thumb: </a:t>
            </a:r>
            <a14:m xmlns:a14="http://schemas.microsoft.com/office/drawing/2010/main">
              <m:oMath xmlns:m="http://schemas.openxmlformats.org/officeDocument/2006/math">
                <m:acc>
                  <m:accPr>
                    <m:chr m:val="̂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&lt;1.01</m:t>
                </m:r>
              </m:oMath>
            </a14:m>
            <a:r>
              <a:rPr b="1"/>
              <a:t> for every parameter of interest.</a:t>
            </a:r>
            <a:r>
              <a:t> (Older texts use 1.1; that threshold is too lax.) </a:t>
            </a:r>
            <a:r>
              <a:rPr>
                <a:latin typeface="Courier"/>
              </a:rPr>
              <a:t>coda::gelman.diag()</a:t>
            </a:r>
            <a:r>
              <a:t> gives the original version.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23</a:t>
            </a:fld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Autocorrelation and effective sample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MCMC draws are autocorrelated, so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𝑆</m:t>
                </m:r>
              </m:oMath>
            </a14:m>
            <a:r>
              <a:t> correlated draws carry less information than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𝑆</m:t>
                </m:r>
              </m:oMath>
            </a14:m>
            <a:r>
              <a:t> independent ones. The </a:t>
            </a:r>
            <a:r>
              <a:rPr b="1"/>
              <a:t>effective sample size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 b="1"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rPr>
                      <m:nor/>
                    </m:rPr>
                    <a:rPr i="0"/>
                    <m:t>ESS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1+2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den>
                  </m:f>
                  <m:r>
                    <a:rPr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 b="1"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 b="1"/>
          </a:p>
          <a:p>
            <a:pPr marL="0" lvl="0" indent="0">
              <a:buNone/>
            </a:pPr>
            <a:r>
              <a:t>where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𝜌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a14:m>
            <a:r>
              <a:t> is the lag-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𝑡</m:t>
                </m:r>
              </m:oMath>
            </a14:m>
            <a:r>
              <a:t> autocorrelation, is the number of independent draws with the same Monte Carlo precision. The MCSE of a posterior mean is </a:t>
            </a:r>
            <a14:m xmlns:a14="http://schemas.microsoft.com/office/drawing/2010/main">
              <m:oMath xmlns:m="http://schemas.openxmlformats.org/officeDocument/2006/math">
                <m:r>
                  <m:rPr>
                    <m:nor/>
                  </m:rPr>
                  <a:rPr i="0"/>
                  <m:t>sd</m:t>
                </m:r>
                <m:r>
                  <a:rPr>
                    <a:latin typeface="Cambria Math" panose="02040503050406030204" pitchFamily="18" charset="0"/>
                  </a:rPr>
                  <m:t>/</m:t>
                </m:r>
                <m:rad>
                  <m:radPr>
                    <m:degHide m:val="on"/>
                    <m:ctrlPr>
                      <a:rPr i="1"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m:rPr>
                        <m:nor/>
                      </m:rPr>
                      <a:rPr i="0"/>
                      <m:t>ESS</m:t>
                    </m:r>
                  </m:e>
                </m:rad>
              </m:oMath>
            </a14:m>
            <a: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24</a:t>
            </a:fld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Autocorrelation and effective sample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>
                <a:latin typeface="Courier"/>
              </a:rPr>
              <a:t>posterior</a:t>
            </a:r>
            <a:r>
              <a:t> reports two versions: </a:t>
            </a:r>
            <a:r>
              <a:rPr b="1"/>
              <a:t>bulk-ESS</a:t>
            </a:r>
            <a:r>
              <a:t> (reliability of means and medians) and </a:t>
            </a:r>
            <a:r>
              <a:rPr b="1"/>
              <a:t>tail-ESS</a:t>
            </a:r>
            <a:r>
              <a:t> (reliability of 2.5% and 97.5% quantiles, i.e. credible intervals). </a:t>
            </a:r>
            <a:r>
              <a:rPr b="1"/>
              <a:t>Rule of thumb: both above 400</a:t>
            </a:r>
            <a:r>
              <a:t> (100 per chain with 4 chains) before trusting summaries; more if you need precise tail probabilities.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summarise_draws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as_draws</a:t>
            </a:r>
            <a:r>
              <a:rPr>
                <a:solidFill>
                  <a:srgbClr val="003B4F"/>
                </a:solidFill>
                <a:latin typeface="Courier"/>
              </a:rPr>
              <a:t>(pois_fit), </a:t>
            </a:r>
            <a:r>
              <a:rPr>
                <a:solidFill>
                  <a:srgbClr val="20794D"/>
                </a:solidFill>
                <a:latin typeface="Courier"/>
              </a:rPr>
              <a:t>"mean"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"rhat"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"ess_bulk"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"ess_tail"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"mcse_mean"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variable  mean    sd  rhat ess_bulk ess_tail mcse_mean
  &lt;chr&gt;    &lt;dbl&gt; &lt;dbl&gt; &lt;dbl&gt;    &lt;dbl&gt;    &lt;dbl&gt;     &lt;dbl&gt;
1 lambda   2.20  0.351  1.00    4341.    4765.   0.00531
2 theta    0.777 0.160  1.00    4341.    4765.   0.00244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25</a:t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Burn-in, thinning, run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Burn-in / warm-up</a:t>
            </a:r>
            <a:r>
              <a:t>: discard the initial part of each chain (and the part during which samplers adapt their step sizes). Inspect trace plots from the very first iteration if in doubt; </a:t>
            </a:r>
            <a:r>
              <a:rPr>
                <a:latin typeface="Courier"/>
              </a:rPr>
              <a:t>NIMBLE</a:t>
            </a:r>
            <a:r>
              <a:t>’s default of 0 burn-in is rarely appropriate.</a:t>
            </a:r>
          </a:p>
          <a:p>
            <a:pPr lvl="0"/>
            <a:r>
              <a:rPr b="1"/>
              <a:t>Thinning</a:t>
            </a:r>
            <a:r>
              <a:t> (keeping every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𝑘</m:t>
                </m:r>
              </m:oMath>
            </a14:m>
            <a:r>
              <a:t>-th draw) </a:t>
            </a:r>
            <a:r>
              <a:rPr i="1"/>
              <a:t>reduces</a:t>
            </a:r>
            <a:r>
              <a:t> the information in the run. Use it only to save memory for very long runs of many parameters.</a:t>
            </a:r>
          </a:p>
          <a:p>
            <a:pPr lvl="0"/>
            <a:r>
              <a:rPr b="1"/>
              <a:t>Run length</a:t>
            </a:r>
            <a:r>
              <a:t>: increase </a:t>
            </a:r>
            <a:r>
              <a:rPr>
                <a:latin typeface="Courier"/>
              </a:rPr>
              <a:t>niter</a:t>
            </a:r>
            <a:r>
              <a:t> until </a:t>
            </a:r>
            <a14:m xmlns:a14="http://schemas.microsoft.com/office/drawing/2010/main">
              <m:oMath xmlns:m="http://schemas.openxmlformats.org/officeDocument/2006/math">
                <m:acc>
                  <m:accPr>
                    <m:chr m:val="̂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e>
                </m:acc>
              </m:oMath>
            </a14:m>
            <a:r>
              <a:t> and ESS criteria are met. If this needs millions of iterations, fix the model or sampler instead (next section).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Case study: a sampler that mixes badly, and how to fix 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27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Simulated data for a linear regression with three covariates, one of which (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</m:oMath>
            </a14:m>
            <a:r>
              <a:t>, a count with mean 20) is far from zero: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𝑌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3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𝜀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𝜀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a:rPr>
                      <a:latin typeface="Cambria Math" panose="02040503050406030204" pitchFamily="18" charset="0"/>
                    </a:rPr>
                    <m:t>𝒩</m:t>
                  </m:r>
                  <m:r>
                    <a:rPr>
                      <a:latin typeface="Cambria Math" panose="02040503050406030204" pitchFamily="18" charset="0"/>
                    </a:rPr>
                    <m:t>(0,</m:t>
                  </m:r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𝜎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).</m:t>
                  </m:r>
                </m:oMath>
              </m:oMathPara>
            </a14:m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28</a:t>
            </a:fld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1309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 &lt;-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reg_df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rexp</a:t>
            </a:r>
            <a:r>
              <a:rPr>
                <a:solidFill>
                  <a:srgbClr val="003B4F"/>
                </a:solidFill>
                <a:latin typeface="Courier"/>
              </a:rPr>
              <a:t>(N, </a:t>
            </a:r>
            <a:r>
              <a:rPr>
                <a:solidFill>
                  <a:srgbClr val="657422"/>
                </a:solidFill>
                <a:latin typeface="Courier"/>
              </a:rPr>
              <a:t>rate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x2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(N,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x3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rpois</a:t>
            </a:r>
            <a:r>
              <a:rPr>
                <a:solidFill>
                  <a:srgbClr val="003B4F"/>
                </a:solidFill>
                <a:latin typeface="Courier"/>
              </a:rPr>
              <a:t>(N, </a:t>
            </a:r>
            <a:r>
              <a:rPr>
                <a:solidFill>
                  <a:srgbClr val="657422"/>
                </a:solidFill>
                <a:latin typeface="Courier"/>
              </a:rPr>
              <a:t>lambda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x1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x3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(N,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29</a:t>
            </a:fld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dirty="0" err="1">
                <a:solidFill>
                  <a:srgbClr val="003B4F"/>
                </a:solidFill>
                <a:latin typeface="Courier"/>
              </a:rPr>
              <a:t>lm_code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nimbleCode</a:t>
            </a:r>
            <a:r>
              <a:rPr dirty="0">
                <a:solidFill>
                  <a:srgbClr val="003B4F"/>
                </a:solidFill>
                <a:latin typeface="Courier"/>
              </a:rPr>
              <a:t>({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b="1" dirty="0">
                <a:solidFill>
                  <a:srgbClr val="003B4F"/>
                </a:solidFill>
                <a:latin typeface="Courier"/>
              </a:rPr>
              <a:t>for</a:t>
            </a:r>
            <a:r>
              <a:rPr dirty="0">
                <a:solidFill>
                  <a:srgbClr val="003B4F"/>
                </a:solidFill>
                <a:latin typeface="Courier"/>
              </a:rPr>
              <a:t> (</a:t>
            </a:r>
            <a:r>
              <a:rPr dirty="0" err="1">
                <a:solidFill>
                  <a:srgbClr val="003B4F"/>
                </a:solidFill>
                <a:latin typeface="Courier"/>
              </a:rPr>
              <a:t>i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b="1" dirty="0">
                <a:solidFill>
                  <a:srgbClr val="003B4F"/>
                </a:solidFill>
                <a:latin typeface="Courier"/>
              </a:rPr>
              <a:t>in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5E5E5E"/>
                </a:solidFill>
                <a:latin typeface="Courier"/>
              </a:rPr>
              <a:t>:</a:t>
            </a:r>
            <a:r>
              <a:rPr dirty="0">
                <a:solidFill>
                  <a:srgbClr val="003B4F"/>
                </a:solidFill>
                <a:latin typeface="Courier"/>
              </a:rPr>
              <a:t>N) {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y[</a:t>
            </a:r>
            <a:r>
              <a:rPr dirty="0" err="1">
                <a:solidFill>
                  <a:srgbClr val="003B4F"/>
                </a:solidFill>
                <a:latin typeface="Courier"/>
              </a:rPr>
              <a:t>i</a:t>
            </a:r>
            <a:r>
              <a:rPr dirty="0">
                <a:solidFill>
                  <a:srgbClr val="003B4F"/>
                </a:solidFill>
                <a:latin typeface="Courier"/>
              </a:rPr>
              <a:t>]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dnorm</a:t>
            </a:r>
            <a:r>
              <a:rPr dirty="0">
                <a:solidFill>
                  <a:srgbClr val="003B4F"/>
                </a:solidFill>
                <a:latin typeface="Courier"/>
              </a:rPr>
              <a:t>(mu[</a:t>
            </a:r>
            <a:r>
              <a:rPr dirty="0" err="1">
                <a:solidFill>
                  <a:srgbClr val="003B4F"/>
                </a:solidFill>
                <a:latin typeface="Courier"/>
              </a:rPr>
              <a:t>i</a:t>
            </a:r>
            <a:r>
              <a:rPr dirty="0">
                <a:solidFill>
                  <a:srgbClr val="003B4F"/>
                </a:solidFill>
                <a:latin typeface="Courier"/>
              </a:rPr>
              <a:t>], </a:t>
            </a:r>
            <a:r>
              <a:rPr dirty="0" err="1">
                <a:solidFill>
                  <a:srgbClr val="657422"/>
                </a:solidFill>
                <a:latin typeface="Courier"/>
              </a:rPr>
              <a:t>sd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sigma)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mu[</a:t>
            </a:r>
            <a:r>
              <a:rPr dirty="0" err="1">
                <a:solidFill>
                  <a:srgbClr val="003B4F"/>
                </a:solidFill>
                <a:latin typeface="Courier"/>
              </a:rPr>
              <a:t>i</a:t>
            </a:r>
            <a:r>
              <a:rPr dirty="0">
                <a:solidFill>
                  <a:srgbClr val="003B4F"/>
                </a:solidFill>
                <a:latin typeface="Courier"/>
              </a:rPr>
              <a:t>] &lt;- b0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b1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x1[</a:t>
            </a:r>
            <a:r>
              <a:rPr dirty="0" err="1">
                <a:solidFill>
                  <a:srgbClr val="003B4F"/>
                </a:solidFill>
                <a:latin typeface="Courier"/>
              </a:rPr>
              <a:t>i</a:t>
            </a:r>
            <a:r>
              <a:rPr dirty="0">
                <a:solidFill>
                  <a:srgbClr val="003B4F"/>
                </a:solidFill>
                <a:latin typeface="Courier"/>
              </a:rPr>
              <a:t>]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b2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x2[</a:t>
            </a:r>
            <a:r>
              <a:rPr dirty="0" err="1">
                <a:solidFill>
                  <a:srgbClr val="003B4F"/>
                </a:solidFill>
                <a:latin typeface="Courier"/>
              </a:rPr>
              <a:t>i</a:t>
            </a:r>
            <a:r>
              <a:rPr dirty="0">
                <a:solidFill>
                  <a:srgbClr val="003B4F"/>
                </a:solidFill>
                <a:latin typeface="Courier"/>
              </a:rPr>
              <a:t>]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b3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x3[</a:t>
            </a:r>
            <a:r>
              <a:rPr dirty="0" err="1">
                <a:solidFill>
                  <a:srgbClr val="003B4F"/>
                </a:solidFill>
                <a:latin typeface="Courier"/>
              </a:rPr>
              <a:t>i</a:t>
            </a:r>
            <a:r>
              <a:rPr dirty="0">
                <a:solidFill>
                  <a:srgbClr val="003B4F"/>
                </a:solidFill>
                <a:latin typeface="Courier"/>
              </a:rPr>
              <a:t>]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}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b0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dnorm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sd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10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b1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dnorm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sd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10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b2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dnorm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sd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10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b3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dnorm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sd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10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sigma 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dexp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})</a:t>
            </a:r>
            <a:br>
              <a:rPr dirty="0"/>
            </a:br>
            <a:br>
              <a:rPr dirty="0"/>
            </a:br>
            <a:r>
              <a:rPr dirty="0" err="1">
                <a:solidFill>
                  <a:srgbClr val="003B4F"/>
                </a:solidFill>
                <a:latin typeface="Courier"/>
              </a:rPr>
              <a:t>lm_inits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b="1" dirty="0">
                <a:solidFill>
                  <a:srgbClr val="003B4F"/>
                </a:solidFill>
                <a:latin typeface="Courier"/>
              </a:rPr>
              <a:t>function</a:t>
            </a:r>
            <a:r>
              <a:rPr dirty="0">
                <a:solidFill>
                  <a:srgbClr val="003B4F"/>
                </a:solidFill>
                <a:latin typeface="Courier"/>
              </a:rPr>
              <a:t>() </a:t>
            </a:r>
            <a:r>
              <a:rPr dirty="0">
                <a:solidFill>
                  <a:srgbClr val="4758AB"/>
                </a:solidFill>
                <a:latin typeface="Courier"/>
              </a:rPr>
              <a:t>list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b0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rnorm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3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>
                <a:solidFill>
                  <a:srgbClr val="657422"/>
                </a:solidFill>
                <a:latin typeface="Courier"/>
              </a:rPr>
              <a:t>b1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rnorm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>
                <a:solidFill>
                  <a:srgbClr val="657422"/>
                </a:solidFill>
                <a:latin typeface="Courier"/>
              </a:rPr>
              <a:t>b2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rnorm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),</a:t>
            </a:r>
            <a:r>
              <a:rPr dirty="0"/>
              <a:t> </a:t>
            </a:r>
            <a:r>
              <a:rPr dirty="0">
                <a:solidFill>
                  <a:srgbClr val="657422"/>
                </a:solidFill>
                <a:latin typeface="Courier"/>
              </a:rPr>
              <a:t>b3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rnorm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>
                <a:solidFill>
                  <a:srgbClr val="657422"/>
                </a:solidFill>
                <a:latin typeface="Courier"/>
              </a:rPr>
              <a:t>sigma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runif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0.5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30</a:t>
            </a:fld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lm_fit_raw &lt;- </a:t>
            </a:r>
            <a:r>
              <a:rPr>
                <a:solidFill>
                  <a:srgbClr val="4758AB"/>
                </a:solidFill>
                <a:latin typeface="Courier"/>
              </a:rPr>
              <a:t>nimbleMCMC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code =</a:t>
            </a:r>
            <a:r>
              <a:rPr>
                <a:solidFill>
                  <a:srgbClr val="003B4F"/>
                </a:solidFill>
                <a:latin typeface="Courier"/>
              </a:rPr>
              <a:t> lm_code, </a:t>
            </a:r>
            <a:r>
              <a:rPr>
                <a:solidFill>
                  <a:srgbClr val="657422"/>
                </a:solidFill>
                <a:latin typeface="Courier"/>
              </a:rPr>
              <a:t>constants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reg_df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y, </a:t>
            </a:r>
            <a:r>
              <a:rPr>
                <a:solidFill>
                  <a:srgbClr val="657422"/>
                </a:solidFill>
                <a:latin typeface="Courier"/>
              </a:rPr>
              <a:t>x1 =</a:t>
            </a:r>
            <a:r>
              <a:rPr>
                <a:solidFill>
                  <a:srgbClr val="003B4F"/>
                </a:solidFill>
                <a:latin typeface="Courier"/>
              </a:rPr>
              <a:t> reg_df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x1, </a:t>
            </a:r>
            <a:r>
              <a:rPr>
                <a:solidFill>
                  <a:srgbClr val="657422"/>
                </a:solidFill>
                <a:latin typeface="Courier"/>
              </a:rPr>
              <a:t>x2 =</a:t>
            </a:r>
            <a:r>
              <a:rPr>
                <a:solidFill>
                  <a:srgbClr val="003B4F"/>
                </a:solidFill>
                <a:latin typeface="Courier"/>
              </a:rPr>
              <a:t> reg_df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x2, </a:t>
            </a:r>
            <a:r>
              <a:rPr>
                <a:solidFill>
                  <a:srgbClr val="657422"/>
                </a:solidFill>
                <a:latin typeface="Courier"/>
              </a:rPr>
              <a:t>x3 =</a:t>
            </a:r>
            <a:r>
              <a:rPr>
                <a:solidFill>
                  <a:srgbClr val="003B4F"/>
                </a:solidFill>
                <a:latin typeface="Courier"/>
              </a:rPr>
              <a:t> reg_df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x3),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inits =</a:t>
            </a:r>
            <a:r>
              <a:rPr>
                <a:solidFill>
                  <a:srgbClr val="003B4F"/>
                </a:solidFill>
                <a:latin typeface="Courier"/>
              </a:rPr>
              <a:t> lm_inits, </a:t>
            </a:r>
            <a:r>
              <a:rPr>
                <a:solidFill>
                  <a:srgbClr val="657422"/>
                </a:solidFill>
                <a:latin typeface="Courier"/>
              </a:rPr>
              <a:t>monitors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"b3"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"sigma"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nchains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niter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nburnin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setSeed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progressBar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samplesAsCodaMCMC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31</a:t>
            </a:fld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trace_plot</a:t>
            </a:r>
            <a:r>
              <a:rPr>
                <a:solidFill>
                  <a:srgbClr val="003B4F"/>
                </a:solidFill>
                <a:latin typeface="Courier"/>
              </a:rPr>
              <a:t>(lm_fit_raw)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summarise_draws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as_draws</a:t>
            </a:r>
            <a:r>
              <a:rPr>
                <a:solidFill>
                  <a:srgbClr val="003B4F"/>
                </a:solidFill>
                <a:latin typeface="Courier"/>
              </a:rPr>
              <a:t>(lm_fit_raw), </a:t>
            </a:r>
            <a:r>
              <a:rPr>
                <a:solidFill>
                  <a:srgbClr val="20794D"/>
                </a:solidFill>
                <a:latin typeface="Courier"/>
              </a:rPr>
              <a:t>"mean"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"rhat"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"ess_bulk"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"ess_tail"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32</a:t>
            </a:fld>
            <a:endParaRPr 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pic>
        <p:nvPicPr>
          <p:cNvPr id="3" name="Picture 1" descr="Chanco_STA623_BDA_2026_Henrion_Session4_files/figure-pptx/unnamed-chunk-1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171700"/>
            <a:ext cx="10515600" cy="393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33</a:t>
            </a:fld>
            <a:endParaRPr lang="en-GB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5 × 6
  variable  mean     sd  rhat ess_bulk ess_tail
  &lt;chr&gt;    &lt;dbl&gt;  &lt;dbl&gt; &lt;dbl&gt;    &lt;dbl&gt;    &lt;dbl&gt;
1 b0       5.47  0.632   1.03     185.     415.
2 b1       0.950 0.226   1.00    1963.    3981.
3 b2       0.186 0.222   1.01     241.     410.
4 b3       0.102 0.0223  1.03     200.     459.
5 sigma    0.752 0.0791  1.00    1673.    1647.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34</a:t>
            </a:fld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traces for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,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t> and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</m:oMath>
            </a14:m>
            <a:r>
              <a:t> wander slowly and the ESS values are far below those of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t> and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𝜎</m:t>
                </m:r>
              </m:oMath>
            </a14:m>
            <a:r>
              <a:t>.</a:t>
            </a:r>
          </a:p>
          <a:p>
            <a:pPr marL="0" lvl="0" indent="0">
              <a:buNone/>
            </a:pPr>
            <a:r>
              <a:t>The reason is visible in a scatterplot of the draws: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as.matrix</a:t>
            </a:r>
            <a:r>
              <a:rPr>
                <a:solidFill>
                  <a:srgbClr val="003B4F"/>
                </a:solidFill>
                <a:latin typeface="Courier"/>
              </a:rPr>
              <a:t>(lm_fit_raw))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(b3, b0))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"posterior draws of intercept vs slope of x3"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as.matrix</a:t>
            </a:r>
            <a:r>
              <a:rPr>
                <a:solidFill>
                  <a:srgbClr val="003B4F"/>
                </a:solidFill>
                <a:latin typeface="Courier"/>
              </a:rPr>
              <a:t>(lm_fit_raw))[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35</a:t>
            </a:fld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pic>
        <p:nvPicPr>
          <p:cNvPr id="3" name="Picture 1" descr="Chanco_STA623_BDA_2026_Henrion_Session4_files/figure-pptx/unnamed-chunk-1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997200"/>
            <a:ext cx="105156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36</a:t>
            </a:fld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b0    b1    b2    b3
b0  1.00 -0.27  0.63 -0.65
b1 -0.27  1.00 -0.11  0.00
b2  0.63 -0.11  1.00  0.13
b3 -0.65  0.00  0.13  1.00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37</a:t>
            </a:fld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Because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t> and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</m:oMath>
            </a14:m>
            <a:r>
              <a:t> are far from 0, the intercept (the expected outcome at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=0</m:t>
                </m:r>
              </m:oMath>
            </a14:m>
            <a:r>
              <a:t>, far outside the data) is tightly linked to the slopes: whenever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</m:oMath>
            </a14:m>
            <a:r>
              <a:t> goes up,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 must go down to keep the fitted line through the data, and similarly for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t>.</a:t>
            </a:r>
          </a:p>
          <a:p>
            <a:pPr marL="0" lvl="0" indent="0">
              <a:buNone/>
            </a:pPr>
            <a:r>
              <a:t>Jointly, the posterior of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(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,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,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a narrow ridge.</a:t>
            </a:r>
          </a:p>
          <a:p>
            <a:pPr marL="0" lvl="0" indent="0">
              <a:buNone/>
            </a:pPr>
            <a:r>
              <a:rPr>
                <a:latin typeface="Courier"/>
              </a:rPr>
              <a:t>NIMBLE</a:t>
            </a:r>
            <a:r>
              <a:t>’s default samplers here are exact conjugate Gibbs updates, but they update one coefficient at a time, holding the others fixed, and so can only take small steps along the ridge.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38</a:t>
            </a:fld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rPr b="1"/>
              <a:t>Fix 1: centre the covariates.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 b="1"/>
          </a:p>
          <a:p>
            <a:pPr marL="0" lvl="0" indent="0">
              <a:buNone/>
            </a:pPr>
            <a:r>
              <a:t>With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−</m:t>
                </m:r>
                <m:sSub>
                  <m:sSubPr>
                    <m:ctrlPr>
                      <a:rPr i="1">
                        <a:latin typeface="Cambria Math" panose="02040503050406030204" pitchFamily="18" charset="0"/>
                      </a:rPr>
                    </m:ctrlPr>
                  </m:sSubPr>
                  <m:e>
                    <m:acc>
                      <m:accPr>
                        <m:chr m:val="‾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sub>
                </m:sSub>
              </m:oMath>
            </a14:m>
            <a:r>
              <a:t> the intercept becomes the expected outcome at average covariate values, and the correlation largely disappears. (Scaling covariates to unit SD also helps and makes priors easier to set.)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39</a:t>
            </a:fld>
            <a:endParaRPr lang="en-GB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reg_c &lt;- reg_df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(x1, x2, x3),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.x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(.x)))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lm_fit_c &lt;- </a:t>
            </a:r>
            <a:r>
              <a:rPr>
                <a:solidFill>
                  <a:srgbClr val="4758AB"/>
                </a:solidFill>
                <a:latin typeface="Courier"/>
              </a:rPr>
              <a:t>nimbleMCMC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code =</a:t>
            </a:r>
            <a:r>
              <a:rPr>
                <a:solidFill>
                  <a:srgbClr val="003B4F"/>
                </a:solidFill>
                <a:latin typeface="Courier"/>
              </a:rPr>
              <a:t> lm_code, </a:t>
            </a:r>
            <a:r>
              <a:rPr>
                <a:solidFill>
                  <a:srgbClr val="657422"/>
                </a:solidFill>
                <a:latin typeface="Courier"/>
              </a:rPr>
              <a:t>constants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reg_c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y, </a:t>
            </a:r>
            <a:r>
              <a:rPr>
                <a:solidFill>
                  <a:srgbClr val="657422"/>
                </a:solidFill>
                <a:latin typeface="Courier"/>
              </a:rPr>
              <a:t>x1 =</a:t>
            </a:r>
            <a:r>
              <a:rPr>
                <a:solidFill>
                  <a:srgbClr val="003B4F"/>
                </a:solidFill>
                <a:latin typeface="Courier"/>
              </a:rPr>
              <a:t> reg_c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x1, </a:t>
            </a:r>
            <a:r>
              <a:rPr>
                <a:solidFill>
                  <a:srgbClr val="657422"/>
                </a:solidFill>
                <a:latin typeface="Courier"/>
              </a:rPr>
              <a:t>x2 =</a:t>
            </a:r>
            <a:r>
              <a:rPr>
                <a:solidFill>
                  <a:srgbClr val="003B4F"/>
                </a:solidFill>
                <a:latin typeface="Courier"/>
              </a:rPr>
              <a:t> reg_c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x2, </a:t>
            </a:r>
            <a:r>
              <a:rPr>
                <a:solidFill>
                  <a:srgbClr val="657422"/>
                </a:solidFill>
                <a:latin typeface="Courier"/>
              </a:rPr>
              <a:t>x3 =</a:t>
            </a:r>
            <a:r>
              <a:rPr>
                <a:solidFill>
                  <a:srgbClr val="003B4F"/>
                </a:solidFill>
                <a:latin typeface="Courier"/>
              </a:rPr>
              <a:t> reg_c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x3),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inits =</a:t>
            </a:r>
            <a:r>
              <a:rPr>
                <a:solidFill>
                  <a:srgbClr val="003B4F"/>
                </a:solidFill>
                <a:latin typeface="Courier"/>
              </a:rPr>
              <a:t> lm_inits, </a:t>
            </a:r>
            <a:r>
              <a:rPr>
                <a:solidFill>
                  <a:srgbClr val="657422"/>
                </a:solidFill>
                <a:latin typeface="Courier"/>
              </a:rPr>
              <a:t>monitors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"b3"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"sigma"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nchains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niter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nburnin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setSeed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progressBar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samplesAsCodaMCMC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40</a:t>
            </a:fld>
            <a:endParaRPr lang="en-GB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summarise_draws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as_draws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(lm_fit_c),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"mean"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"sd"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"rhat"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"ess_bulk"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"ess_tail"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 A tibble: 5 × 6
  variable  mean     sd  rhat ess_bulk ess_tail
  &lt;chr&gt;    &lt;dbl&gt;  &lt;dbl&gt; &lt;dbl&gt;    &lt;dbl&gt;    &lt;dbl&gt;
1 b0       7.76  0.109  1.00     7853.    7010.
2 b1       0.947 0.230  1.00     7836.    7586.
3 b2       0.206 0.238  1.00     7686.    7399.
4 b3       0.104 0.0236 1.000    7534.    7101.
5 sigma    0.753 0.0811 1.00     1471.    1805.</a:t>
                </a:r>
              </a:p>
              <a:p>
                <a:pPr marL="0" lvl="0" indent="0">
                  <a:buNone/>
                </a:pPr>
                <a:r>
                  <a:t>Same number of iterations, many times the effective sample size. The slopes are unchanged; only the meaning of the intercept changed (convert back if needed: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nor/>
                          </m:rPr>
                          <a:rPr i="0"/>
                          <m:t>raw</m:t>
                        </m:r>
                      </m:sup>
                    </m:sSub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‾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t>, computed draw by draw).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439" b="-10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41</a:t>
            </a:fld>
            <a:endParaRPr lang="en-GB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Fix 2: change the sampler.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 b="1"/>
          </a:p>
          <a:p>
            <a:pPr marL="0" lvl="0" indent="0">
              <a:buNone/>
            </a:pPr>
            <a:r>
              <a:t>Keep the original parameterisation but update all four coefficients </a:t>
            </a:r>
            <a:r>
              <a:rPr i="1"/>
              <a:t>jointly</a:t>
            </a:r>
            <a:r>
              <a:t>, with a sampler that learns the correlation structure of the posterior. </a:t>
            </a:r>
            <a:r>
              <a:rPr>
                <a:latin typeface="Courier"/>
              </a:rPr>
              <a:t>NIMBLE</a:t>
            </a:r>
            <a:r>
              <a:t>’s automated factor slice sampler (</a:t>
            </a:r>
            <a:r>
              <a:rPr>
                <a:latin typeface="Courier"/>
              </a:rPr>
              <a:t>AF_slice</a:t>
            </a:r>
            <a:r>
              <a:t>) does this well: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42</a:t>
            </a:fld>
            <a:endParaRPr lang="en-GB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lm_model &lt;- </a:t>
            </a:r>
            <a:r>
              <a:rPr>
                <a:solidFill>
                  <a:srgbClr val="4758AB"/>
                </a:solidFill>
                <a:latin typeface="Courier"/>
              </a:rPr>
              <a:t>nimbleModel</a:t>
            </a:r>
            <a:r>
              <a:rPr>
                <a:solidFill>
                  <a:srgbClr val="003B4F"/>
                </a:solidFill>
                <a:latin typeface="Courier"/>
              </a:rPr>
              <a:t>(lm_code, </a:t>
            </a:r>
            <a:r>
              <a:rPr>
                <a:solidFill>
                  <a:srgbClr val="657422"/>
                </a:solidFill>
                <a:latin typeface="Courier"/>
              </a:rPr>
              <a:t>constants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reg_df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y, </a:t>
            </a:r>
            <a:r>
              <a:rPr>
                <a:solidFill>
                  <a:srgbClr val="657422"/>
                </a:solidFill>
                <a:latin typeface="Courier"/>
              </a:rPr>
              <a:t>x1 =</a:t>
            </a:r>
            <a:r>
              <a:rPr>
                <a:solidFill>
                  <a:srgbClr val="003B4F"/>
                </a:solidFill>
                <a:latin typeface="Courier"/>
              </a:rPr>
              <a:t> reg_df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x1, </a:t>
            </a:r>
            <a:r>
              <a:rPr>
                <a:solidFill>
                  <a:srgbClr val="657422"/>
                </a:solidFill>
                <a:latin typeface="Courier"/>
              </a:rPr>
              <a:t>x2 =</a:t>
            </a:r>
            <a:r>
              <a:rPr>
                <a:solidFill>
                  <a:srgbClr val="003B4F"/>
                </a:solidFill>
                <a:latin typeface="Courier"/>
              </a:rPr>
              <a:t> reg_df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x2, </a:t>
            </a:r>
            <a:r>
              <a:rPr>
                <a:solidFill>
                  <a:srgbClr val="657422"/>
                </a:solidFill>
                <a:latin typeface="Courier"/>
              </a:rPr>
              <a:t>x3 =</a:t>
            </a:r>
            <a:r>
              <a:rPr>
                <a:solidFill>
                  <a:srgbClr val="003B4F"/>
                </a:solidFill>
                <a:latin typeface="Courier"/>
              </a:rPr>
              <a:t> reg_df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x3),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inits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lm_inits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lm_conf &lt;- </a:t>
            </a:r>
            <a:r>
              <a:rPr>
                <a:solidFill>
                  <a:srgbClr val="4758AB"/>
                </a:solidFill>
                <a:latin typeface="Courier"/>
              </a:rPr>
              <a:t>configureMCMC</a:t>
            </a:r>
            <a:r>
              <a:rPr>
                <a:solidFill>
                  <a:srgbClr val="003B4F"/>
                </a:solidFill>
                <a:latin typeface="Courier"/>
              </a:rPr>
              <a:t>(lm_model, </a:t>
            </a:r>
            <a:r>
              <a:rPr>
                <a:solidFill>
                  <a:srgbClr val="657422"/>
                </a:solidFill>
                <a:latin typeface="Courier"/>
              </a:rPr>
              <a:t>monitors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"b3"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"sigma"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lm_conf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4758AB"/>
                </a:solidFill>
                <a:latin typeface="Courier"/>
              </a:rPr>
              <a:t>removeSamplers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"b3"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lm_conf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4758AB"/>
                </a:solidFill>
                <a:latin typeface="Courier"/>
              </a:rPr>
              <a:t>addSampler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target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"b3"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"AF_slice"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c_lm      &lt;- </a:t>
            </a:r>
            <a:r>
              <a:rPr>
                <a:solidFill>
                  <a:srgbClr val="4758AB"/>
                </a:solidFill>
                <a:latin typeface="Courier"/>
              </a:rPr>
              <a:t>compileNimble</a:t>
            </a:r>
            <a:r>
              <a:rPr>
                <a:solidFill>
                  <a:srgbClr val="003B4F"/>
                </a:solidFill>
                <a:latin typeface="Courier"/>
              </a:rPr>
              <a:t>(lm_model)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c_lm_mcmc &lt;- </a:t>
            </a:r>
            <a:r>
              <a:rPr>
                <a:solidFill>
                  <a:srgbClr val="4758AB"/>
                </a:solidFill>
                <a:latin typeface="Courier"/>
              </a:rPr>
              <a:t>compileNimble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buildMCMC</a:t>
            </a:r>
            <a:r>
              <a:rPr>
                <a:solidFill>
                  <a:srgbClr val="003B4F"/>
                </a:solidFill>
                <a:latin typeface="Courier"/>
              </a:rPr>
              <a:t>(lm_conf), </a:t>
            </a:r>
            <a:r>
              <a:rPr>
                <a:solidFill>
                  <a:srgbClr val="657422"/>
                </a:solidFill>
                <a:latin typeface="Courier"/>
              </a:rPr>
              <a:t>project =</a:t>
            </a:r>
            <a:r>
              <a:rPr>
                <a:solidFill>
                  <a:srgbClr val="003B4F"/>
                </a:solidFill>
                <a:latin typeface="Courier"/>
              </a:rPr>
              <a:t> lm_model)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lm_fit_block &lt;- </a:t>
            </a:r>
            <a:r>
              <a:rPr>
                <a:solidFill>
                  <a:srgbClr val="4758AB"/>
                </a:solidFill>
                <a:latin typeface="Courier"/>
              </a:rPr>
              <a:t>runMCMC</a:t>
            </a:r>
            <a:r>
              <a:rPr>
                <a:solidFill>
                  <a:srgbClr val="003B4F"/>
                </a:solidFill>
                <a:latin typeface="Courier"/>
              </a:rPr>
              <a:t>(c_lm_mcmc, </a:t>
            </a:r>
            <a:r>
              <a:rPr>
                <a:solidFill>
                  <a:srgbClr val="657422"/>
                </a:solidFill>
                <a:latin typeface="Courier"/>
              </a:rPr>
              <a:t>niter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nburnin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nchains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inits =</a:t>
            </a:r>
            <a:r>
              <a:rPr>
                <a:solidFill>
                  <a:srgbClr val="003B4F"/>
                </a:solidFill>
                <a:latin typeface="Courier"/>
              </a:rPr>
              <a:t> lm_inits, </a:t>
            </a:r>
            <a:r>
              <a:rPr>
                <a:solidFill>
                  <a:srgbClr val="657422"/>
                </a:solidFill>
                <a:latin typeface="Courier"/>
              </a:rPr>
              <a:t>setSeed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progressBar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samplesAsCodaMCMC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43</a:t>
            </a:fld>
            <a:endParaRPr lang="en-GB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summarise_draws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as_draws</a:t>
            </a:r>
            <a:r>
              <a:rPr>
                <a:solidFill>
                  <a:srgbClr val="003B4F"/>
                </a:solidFill>
                <a:latin typeface="Courier"/>
              </a:rPr>
              <a:t>(lm_fit_block), </a:t>
            </a:r>
            <a:r>
              <a:rPr>
                <a:solidFill>
                  <a:srgbClr val="20794D"/>
                </a:solidFill>
                <a:latin typeface="Courier"/>
              </a:rPr>
              <a:t>"mean"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"rhat"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"ess_bulk"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"ess_tail"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 × 6
  variable  mean     sd  rhat ess_bulk ess_tail
  &lt;chr&gt;    &lt;dbl&gt;  &lt;dbl&gt; &lt;dbl&gt;    &lt;dbl&gt;    &lt;dbl&gt;
1 b0       5.46  0.676   1.00    8079.    5871.
2 b1       0.951 0.230   1.00    7137.    5685.
3 b2       0.208 0.237   1.00    8172.    6593.
4 b3       0.104 0.0233  1.00    7452.    6782.
5 sigma    0.755 0.0823  1.00    1548.    1821.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44</a:t>
            </a:fld>
            <a:endParaRPr lang="en-GB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Same model, same number of iterations, and again an effective sample size close to the number of draws. Not every alternative sampler helps automatically: a random-walk block sampler (</a:t>
            </a:r>
            <a:r>
              <a:rPr>
                <a:latin typeface="Courier"/>
              </a:rPr>
              <a:t>RW_block</a:t>
            </a:r>
            <a:r>
              <a:t>) is also available, but it needs a long adaptation phase before it becomes efficient, so its diagnostics must be checked just as carefully.</a:t>
            </a:r>
          </a:p>
          <a:p>
            <a:pPr marL="0" lvl="0" indent="0">
              <a:buNone/>
            </a:pPr>
            <a:r>
              <a:t>Finally, a sanity check: with vague priors and a simple model the posterior means should be close to the least-squares estimates.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45</a:t>
            </a:fld>
            <a:endParaRPr lang="en-GB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cbind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bayes_posterior_mean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colMeans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as.matrix</a:t>
            </a:r>
            <a:r>
              <a:rPr>
                <a:solidFill>
                  <a:srgbClr val="003B4F"/>
                </a:solidFill>
                <a:latin typeface="Courier"/>
              </a:rPr>
              <a:t>(lm_fit_c))[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"b3"</a:t>
            </a:r>
            <a:r>
              <a:rPr>
                <a:solidFill>
                  <a:srgbClr val="003B4F"/>
                </a:solidFill>
                <a:latin typeface="Courier"/>
              </a:rPr>
              <a:t>)],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least_squares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x1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x2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x3,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reg_c)))</a:t>
            </a:r>
          </a:p>
          <a:p>
            <a:pPr lvl="0" indent="0">
              <a:buNone/>
            </a:pPr>
            <a:r>
              <a:rPr>
                <a:latin typeface="Courier"/>
              </a:rPr>
              <a:t>   bayes_posterior_mean least_squares
b0            7.7574584     7.7573153
b1            0.9465793     0.9484755
b2            0.2063927     0.2087201
b3            0.1035333     0.1039762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46</a:t>
            </a:fld>
            <a:endParaRPr lang="en-GB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What to do when diagnostics fail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47</a:t>
            </a:fld>
            <a:endParaRPr lang="en-GB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to do when diagnostics fail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t>In roughly this order:</a:t>
            </a:r>
          </a:p>
          <a:p>
            <a:pPr marL="457200" lvl="0" indent="-457200">
              <a:buAutoNum type="arabicPeriod"/>
            </a:pPr>
            <a:r>
              <a:rPr b="1"/>
              <a:t>Look at trace and pair plots</a:t>
            </a:r>
            <a:r>
              <a:t> to see </a:t>
            </a:r>
            <a:r>
              <a:rPr i="1"/>
              <a:t>which</a:t>
            </a:r>
            <a:r>
              <a:t> parameters mix badly and why (trends? correlations? stuck chains?).</a:t>
            </a:r>
          </a:p>
          <a:p>
            <a:pPr marL="457200" lvl="0" indent="-457200">
              <a:buAutoNum type="arabicPeriod"/>
            </a:pPr>
            <a:r>
              <a:rPr b="1"/>
              <a:t>Check the model code and data</a:t>
            </a:r>
            <a:r>
              <a:t> for errors (wrong parameterisation, precision instead of SD, data mis-coded). Many convergence problems are bugs.</a:t>
            </a:r>
          </a:p>
          <a:p>
            <a:pPr marL="457200" lvl="0" indent="-457200">
              <a:buAutoNum type="arabicPeriod"/>
            </a:pPr>
            <a:r>
              <a:rPr b="1"/>
              <a:t>Reparameterise</a:t>
            </a:r>
            <a:r>
              <a:t>: centre and scale covariates; use non-centred parameterisations for hierarchical models (Lecture 5); sample on unconstrained scales.</a:t>
            </a:r>
          </a:p>
          <a:p>
            <a:pPr marL="457200" lvl="0" indent="-457200">
              <a:buAutoNum type="arabicPeriod"/>
            </a:pPr>
            <a:r>
              <a:rPr b="1"/>
              <a:t>Use more informative (weakly informative) priors</a:t>
            </a:r>
            <a:r>
              <a:t> where parameters are poorly identified by the data.</a:t>
            </a:r>
          </a:p>
          <a:p>
            <a:pPr marL="457200" lvl="0" indent="-457200">
              <a:buAutoNum type="arabicPeriod"/>
            </a:pPr>
            <a:r>
              <a:rPr b="1"/>
              <a:t>Change samplers</a:t>
            </a:r>
            <a:r>
              <a:t>: block samplers for correlated parameters, slice samplers, HMC (</a:t>
            </a:r>
            <a:r>
              <a:rPr>
                <a:latin typeface="Courier"/>
              </a:rPr>
              <a:t>nimbleHMC</a:t>
            </a:r>
            <a:r>
              <a:t> or </a:t>
            </a:r>
            <a:r>
              <a:rPr>
                <a:latin typeface="Courier"/>
              </a:rPr>
              <a:t>Stan</a:t>
            </a:r>
            <a:r>
              <a:t>).</a:t>
            </a:r>
          </a:p>
          <a:p>
            <a:pPr marL="457200" lvl="0" indent="-457200">
              <a:buAutoNum type="arabicPeriod"/>
            </a:pPr>
            <a:r>
              <a:rPr b="1"/>
              <a:t>Run longer.</a:t>
            </a:r>
            <a:r>
              <a:t> This is the last resort, not the first.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48</a:t>
            </a:fld>
            <a:endParaRPr lang="en-GB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[end of STA623 Bayesian Data analysis Session 4]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49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3706</Words>
  <Application>Microsoft Macintosh PowerPoint</Application>
  <PresentationFormat>Widescreen</PresentationFormat>
  <Paragraphs>220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Courier</vt:lpstr>
      <vt:lpstr>Office Theme</vt:lpstr>
      <vt:lpstr>STA623 Bayesian Data Analysis</vt:lpstr>
      <vt:lpstr>PowerPoint Presentation</vt:lpstr>
      <vt:lpstr>Code notes</vt:lpstr>
      <vt:lpstr>PowerPoint Presentation</vt:lpstr>
      <vt:lpstr>License</vt:lpstr>
      <vt:lpstr>PowerPoint Presentation</vt:lpstr>
      <vt:lpstr>Morning quiz</vt:lpstr>
      <vt:lpstr>Software for Bayesian computation</vt:lpstr>
      <vt:lpstr>Software for Bayesian computation</vt:lpstr>
      <vt:lpstr>PowerPoint Presentation</vt:lpstr>
      <vt:lpstr>NIMBLE</vt:lpstr>
      <vt:lpstr>The NIMBLE workflow</vt:lpstr>
      <vt:lpstr>Example: the non-conjugate Poisson model of Lecture 3</vt:lpstr>
      <vt:lpstr>Example: the non-conjugate Poisson model of Lecture 3</vt:lpstr>
      <vt:lpstr>Example: the non-conjugate Poisson model of Lecture 3</vt:lpstr>
      <vt:lpstr>The step-by-step workflow</vt:lpstr>
      <vt:lpstr>The step-by-step workflow</vt:lpstr>
      <vt:lpstr>NIMBLE / BUGS code: common pitfalls</vt:lpstr>
      <vt:lpstr>Convergence diagnostics</vt:lpstr>
      <vt:lpstr>Trace plots</vt:lpstr>
      <vt:lpstr>Trace plots</vt:lpstr>
      <vt:lpstr>Trace plots</vt:lpstr>
      <vt:lpstr>R ̂ (potential scale reduction factor)</vt:lpstr>
      <vt:lpstr>Autocorrelation and effective sample size</vt:lpstr>
      <vt:lpstr>Autocorrelation and effective sample size</vt:lpstr>
      <vt:lpstr>Burn-in, thinning, run length</vt:lpstr>
      <vt:lpstr>Case study: a sampler that mixes badly, and how to fix it</vt:lpstr>
      <vt:lpstr>Case study</vt:lpstr>
      <vt:lpstr>Case study</vt:lpstr>
      <vt:lpstr>Case study</vt:lpstr>
      <vt:lpstr>Case study</vt:lpstr>
      <vt:lpstr>Case study</vt:lpstr>
      <vt:lpstr>Case study</vt:lpstr>
      <vt:lpstr>PowerPoint Presentation</vt:lpstr>
      <vt:lpstr>Case study</vt:lpstr>
      <vt:lpstr>Case study</vt:lpstr>
      <vt:lpstr>PowerPoint Presentation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What to do when diagnostics fail</vt:lpstr>
      <vt:lpstr>What to do when diagnostics fail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STA623 Bayesian Data Analysis</dc:title>
  <dc:creator>Marc Henrion</dc:creator>
  <cp:keywords/>
  <cp:lastModifiedBy>Marc Henrion</cp:lastModifiedBy>
  <cp:revision>1</cp:revision>
  <dcterms:created xsi:type="dcterms:W3CDTF">2026-09-30T13:08:54Z</dcterms:created>
  <dcterms:modified xsi:type="dcterms:W3CDTF">2026-09-30T14:34:54Z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2026-10-01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Session 4: MCMC in practice: NIMBLE and convergence diagnostics</vt:lpwstr>
  </property>
  <property fmtid="{D5CDD505-2E9C-101B-9397-08002B2CF9AE}" pid="12" name="toc-title">
    <vt:lpwstr>Table of contents</vt:lpwstr>
  </property>
</Properties>
</file>