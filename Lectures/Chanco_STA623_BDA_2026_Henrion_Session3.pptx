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29/09/2026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78603"/>
            <a:ext cx="12192001" cy="2280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 descr="CoM new.jpg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MarcH/UNIMA_STA623_2026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STA623 Bayesian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/>
          <a:p>
            <a:pPr marL="0" lvl="0" indent="0">
              <a:buNone/>
            </a:pPr>
            <a:r>
              <a:t>Session 3: Monte Carlo and Markov chain Monte Carlo</a:t>
            </a:r>
            <a:br/>
            <a:br/>
            <a:r>
              <a:t>Marc Henrion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2026-09-30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Preliminaries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Code notes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These notes have been prepared using </a:t>
            </a:r>
            <a:r>
              <a:rPr>
                <a:latin typeface="Courier"/>
              </a:rPr>
              <a:t>quarto</a:t>
            </a:r>
            <a:r>
              <a:t> - qmd shared on GitHub.</a:t>
            </a:r>
          </a:p>
          <a:p>
            <a:pPr lvl="0"/>
            <a:r>
              <a:t>All code is </a:t>
            </a:r>
            <a:r>
              <a:rPr>
                <a:latin typeface="Courier"/>
              </a:rPr>
              <a:t>R</a:t>
            </a:r>
            <a:r>
              <a:t>; Bayesian models are specified in </a:t>
            </a:r>
            <a:r>
              <a:rPr>
                <a:latin typeface="Courier"/>
              </a:rPr>
              <a:t>NIMBLE</a:t>
            </a:r>
            <a:r>
              <a:t> (a dialect of </a:t>
            </a:r>
            <a:r>
              <a:rPr>
                <a:latin typeface="Courier"/>
              </a:rPr>
              <a:t>BUGS</a:t>
            </a:r>
            <a:r>
              <a:t>).</a:t>
            </a:r>
          </a:p>
          <a:p>
            <a:pPr lvl="0"/>
            <a:r>
              <a:rPr>
                <a:latin typeface="Courier"/>
              </a:rPr>
              <a:t>R</a:t>
            </a:r>
            <a:r>
              <a:t> packages used: </a:t>
            </a:r>
            <a:r>
              <a:rPr>
                <a:latin typeface="Courier"/>
              </a:rPr>
              <a:t>tidyverse</a:t>
            </a:r>
            <a:r>
              <a:t>, </a:t>
            </a:r>
            <a:r>
              <a:rPr>
                <a:latin typeface="Courier"/>
              </a:rPr>
              <a:t>gridExtra</a:t>
            </a:r>
            <a:r>
              <a:t>, </a:t>
            </a:r>
            <a:r>
              <a:rPr>
                <a:latin typeface="Courier"/>
              </a:rPr>
              <a:t>HDInterval</a:t>
            </a:r>
            <a:r>
              <a:t>, </a:t>
            </a:r>
            <a:r>
              <a:rPr>
                <a:latin typeface="Courier"/>
              </a:rPr>
              <a:t>nimble</a:t>
            </a:r>
            <a:r>
              <a:t>, </a:t>
            </a:r>
            <a:r>
              <a:rPr>
                <a:latin typeface="Courier"/>
              </a:rPr>
              <a:t>coda</a:t>
            </a:r>
            <a:r>
              <a:t>, </a:t>
            </a:r>
            <a:r>
              <a:rPr>
                <a:latin typeface="Courier"/>
              </a:rPr>
              <a:t>posterior</a:t>
            </a:r>
            <a:r>
              <a:t>, </a:t>
            </a:r>
            <a:r>
              <a:rPr>
                <a:latin typeface="Courier"/>
              </a:rPr>
              <a:t>loo</a:t>
            </a:r>
            <a:r>
              <a:t> (plus </a:t>
            </a:r>
            <a:r>
              <a:rPr>
                <a:latin typeface="Courier"/>
              </a:rPr>
              <a:t>MCMCvis</a:t>
            </a:r>
            <a:r>
              <a:t> optionally). Install them all before the first practical: </a:t>
            </a:r>
            <a:r>
              <a:rPr>
                <a:latin typeface="Courier"/>
              </a:rPr>
              <a:t>NIMBLE</a:t>
            </a:r>
            <a:r>
              <a:t> needs a working C++ compiler (Rtools on Windows, Xcode command line tools on macOS).</a:t>
            </a:r>
          </a:p>
          <a:p>
            <a:pPr lvl="0"/>
            <a:r>
              <a:t>Course materials: </a:t>
            </a:r>
            <a:r>
              <a:rPr>
                <a:hlinkClick r:id="rId2"/>
              </a:rPr>
              <a:t>https://github.com/gitMarcH/UNIMA_STA623_2026</a:t>
            </a:r>
          </a:p>
        </p:txBody>
      </p:sp>
      <p:pic>
        <p:nvPicPr>
          <p:cNvPr id="3" name="Picture 1" descr="images/QR_GitHubRepo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42000" y="977900"/>
            <a:ext cx="4864100" cy="486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quarto code is subject to an MIT license (Marc Henrion).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compiled html is subject to a CC BY 4.0 license (Marc Henrion).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Morning Quiz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Monte Carlo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Monte Carlo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Almost every posterior quantity we care about is an expectation: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r>
                    <a:rPr>
                      <a:latin typeface="Cambria Math" panose="02040503050406030204" pitchFamily="18" charset="0"/>
                    </a:rPr>
                    <m:t>𝑔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)∣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]=∫</m:t>
                  </m:r>
                  <m:r>
                    <a:rPr>
                      <a:latin typeface="Cambria Math" panose="02040503050406030204" pitchFamily="18" charset="0"/>
                    </a:rPr>
                    <m:t>𝑔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r>
                    <a:rPr>
                      <a:latin typeface="Cambria Math" panose="02040503050406030204" pitchFamily="18" charset="0"/>
                    </a:rPr>
                    <m:t>𝑑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mean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𝑔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)=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), variance, probabilities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𝑔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)=</m:t>
                </m:r>
                <m:r>
                  <a:rPr>
                    <a:latin typeface="Cambria Math" panose="02040503050406030204" pitchFamily="18" charset="0"/>
                  </a:rPr>
                  <m:t>𝐼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∈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), and predictive probabilities are all of this form.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Monte Carlo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we can draw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(1)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,…,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sup>
                </m:sSup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e>
                  <m:sub>
                    <m:r>
                      <m:rPr>
                        <m:nor/>
                      </m:rPr>
                      <a:rPr i="0"/>
                      <m:t>iid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then by the </a:t>
            </a:r>
            <a:r>
              <a:rPr b="1"/>
              <a:t>law of large numbers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den>
                  </m:f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sup>
                    <m:e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e>
                  </m:nary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) → </m:t>
                  </m:r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r>
                    <a:rPr>
                      <a:latin typeface="Cambria Math" panose="02040503050406030204" pitchFamily="18" charset="0"/>
                    </a:rPr>
                    <m:t>𝑔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)∣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] </m:t>
                  </m:r>
                  <m:r>
                    <m:rPr>
                      <m:nor/>
                    </m:rPr>
                    <a:rPr i="0"/>
                    <m:t>as </m:t>
                  </m:r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r>
                    <a:rPr>
                      <a:latin typeface="Cambria Math" panose="02040503050406030204" pitchFamily="18" charset="0"/>
                    </a:rPr>
                    <m:t>→∞,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:r>
              <a:t>and by the </a:t>
            </a:r>
            <a:r>
              <a:rPr b="1"/>
              <a:t>central limit theorem</a:t>
            </a:r>
            <a:r>
              <a:t> the error is approximately normal with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nor/>
                    </m:rPr>
                    <a:rPr i="0"/>
                    <m:t>MCSE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)=</m:t>
                  </m:r>
                  <m:f>
                    <m:fPr>
                      <m:ctrlPr>
                        <a:rPr i="0"/>
                      </m:ctrlPr>
                    </m:fPr>
                    <m:num>
                      <m:r>
                        <m:rPr>
                          <m:nor/>
                        </m:rPr>
                        <a:rPr i="0"/>
                        <m:t>sd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))</m:t>
                      </m:r>
                    </m:num>
                    <m:den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rad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Monte Carlo 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 b="1"/>
              <a:t>Monte Carlo standard error</a:t>
            </a:r>
            <a:r>
              <a:t> (MCSE) tells us how many digits of a simulation result we can trust. It shrinks like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1/</m:t>
                </m:r>
                <m:rad>
                  <m:radPr>
                    <m:degHide m:val="on"/>
                    <m:ctrlPr>
                      <a:rPr i="1"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</m:e>
                </m:rad>
              </m:oMath>
            </a14:m>
            <a:r>
              <a:t>, </a:t>
            </a:r>
            <a:r>
              <a:rPr i="1"/>
              <a:t>independently of the dimension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: this is why simulation beats grids.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Keep two kinds of uncertainty apart. The </a:t>
            </a:r>
            <a:r>
              <a:rPr b="1"/>
              <a:t>posterior SD</a:t>
            </a:r>
            <a:r>
              <a:t> describes uncertainty about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 and does not shrink as we simulate more. The </a:t>
            </a:r>
            <a:r>
              <a:rPr b="1"/>
              <a:t>MCSE</a:t>
            </a:r>
            <a:r>
              <a:t> describes numerical error in our summary and goes to 0 as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𝑆</m:t>
                </m:r>
                <m:r>
                  <a:rPr>
                    <a:latin typeface="Cambria Math" panose="02040503050406030204" pitchFamily="18" charset="0"/>
                  </a:rPr>
                  <m:t>→∞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:r>
              <a:t>Report posterior summaries; make sure the MCSE is small enough not to matter.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comparing two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In the General Social Survey (Practical 2), the numbers of children of 40-year-old women without / with a college degree gave posteriors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m:rPr>
                    <m:nor/>
                  </m:rPr>
                  <a:rPr i="0"/>
                  <m:t>Gamma</m:t>
                </m:r>
                <m:r>
                  <a:rPr>
                    <a:latin typeface="Cambria Math" panose="02040503050406030204" pitchFamily="18" charset="0"/>
                  </a:rPr>
                  <m:t>(219,112)</m:t>
                </m:r>
              </m:oMath>
            </a14:m>
            <a:r>
              <a:t> and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m:rPr>
                    <m:nor/>
                  </m:rPr>
                  <a:rPr i="0"/>
                  <m:t>Gamma</m:t>
                </m:r>
                <m:r>
                  <a:rPr>
                    <a:latin typeface="Cambria Math" panose="02040503050406030204" pitchFamily="18" charset="0"/>
                  </a:rPr>
                  <m:t>(68,45)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Questions about </a:t>
            </a:r>
            <a:r>
              <a:rPr i="1"/>
              <a:t>functions</a:t>
            </a:r>
            <a:r>
              <a:t> of several parameters, which would need double integrals, become code one-liners: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comparing two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dirty="0">
                <a:solidFill>
                  <a:srgbClr val="003B4F"/>
                </a:solidFill>
                <a:latin typeface="Courier"/>
              </a:rPr>
              <a:t>S &lt;- </a:t>
            </a:r>
            <a:r>
              <a:rPr dirty="0">
                <a:solidFill>
                  <a:srgbClr val="AD0000"/>
                </a:solidFill>
                <a:latin typeface="Courier"/>
              </a:rPr>
              <a:t>1e5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theta1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rgamma</a:t>
            </a:r>
            <a:r>
              <a:rPr dirty="0">
                <a:solidFill>
                  <a:srgbClr val="003B4F"/>
                </a:solidFill>
                <a:latin typeface="Courier"/>
              </a:rPr>
              <a:t>(S, </a:t>
            </a:r>
            <a:r>
              <a:rPr dirty="0">
                <a:solidFill>
                  <a:srgbClr val="AD0000"/>
                </a:solidFill>
                <a:latin typeface="Courier"/>
              </a:rPr>
              <a:t>219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112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theta2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rgamma</a:t>
            </a:r>
            <a:r>
              <a:rPr dirty="0">
                <a:solidFill>
                  <a:srgbClr val="003B4F"/>
                </a:solidFill>
                <a:latin typeface="Courier"/>
              </a:rPr>
              <a:t>(S, </a:t>
            </a:r>
            <a:r>
              <a:rPr dirty="0">
                <a:solidFill>
                  <a:srgbClr val="AD0000"/>
                </a:solidFill>
                <a:latin typeface="Courier"/>
              </a:rPr>
              <a:t>68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45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prob  &lt;- </a:t>
            </a:r>
            <a:r>
              <a:rPr dirty="0">
                <a:solidFill>
                  <a:srgbClr val="4758AB"/>
                </a:solidFill>
                <a:latin typeface="Courier"/>
              </a:rPr>
              <a:t>mean</a:t>
            </a:r>
            <a:r>
              <a:rPr dirty="0">
                <a:solidFill>
                  <a:srgbClr val="003B4F"/>
                </a:solidFill>
                <a:latin typeface="Courier"/>
              </a:rPr>
              <a:t>(theta1 </a:t>
            </a:r>
            <a:r>
              <a:rPr dirty="0">
                <a:solidFill>
                  <a:srgbClr val="5E5E5E"/>
                </a:solidFill>
                <a:latin typeface="Courier"/>
              </a:rPr>
              <a:t>&gt;</a:t>
            </a:r>
            <a:r>
              <a:rPr dirty="0">
                <a:solidFill>
                  <a:srgbClr val="003B4F"/>
                </a:solidFill>
                <a:latin typeface="Courier"/>
              </a:rPr>
              <a:t> theta2)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ratio &lt;- theta1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theta2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20794D"/>
                </a:solidFill>
                <a:latin typeface="Courier"/>
              </a:rPr>
              <a:t>`</a:t>
            </a:r>
            <a:r>
              <a:rPr dirty="0">
                <a:solidFill>
                  <a:srgbClr val="657422"/>
                </a:solidFill>
                <a:latin typeface="Courier"/>
              </a:rPr>
              <a:t>P(theta1 &gt; theta2)</a:t>
            </a:r>
            <a:r>
              <a:rPr dirty="0">
                <a:solidFill>
                  <a:srgbClr val="20794D"/>
                </a:solidFill>
                <a:latin typeface="Courier"/>
              </a:rPr>
              <a:t>`</a:t>
            </a:r>
            <a:r>
              <a:rPr dirty="0">
                <a:solidFill>
                  <a:srgbClr val="003B4F"/>
                </a:solidFill>
                <a:latin typeface="Courier"/>
              </a:rPr>
              <a:t> = prob,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MCSE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sqrt</a:t>
            </a:r>
            <a:r>
              <a:rPr dirty="0">
                <a:solidFill>
                  <a:srgbClr val="003B4F"/>
                </a:solidFill>
                <a:latin typeface="Courier"/>
              </a:rPr>
              <a:t>(prob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prob)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S),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20794D"/>
                </a:solidFill>
                <a:latin typeface="Courier"/>
              </a:rPr>
              <a:t>`</a:t>
            </a:r>
            <a:r>
              <a:rPr dirty="0">
                <a:solidFill>
                  <a:srgbClr val="657422"/>
                </a:solidFill>
                <a:latin typeface="Courier"/>
              </a:rPr>
              <a:t>median rate ratio</a:t>
            </a:r>
            <a:r>
              <a:rPr dirty="0">
                <a:solidFill>
                  <a:srgbClr val="20794D"/>
                </a:solidFill>
                <a:latin typeface="Courier"/>
              </a:rPr>
              <a:t>`</a:t>
            </a:r>
            <a:r>
              <a:rPr dirty="0">
                <a:solidFill>
                  <a:srgbClr val="003B4F"/>
                </a:solidFill>
                <a:latin typeface="Courier"/>
              </a:rPr>
              <a:t> = </a:t>
            </a:r>
            <a:r>
              <a:rPr dirty="0">
                <a:solidFill>
                  <a:srgbClr val="4758AB"/>
                </a:solidFill>
                <a:latin typeface="Courier"/>
              </a:rPr>
              <a:t>median</a:t>
            </a:r>
            <a:r>
              <a:rPr dirty="0">
                <a:solidFill>
                  <a:srgbClr val="003B4F"/>
                </a:solidFill>
                <a:latin typeface="Courier"/>
              </a:rPr>
              <a:t>(ratio),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quantile</a:t>
            </a:r>
            <a:r>
              <a:rPr dirty="0">
                <a:solidFill>
                  <a:srgbClr val="003B4F"/>
                </a:solidFill>
                <a:latin typeface="Courier"/>
              </a:rPr>
              <a:t>(ratio,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0.025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0.975</a:t>
            </a:r>
            <a:r>
              <a:rPr dirty="0">
                <a:solidFill>
                  <a:srgbClr val="003B4F"/>
                </a:solidFill>
                <a:latin typeface="Courier"/>
              </a:rPr>
              <a:t>)))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P(theta1 &gt; theta2)               MCSE  median rate ratio               2.5% 
      0.9725700000       0.0005165036       1.2978675504       0.9943761174 
             97.5% 
      1.7147492710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comparing two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Once we have draws, </a:t>
            </a:r>
            <a:r>
              <a:rPr b="1"/>
              <a:t>every function of the parameters has a posterior distribution for free</a:t>
            </a:r>
            <a:r>
              <a:t>: rate ratios, risk differences, numbers needed to treat, predicted probabilities, rankings.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Just compute the function for each draw.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comparing two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tibble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round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10</a:t>
            </a:r>
            <a:r>
              <a:rPr dirty="0">
                <a:solidFill>
                  <a:srgbClr val="5E5E5E"/>
                </a:solidFill>
                <a:latin typeface="Courier"/>
              </a:rPr>
              <a:t>^</a:t>
            </a:r>
            <a:r>
              <a:rPr dirty="0">
                <a:solidFill>
                  <a:srgbClr val="4758AB"/>
                </a:solidFill>
                <a:latin typeface="Courier"/>
              </a:rPr>
              <a:t>seq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5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length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60</a:t>
            </a:r>
            <a:r>
              <a:rPr dirty="0">
                <a:solidFill>
                  <a:srgbClr val="003B4F"/>
                </a:solidFill>
                <a:latin typeface="Courier"/>
              </a:rPr>
              <a:t>)))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r>
              <a:rPr lang="en-GB" dirty="0">
                <a:solidFill>
                  <a:srgbClr val="5E5E5E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mutate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estimate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map_dbl</a:t>
            </a:r>
            <a:r>
              <a:rPr dirty="0">
                <a:solidFill>
                  <a:srgbClr val="003B4F"/>
                </a:solidFill>
                <a:latin typeface="Courier"/>
              </a:rPr>
              <a:t>(S,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mean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rgamma</a:t>
            </a:r>
            <a:r>
              <a:rPr dirty="0">
                <a:solidFill>
                  <a:srgbClr val="003B4F"/>
                </a:solidFill>
                <a:latin typeface="Courier"/>
              </a:rPr>
              <a:t>(.x, </a:t>
            </a:r>
            <a:r>
              <a:rPr dirty="0">
                <a:solidFill>
                  <a:srgbClr val="AD0000"/>
                </a:solidFill>
                <a:latin typeface="Courier"/>
              </a:rPr>
              <a:t>219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112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&gt;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rgamma</a:t>
            </a:r>
            <a:r>
              <a:rPr dirty="0">
                <a:solidFill>
                  <a:srgbClr val="003B4F"/>
                </a:solidFill>
                <a:latin typeface="Courier"/>
              </a:rPr>
              <a:t>(.x, </a:t>
            </a:r>
            <a:r>
              <a:rPr dirty="0">
                <a:solidFill>
                  <a:srgbClr val="AD0000"/>
                </a:solidFill>
                <a:latin typeface="Courier"/>
              </a:rPr>
              <a:t>68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45</a:t>
            </a:r>
            <a:r>
              <a:rPr dirty="0">
                <a:solidFill>
                  <a:srgbClr val="003B4F"/>
                </a:solidFill>
                <a:latin typeface="Courier"/>
              </a:rPr>
              <a:t>))),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</a:t>
            </a:r>
            <a:r>
              <a:rPr dirty="0" err="1">
                <a:solidFill>
                  <a:srgbClr val="657422"/>
                </a:solidFill>
                <a:latin typeface="Courier"/>
              </a:rPr>
              <a:t>mcse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sqrt</a:t>
            </a:r>
            <a:r>
              <a:rPr dirty="0">
                <a:solidFill>
                  <a:srgbClr val="003B4F"/>
                </a:solidFill>
                <a:latin typeface="Courier"/>
              </a:rPr>
              <a:t>(estimate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estimate)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S))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(S, estimate))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geom_ribbon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ymin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estimate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mcse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ymax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estimate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mcse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"grey85"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geom_line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steelblue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geom_hline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yintercept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prob, </a:t>
            </a:r>
            <a:r>
              <a:rPr dirty="0" err="1">
                <a:solidFill>
                  <a:srgbClr val="657422"/>
                </a:solidFill>
                <a:latin typeface="Courier"/>
              </a:rPr>
              <a:t>linetype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scale_x_log10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"number of Monte Carlo draws S (log scale)"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"estimate of P(theta1 &gt; theta2)"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comparing two groups</a:t>
            </a:r>
          </a:p>
        </p:txBody>
      </p:sp>
      <p:pic>
        <p:nvPicPr>
          <p:cNvPr id="3" name="Picture 1" descr="Chanco_STA623_BDA_2026_Henrion_Session3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08200"/>
            <a:ext cx="105156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Markov Ccain Monte Carlo (MCMC)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we need MCMC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Monte Carlo needs independent draws from the posterior. We can get them when the posterior is a standard distribution, but usually all we can do is evaluate the </a:t>
            </a:r>
            <a:r>
              <a:rPr i="1"/>
              <a:t>unnormalised</a:t>
            </a:r>
            <a:r>
              <a:t> posterior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acc>
                    <m:accPr>
                      <m:chr m:val="̃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e>
                  </m:acc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),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pointwise, because the normalising constant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an intractable integral.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we need MCMC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Markov chain Monte Carlo</a:t>
            </a:r>
            <a:r>
              <a:t> constructs a sequence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(1)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(2)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,…</m:t>
                </m:r>
              </m:oMath>
            </a14:m>
            <a:r>
              <a:t> in which each value depends only on the previous one (a </a:t>
            </a:r>
            <a:r>
              <a:rPr b="1"/>
              <a:t>Markov chain</a:t>
            </a:r>
            <a:r>
              <a:t>), designed so that its long-run distribution (its </a:t>
            </a:r>
            <a:r>
              <a:rPr b="1"/>
              <a:t>stationary distribution</a:t>
            </a:r>
            <a:r>
              <a:t>) is the posterior.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price: the draws are </a:t>
            </a:r>
            <a:r>
              <a:rPr i="1"/>
              <a:t>dependent</a:t>
            </a:r>
            <a:r>
              <a:t> and the chain needs time to reach the posterior from its starting point.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payoff: we only ever need </a:t>
            </a:r>
            <a14:m xmlns:a14="http://schemas.microsoft.com/office/drawing/2010/main">
              <m:oMath xmlns:m="http://schemas.openxmlformats.org/officeDocument/2006/math">
                <m:acc>
                  <m:accPr>
                    <m:chr m:val="̃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</m:acc>
              </m:oMath>
            </a14:m>
            <a:r>
              <a:t>, never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since the constant cancels in ratios.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non-conjugate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Return to the malaria-episodes data but now put the prior on the </a:t>
            </a:r>
            <a:r>
              <a:rPr b="1"/>
              <a:t>log rate</a:t>
            </a:r>
            <a:r>
              <a:t>, which is natural if we later want to add covariates (Poisson regression):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𝜆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</m:e>
                    <m:sub>
                      <m:r>
                        <m:rPr>
                          <m:nor/>
                        </m:rPr>
                        <a:rPr i="0"/>
                        <m:t>iid</m:t>
                      </m:r>
                    </m:sub>
                  </m:sSub>
                  <m:r>
                    <m:rPr>
                      <m:nor/>
                    </m:rPr>
                    <a:rPr i="0"/>
                    <m:t>Pois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𝜆</m:t>
                  </m:r>
                  <m:r>
                    <a:rPr>
                      <a:latin typeface="Cambria Math" panose="02040503050406030204" pitchFamily="18" charset="0"/>
                    </a:rPr>
                    <m:t>),  </m:t>
                  </m:r>
                  <m:r>
                    <a:rPr>
                      <a:latin typeface="Cambria Math" panose="02040503050406030204" pitchFamily="18" charset="0"/>
                    </a:rPr>
                    <m:t>𝜆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𝒩</m:t>
                  </m:r>
                  <m:r>
                    <a:rPr>
                      <a:latin typeface="Cambria Math" panose="02040503050406030204" pitchFamily="18" charset="0"/>
                    </a:rPr>
                    <m:t>(0,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1.5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This prior is not conjugate; the posterior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 has no standard form.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non-conjugate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But its log is trivial to evaluate: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log_post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(theta)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dpois</a:t>
            </a:r>
            <a:r>
              <a:rPr>
                <a:solidFill>
                  <a:srgbClr val="003B4F"/>
                </a:solidFill>
                <a:latin typeface="Courier"/>
              </a:rPr>
              <a:t>(y, </a:t>
            </a:r>
            <a:r>
              <a:rPr>
                <a:solidFill>
                  <a:srgbClr val="657422"/>
                </a:solidFill>
                <a:latin typeface="Courier"/>
              </a:rPr>
              <a:t>lambda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exp</a:t>
            </a:r>
            <a:r>
              <a:rPr>
                <a:solidFill>
                  <a:srgbClr val="003B4F"/>
                </a:solidFill>
                <a:latin typeface="Courier"/>
              </a:rPr>
              <a:t>(theta), </a:t>
            </a:r>
            <a:r>
              <a:rPr>
                <a:solidFill>
                  <a:srgbClr val="657422"/>
                </a:solidFill>
                <a:latin typeface="Courier"/>
              </a:rPr>
              <a:t>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dnorm</a:t>
            </a:r>
            <a:r>
              <a:rPr>
                <a:solidFill>
                  <a:srgbClr val="003B4F"/>
                </a:solidFill>
                <a:latin typeface="Courier"/>
              </a:rPr>
              <a:t>(theta,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non-conjugate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reference (and only because this is one-dimensional) we can also compute a grid answer: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theta_grid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lp &lt;- </a:t>
            </a:r>
            <a:r>
              <a:rPr>
                <a:solidFill>
                  <a:srgbClr val="4758AB"/>
                </a:solidFill>
                <a:latin typeface="Courier"/>
              </a:rPr>
              <a:t>sapply</a:t>
            </a:r>
            <a:r>
              <a:rPr>
                <a:solidFill>
                  <a:srgbClr val="003B4F"/>
                </a:solidFill>
                <a:latin typeface="Courier"/>
              </a:rPr>
              <a:t>(theta_grid, log_post)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grid_post &lt;- </a:t>
            </a:r>
            <a:r>
              <a:rPr>
                <a:solidFill>
                  <a:srgbClr val="4758AB"/>
                </a:solidFill>
                <a:latin typeface="Courier"/>
              </a:rPr>
              <a:t>exp</a:t>
            </a:r>
            <a:r>
              <a:rPr>
                <a:solidFill>
                  <a:srgbClr val="003B4F"/>
                </a:solidFill>
                <a:latin typeface="Courier"/>
              </a:rPr>
              <a:t>(lp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(lp))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grid_post &lt;- grid_post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(grid_post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diff</a:t>
            </a:r>
            <a:r>
              <a:rPr>
                <a:solidFill>
                  <a:srgbClr val="003B4F"/>
                </a:solidFill>
                <a:latin typeface="Courier"/>
              </a:rPr>
              <a:t>(theta_grid)[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Starting from some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(0)</m:t>
                    </m:r>
                  </m:sup>
                </m:sSup>
              </m:oMath>
            </a14:m>
            <a:r>
              <a:t>, repeat for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𝑠</m:t>
                </m:r>
                <m:r>
                  <a:rPr>
                    <a:latin typeface="Cambria Math" panose="02040503050406030204" pitchFamily="18" charset="0"/>
                  </a:rPr>
                  <m:t>=1,2,…,</m:t>
                </m:r>
                <m:r>
                  <a:rPr>
                    <a:latin typeface="Cambria Math" panose="02040503050406030204" pitchFamily="18" charset="0"/>
                  </a:rPr>
                  <m:t>𝑆</m:t>
                </m:r>
              </m:oMath>
            </a14:m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457200" lvl="0" indent="-457200">
              <a:buAutoNum type="arabicPeriod"/>
            </a:pPr>
            <a:r>
              <a:rPr b="1"/>
              <a:t>Propose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a:rPr>
                    <a:latin typeface="Cambria Math" panose="02040503050406030204" pitchFamily="18" charset="0"/>
                  </a:rPr>
                  <m:t>𝒩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−1)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,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𝛿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(a random-walk step of size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𝛿</m:t>
                </m:r>
              </m:oMath>
            </a14:m>
            <a:r>
              <a:t>).</a:t>
            </a:r>
          </a:p>
          <a:p>
            <a:pPr marL="457200" lvl="0" indent="-457200">
              <a:buAutoNum type="arabicPeriod"/>
            </a:pPr>
            <a:r>
              <a:t>Compute the </a:t>
            </a:r>
            <a:r>
              <a:rPr b="1"/>
              <a:t>acceptance ratio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𝑟</m:t>
                </m:r>
                <m:r>
                  <a:rPr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i="1">
                        <a:latin typeface="Cambria Math" panose="02040503050406030204" pitchFamily="18" charset="0"/>
                      </a:rPr>
                    </m:ctrlPr>
                  </m:fPr>
                  <m:num>
                    <m:acc>
                      <m:accPr>
                        <m:chr m:val="̃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𝒚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acc>
                      <m:accPr>
                        <m:chr m:val="̃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𝒚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den>
                </m:f>
              </m:oMath>
            </a14:m>
            <a:r>
              <a:t>; the unknown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cancels.</a:t>
            </a:r>
          </a:p>
          <a:p>
            <a:pPr marL="457200" lvl="0" indent="-457200">
              <a:buAutoNum type="arabicPeriod"/>
            </a:pPr>
            <a:r>
              <a:t>Draw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𝑢</m:t>
                </m:r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m:rPr>
                    <m:nor/>
                  </m:rPr>
                  <a:rPr i="0"/>
                  <m:t>Unif</m:t>
                </m:r>
                <m:r>
                  <a:rPr>
                    <a:latin typeface="Cambria Math" panose="02040503050406030204" pitchFamily="18" charset="0"/>
                  </a:rPr>
                  <m:t>(0,1)</m:t>
                </m:r>
              </m:oMath>
            </a14:m>
            <a:r>
              <a:t>. If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𝑢</m:t>
                </m:r>
                <m:r>
                  <a:rPr>
                    <a:latin typeface="Cambria Math" panose="02040503050406030204" pitchFamily="18" charset="0"/>
                  </a:rPr>
                  <m:t>&lt;</m:t>
                </m:r>
                <m:r>
                  <a:rPr>
                    <a:latin typeface="Cambria Math" panose="02040503050406030204" pitchFamily="18" charset="0"/>
                  </a:rPr>
                  <m:t>𝑟</m:t>
                </m:r>
              </m:oMath>
            </a14:m>
            <a:r>
              <a:t> </a:t>
            </a:r>
            <a:r>
              <a:rPr b="1"/>
              <a:t>accept</a:t>
            </a:r>
            <a:r>
              <a:t>,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</m:oMath>
            </a14:m>
            <a:r>
              <a:t>; otherwise </a:t>
            </a:r>
            <a:r>
              <a:rPr b="1"/>
              <a:t>reject</a:t>
            </a:r>
            <a:r>
              <a:t>,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−1)</m:t>
                    </m:r>
                  </m:sup>
                </m:sSup>
              </m:oMath>
            </a14:m>
            <a: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Moves uphill (towards higher posterior density) are always accepted.</a:t>
            </a:r>
          </a:p>
          <a:p>
            <a:pPr marL="0" lvl="0" indent="0">
              <a:buNone/>
            </a:pPr>
            <a:r>
              <a:t>Moves downhill are accepted with probability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𝑟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chain therefore spends time in each region in proportion to its posterior probability.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On the log scale step 3 becomes:</a:t>
            </a:r>
          </a:p>
          <a:p>
            <a:pPr marL="0" lvl="0" indent="0">
              <a:buNone/>
            </a:pPr>
            <a:r>
              <a:t>accept if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r>
                  <a:rPr>
                    <a:latin typeface="Cambria Math" panose="02040503050406030204" pitchFamily="18" charset="0"/>
                  </a:rPr>
                  <m:t>𝑢</m:t>
                </m:r>
                <m:r>
                  <a:rPr>
                    <a:latin typeface="Cambria Math" panose="02040503050406030204" pitchFamily="18" charset="0"/>
                  </a:rPr>
                  <m:t>&lt;</m:t>
                </m:r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acc>
                  <m:accPr>
                    <m:chr m:val="̃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)−</m:t>
                </m:r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acc>
                  <m:accPr>
                    <m:chr m:val="̃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−1)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dirty="0">
                <a:solidFill>
                  <a:srgbClr val="003B4F"/>
                </a:solidFill>
                <a:latin typeface="Courier"/>
              </a:rPr>
              <a:t>metropolis &lt;- </a:t>
            </a:r>
            <a:r>
              <a:rPr b="1" dirty="0">
                <a:solidFill>
                  <a:srgbClr val="003B4F"/>
                </a:solidFill>
                <a:latin typeface="Courier"/>
              </a:rPr>
              <a:t>function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log_target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n_iter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init</a:t>
            </a:r>
            <a:r>
              <a:rPr dirty="0">
                <a:solidFill>
                  <a:srgbClr val="003B4F"/>
                </a:solidFill>
                <a:latin typeface="Courier"/>
              </a:rPr>
              <a:t>, step)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theta &lt;- </a:t>
            </a:r>
            <a:r>
              <a:rPr dirty="0">
                <a:solidFill>
                  <a:srgbClr val="4758AB"/>
                </a:solidFill>
                <a:latin typeface="Courier"/>
              </a:rPr>
              <a:t>numeric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n_iter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theta[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 &lt;- </a:t>
            </a:r>
            <a:r>
              <a:rPr dirty="0" err="1">
                <a:solidFill>
                  <a:srgbClr val="003B4F"/>
                </a:solidFill>
                <a:latin typeface="Courier"/>
              </a:rPr>
              <a:t>init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lp_current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log_target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init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003B4F"/>
                </a:solidFill>
                <a:latin typeface="Courier"/>
              </a:rPr>
              <a:t>n_accept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003B4F"/>
                </a:solidFill>
                <a:latin typeface="Courier"/>
              </a:rPr>
              <a:t>for</a:t>
            </a:r>
            <a:r>
              <a:rPr dirty="0">
                <a:solidFill>
                  <a:srgbClr val="003B4F"/>
                </a:solidFill>
                <a:latin typeface="Courier"/>
              </a:rPr>
              <a:t> (s </a:t>
            </a:r>
            <a:r>
              <a:rPr b="1" dirty="0">
                <a:solidFill>
                  <a:srgbClr val="003B4F"/>
                </a:solidFill>
                <a:latin typeface="Courier"/>
              </a:rPr>
              <a:t>in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003B4F"/>
                </a:solidFill>
                <a:latin typeface="Courier"/>
              </a:rPr>
              <a:t>n_iter)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proposal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mean =</a:t>
            </a:r>
            <a:r>
              <a:rPr dirty="0">
                <a:solidFill>
                  <a:srgbClr val="003B4F"/>
                </a:solidFill>
                <a:latin typeface="Courier"/>
              </a:rPr>
              <a:t> theta[s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step)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lp_proposal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log_target</a:t>
            </a:r>
            <a:r>
              <a:rPr dirty="0">
                <a:solidFill>
                  <a:srgbClr val="003B4F"/>
                </a:solidFill>
                <a:latin typeface="Courier"/>
              </a:rPr>
              <a:t>(proposal)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</a:t>
            </a:r>
            <a:r>
              <a:rPr b="1" dirty="0">
                <a:solidFill>
                  <a:srgbClr val="003B4F"/>
                </a:solidFill>
                <a:latin typeface="Courier"/>
              </a:rPr>
              <a:t>if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>
                <a:solidFill>
                  <a:srgbClr val="4758AB"/>
                </a:solidFill>
                <a:latin typeface="Courier"/>
              </a:rPr>
              <a:t>log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runif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)) </a:t>
            </a:r>
            <a:r>
              <a:rPr dirty="0">
                <a:solidFill>
                  <a:srgbClr val="5E5E5E"/>
                </a:solidFill>
                <a:latin typeface="Courier"/>
              </a:rPr>
              <a:t>&lt;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lp_proposal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lp_current</a:t>
            </a:r>
            <a:r>
              <a:rPr dirty="0">
                <a:solidFill>
                  <a:srgbClr val="003B4F"/>
                </a:solidFill>
                <a:latin typeface="Courier"/>
              </a:rPr>
              <a:t>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theta[s] &lt;- proposal;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lp_current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003B4F"/>
                </a:solidFill>
                <a:latin typeface="Courier"/>
              </a:rPr>
              <a:t>lp_proposal</a:t>
            </a:r>
            <a:r>
              <a:rPr dirty="0">
                <a:solidFill>
                  <a:srgbClr val="003B4F"/>
                </a:solidFill>
                <a:latin typeface="Courier"/>
              </a:rPr>
              <a:t>; </a:t>
            </a:r>
            <a:r>
              <a:rPr dirty="0" err="1">
                <a:solidFill>
                  <a:srgbClr val="003B4F"/>
                </a:solidFill>
                <a:latin typeface="Courier"/>
              </a:rPr>
              <a:t>n_accept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003B4F"/>
                </a:solidFill>
                <a:latin typeface="Courier"/>
              </a:rPr>
              <a:t>n_accept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} </a:t>
            </a:r>
            <a:r>
              <a:rPr b="1" dirty="0">
                <a:solidFill>
                  <a:srgbClr val="003B4F"/>
                </a:solidFill>
                <a:latin typeface="Courier"/>
              </a:rPr>
              <a:t>else</a:t>
            </a:r>
            <a:r>
              <a:rPr dirty="0">
                <a:solidFill>
                  <a:srgbClr val="003B4F"/>
                </a:solidFill>
                <a:latin typeface="Courier"/>
              </a:rPr>
              <a:t>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theta[s] &lt;- theta[s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}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}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theta =</a:t>
            </a:r>
            <a:r>
              <a:rPr dirty="0">
                <a:solidFill>
                  <a:srgbClr val="003B4F"/>
                </a:solidFill>
                <a:latin typeface="Courier"/>
              </a:rPr>
              <a:t> theta, </a:t>
            </a:r>
            <a:r>
              <a:rPr dirty="0" err="1">
                <a:solidFill>
                  <a:srgbClr val="657422"/>
                </a:solidFill>
                <a:latin typeface="Courier"/>
              </a:rPr>
              <a:t>acceptance_rate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n_accept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 err="1">
                <a:solidFill>
                  <a:srgbClr val="003B4F"/>
                </a:solidFill>
                <a:latin typeface="Courier"/>
              </a:rPr>
              <a:t>n_iter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That is the whole algorithm: sixteen lines of </a:t>
            </a:r>
            <a:r>
              <a:rPr>
                <a:latin typeface="Courier"/>
              </a:rPr>
              <a:t>R</a:t>
            </a:r>
            <a:r>
              <a:t>. Does it work?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run &lt;- </a:t>
            </a:r>
            <a:r>
              <a:rPr>
                <a:solidFill>
                  <a:srgbClr val="4758AB"/>
                </a:solidFill>
                <a:latin typeface="Courier"/>
              </a:rPr>
              <a:t>metropolis</a:t>
            </a:r>
            <a:r>
              <a:rPr>
                <a:solidFill>
                  <a:srgbClr val="003B4F"/>
                </a:solidFill>
                <a:latin typeface="Courier"/>
              </a:rPr>
              <a:t>(log_post, </a:t>
            </a:r>
            <a:r>
              <a:rPr>
                <a:solidFill>
                  <a:srgbClr val="657422"/>
                </a:solidFill>
                <a:latin typeface="Courier"/>
              </a:rPr>
              <a:t>n_iter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init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run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acceptance_rate</a:t>
            </a:r>
          </a:p>
          <a:p>
            <a:pPr lvl="0" indent="0">
              <a:buNone/>
            </a:pPr>
            <a:r>
              <a:rPr>
                <a:latin typeface="Courier"/>
              </a:rPr>
              <a:t>[1] 0.5134257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dirty="0">
                <a:solidFill>
                  <a:srgbClr val="003B4F"/>
                </a:solidFill>
                <a:latin typeface="Courier"/>
              </a:rPr>
              <a:t>keep &lt;- </a:t>
            </a:r>
            <a:r>
              <a:rPr dirty="0" err="1">
                <a:solidFill>
                  <a:srgbClr val="003B4F"/>
                </a:solidFill>
                <a:latin typeface="Courier"/>
              </a:rPr>
              <a:t>run</a:t>
            </a:r>
            <a:r>
              <a:rPr dirty="0" err="1">
                <a:solidFill>
                  <a:srgbClr val="5E5E5E"/>
                </a:solidFill>
                <a:latin typeface="Courier"/>
              </a:rPr>
              <a:t>$</a:t>
            </a:r>
            <a:r>
              <a:rPr dirty="0" err="1">
                <a:solidFill>
                  <a:srgbClr val="003B4F"/>
                </a:solidFill>
                <a:latin typeface="Courier"/>
              </a:rPr>
              <a:t>theta</a:t>
            </a:r>
            <a:r>
              <a:rPr dirty="0">
                <a:solidFill>
                  <a:srgbClr val="003B4F"/>
                </a:solidFill>
                <a:latin typeface="Courier"/>
              </a:rPr>
              <a:t>[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AD0000"/>
                </a:solidFill>
                <a:latin typeface="Courier"/>
              </a:rPr>
              <a:t>1000</a:t>
            </a:r>
            <a:r>
              <a:rPr dirty="0">
                <a:solidFill>
                  <a:srgbClr val="003B4F"/>
                </a:solidFill>
                <a:latin typeface="Courier"/>
              </a:rPr>
              <a:t>)]      </a:t>
            </a:r>
            <a:r>
              <a:rPr dirty="0">
                <a:solidFill>
                  <a:srgbClr val="5E5E5E"/>
                </a:solidFill>
                <a:latin typeface="Courier"/>
              </a:rPr>
              <a:t># discard the first 1000 iterations (burn-in)</a:t>
            </a:r>
            <a:r>
              <a:rPr lang="en-GB" dirty="0">
                <a:solidFill>
                  <a:srgbClr val="5E5E5E"/>
                </a:solidFill>
                <a:latin typeface="Courier"/>
              </a:rPr>
              <a:t> </a:t>
            </a:r>
            <a:br>
              <a:rPr dirty="0"/>
            </a:br>
            <a:br>
              <a:rPr dirty="0"/>
            </a:b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keep,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after_stat</a:t>
            </a:r>
            <a:r>
              <a:rPr dirty="0">
                <a:solidFill>
                  <a:srgbClr val="003B4F"/>
                </a:solidFill>
                <a:latin typeface="Courier"/>
              </a:rPr>
              <a:t>(density)), </a:t>
            </a:r>
            <a:r>
              <a:rPr dirty="0">
                <a:solidFill>
                  <a:srgbClr val="657422"/>
                </a:solidFill>
                <a:latin typeface="Courier"/>
              </a:rPr>
              <a:t>bins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60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       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steelblue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"white"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geom_line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theta_grid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grid_post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"salmon"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linewidth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coord_cartesian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xlim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1.3</a:t>
            </a:r>
            <a:r>
              <a:rPr dirty="0">
                <a:solidFill>
                  <a:srgbClr val="003B4F"/>
                </a:solidFill>
                <a:latin typeface="Courier"/>
              </a:rPr>
              <a:t>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expression</a:t>
            </a:r>
            <a:r>
              <a:rPr dirty="0">
                <a:solidFill>
                  <a:srgbClr val="003B4F"/>
                </a:solidFill>
                <a:latin typeface="Courier"/>
              </a:rPr>
              <a:t>(theta </a:t>
            </a:r>
            <a:r>
              <a:rPr dirty="0">
                <a:solidFill>
                  <a:srgbClr val="5E5E5E"/>
                </a:solidFill>
                <a:latin typeface="Courier"/>
              </a:rPr>
              <a:t>==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log</a:t>
            </a:r>
            <a:r>
              <a:rPr dirty="0">
                <a:solidFill>
                  <a:srgbClr val="003B4F"/>
                </a:solidFill>
                <a:latin typeface="Courier"/>
              </a:rPr>
              <a:t>(lambda)),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"density"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</a:t>
            </a:r>
            <a:r>
              <a:rPr dirty="0">
                <a:solidFill>
                  <a:srgbClr val="657422"/>
                </a:solidFill>
                <a:latin typeface="Courier"/>
              </a:rPr>
              <a:t>subtitle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"Histogram: Metropolis draws; line: grid approximation"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post_mean_lambda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mean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4758AB"/>
                </a:solidFill>
                <a:latin typeface="Courier"/>
              </a:rPr>
              <a:t>exp</a:t>
            </a:r>
            <a:r>
              <a:rPr dirty="0">
                <a:solidFill>
                  <a:srgbClr val="003B4F"/>
                </a:solidFill>
                <a:latin typeface="Courier"/>
              </a:rPr>
              <a:t>(keep)), </a:t>
            </a:r>
            <a:r>
              <a:rPr dirty="0">
                <a:solidFill>
                  <a:srgbClr val="4758AB"/>
                </a:solidFill>
                <a:latin typeface="Courier"/>
              </a:rPr>
              <a:t>quantile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4758AB"/>
                </a:solidFill>
                <a:latin typeface="Courier"/>
              </a:rPr>
              <a:t>exp</a:t>
            </a:r>
            <a:r>
              <a:rPr dirty="0">
                <a:solidFill>
                  <a:srgbClr val="003B4F"/>
                </a:solidFill>
                <a:latin typeface="Courier"/>
              </a:rPr>
              <a:t>(keep),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0.025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0.975</a:t>
            </a:r>
            <a:r>
              <a:rPr dirty="0">
                <a:solidFill>
                  <a:srgbClr val="003B4F"/>
                </a:solidFill>
                <a:latin typeface="Courier"/>
              </a:rPr>
              <a:t>)))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Metropolis algorithm</a:t>
            </a:r>
          </a:p>
        </p:txBody>
      </p:sp>
      <p:pic>
        <p:nvPicPr>
          <p:cNvPr id="3" name="Picture 1" descr="Chanco_STA623_BDA_2026_Henrion_Session3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08200"/>
            <a:ext cx="105156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post_mean_lambda             2.5%            97.5% 
        2.204286         1.576547         2.911583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Tuning the step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algorithm is correct for </a:t>
            </a:r>
            <a:r>
              <a:rPr i="1"/>
              <a:t>any</a:t>
            </a:r>
            <a:r>
              <a:t> step size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𝛿</m:t>
                </m:r>
                <m:r>
                  <a:rPr>
                    <a:latin typeface="Cambria Math" panose="02040503050406030204" pitchFamily="18" charset="0"/>
                  </a:rPr>
                  <m:t>&gt;0</m:t>
                </m:r>
              </m:oMath>
            </a14:m>
            <a:r>
              <a:t>, but its </a:t>
            </a:r>
            <a:r>
              <a:rPr b="1"/>
              <a:t>efficiency</a:t>
            </a:r>
            <a:r>
              <a:t> depends strongly on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𝛿</m:t>
                </m:r>
              </m:oMath>
            </a14:m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runs &lt;- </a:t>
            </a:r>
            <a:r>
              <a:rPr>
                <a:solidFill>
                  <a:srgbClr val="4758AB"/>
                </a:solidFill>
                <a:latin typeface="Courier"/>
              </a:rPr>
              <a:t>map_dfr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 &lt;- </a:t>
            </a:r>
            <a:r>
              <a:rPr>
                <a:solidFill>
                  <a:srgbClr val="4758AB"/>
                </a:solidFill>
                <a:latin typeface="Courier"/>
              </a:rPr>
              <a:t>metropolis</a:t>
            </a:r>
            <a:r>
              <a:rPr>
                <a:solidFill>
                  <a:srgbClr val="003B4F"/>
                </a:solidFill>
                <a:latin typeface="Courier"/>
              </a:rPr>
              <a:t>(log_post, </a:t>
            </a:r>
            <a:r>
              <a:rPr>
                <a:solidFill>
                  <a:srgbClr val="657422"/>
                </a:solidFill>
                <a:latin typeface="Courier"/>
              </a:rPr>
              <a:t>n_iter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init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step =</a:t>
            </a:r>
            <a:r>
              <a:rPr>
                <a:solidFill>
                  <a:srgbClr val="003B4F"/>
                </a:solidFill>
                <a:latin typeface="Courier"/>
              </a:rPr>
              <a:t> 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"step = "</a:t>
            </a:r>
            <a:r>
              <a:rPr>
                <a:solidFill>
                  <a:srgbClr val="003B4F"/>
                </a:solidFill>
                <a:latin typeface="Courier"/>
              </a:rPr>
              <a:t>, d, </a:t>
            </a:r>
            <a:r>
              <a:rPr>
                <a:solidFill>
                  <a:srgbClr val="20794D"/>
                </a:solidFill>
                <a:latin typeface="Courier"/>
              </a:rPr>
              <a:t>" (acceptance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acceptance_rate), </a:t>
            </a:r>
            <a:r>
              <a:rPr>
                <a:solidFill>
                  <a:srgbClr val="20794D"/>
                </a:solidFill>
                <a:latin typeface="Courier"/>
              </a:rPr>
              <a:t>"%)"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iteration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theta), </a:t>
            </a:r>
            <a:r>
              <a:rPr>
                <a:solidFill>
                  <a:srgbClr val="657422"/>
                </a:solidFill>
                <a:latin typeface="Courier"/>
              </a:rPr>
              <a:t>theta =</a:t>
            </a:r>
            <a:r>
              <a:rPr>
                <a:solidFill>
                  <a:srgbClr val="003B4F"/>
                </a:solidFill>
                <a:latin typeface="Courier"/>
              </a:rPr>
              <a:t> 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theta)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(runs,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(iteration, theta))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step,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expression</a:t>
            </a:r>
            <a:r>
              <a:rPr>
                <a:solidFill>
                  <a:srgbClr val="003B4F"/>
                </a:solidFill>
                <a:latin typeface="Courier"/>
              </a:rPr>
              <a:t>(theta))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Tuning the step size</a:t>
            </a:r>
          </a:p>
        </p:txBody>
      </p:sp>
      <p:pic>
        <p:nvPicPr>
          <p:cNvPr id="3" name="Picture 1" descr="Chanco_STA623_BDA_2026_Henrion_Session3_files/figure-pptx/unnamed-chunk-1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816100"/>
            <a:ext cx="8394700" cy="466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Tuning the step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Too small</a:t>
            </a:r>
            <a:r>
              <a:t>: nearly every proposal is accepted but the chain crawls; it takes hundreds of iterations to leave the (bad) starting value and successive draws are almost identical.</a:t>
            </a:r>
          </a:p>
          <a:p>
            <a:pPr lvl="0"/>
            <a:r>
              <a:rPr b="1"/>
              <a:t>Too large</a:t>
            </a:r>
            <a:r>
              <a:t>: most proposals land in the tails and are rejected; the chain sticks for long stretches.</a:t>
            </a:r>
          </a:p>
          <a:p>
            <a:pPr lvl="0"/>
            <a:r>
              <a:rPr b="1"/>
              <a:t>About right</a:t>
            </a:r>
            <a:r>
              <a:t>: the trace looks like a “hairy caterpillar”. For random-walk Metropolis, acceptance rates of roughly 20-50% are a good target (about 44% in one dimension, decreasing towards 23% in many dimensions).</a:t>
            </a:r>
          </a:p>
          <a:p>
            <a:pPr marL="0" lvl="0" indent="0">
              <a:buNone/>
            </a:pPr>
            <a:r>
              <a:t>Software such as </a:t>
            </a:r>
            <a:r>
              <a:rPr>
                <a:latin typeface="Courier"/>
              </a:rPr>
              <a:t>NIMBLE</a:t>
            </a:r>
            <a:r>
              <a:t> tunes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𝛿</m:t>
                </m:r>
              </m:oMath>
            </a14:m>
            <a:r>
              <a:t> automatically during an adaptation phase.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Metropolis-Hastings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the proposal distribution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𝑞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not symmetric (for example, proposals on the log scale for a positive parameter), the ratio needs a correction: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𝑟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acc>
                        <m:accPr>
                          <m:chr m:val="̃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acc>
                        <m:accPr>
                          <m:chr m:val="̃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This is the </a:t>
            </a:r>
            <a:r>
              <a:rPr b="1"/>
              <a:t>Metropolis-Hastings</a:t>
            </a:r>
            <a:r>
              <a:t> algorithm. For a symmetric proposal the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𝑞</m:t>
                </m:r>
              </m:oMath>
            </a14:m>
            <a:r>
              <a:t> terms cancel and we recover Metropolis. The correction ensures </a:t>
            </a:r>
            <a:r>
              <a:rPr i="1"/>
              <a:t>detailed balance</a:t>
            </a:r>
            <a:r>
              <a:t>,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  <m:r>
                  <a:rPr>
                    <a:latin typeface="Cambria Math" panose="02040503050406030204" pitchFamily="18" charset="0"/>
                  </a:rPr>
                  <m:t>𝑇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→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)=</m:t>
                </m:r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)</m:t>
                </m:r>
                <m:r>
                  <a:rPr>
                    <a:latin typeface="Cambria Math" panose="02040503050406030204" pitchFamily="18" charset="0"/>
                  </a:rPr>
                  <m:t>𝑇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e>
                  <m:sup>
                    <m:r>
                      <a:rPr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>
                    <a:latin typeface="Cambria Math" panose="02040503050406030204" pitchFamily="18" charset="0"/>
                  </a:rPr>
                  <m:t>→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which guarantees that the posterior is the stationary distribution of the chain.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Gibbs sampler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the parameter is a vector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𝝓</m:t>
                </m:r>
                <m:r>
                  <a:rPr>
                    <a:latin typeface="Cambria Math" panose="02040503050406030204" pitchFamily="18" charset="0"/>
                  </a:rPr>
                  <m:t>=(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𝜙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,…,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𝜙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and every </a:t>
            </a:r>
            <a:r>
              <a:rPr b="1"/>
              <a:t>full conditional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𝜙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m:rPr>
                    <m:nor/>
                  </m:rPr>
                  <a:rPr i="0"/>
                  <m:t>all other parameters</m:t>
                </m:r>
                <m:r>
                  <a:rPr>
                    <a:latin typeface="Cambria Math" panose="02040503050406030204" pitchFamily="18" charset="0"/>
                  </a:rPr>
                  <m:t>,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a distribution we can sample from, update one component at a time, </a:t>
            </a:r>
            <a:r>
              <a:rPr b="1"/>
              <a:t>always conditioning on the most recent values</a:t>
            </a:r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eqArr>
                    <m:eqArr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eqArrPr>
                    <m:e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&amp;∼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e>
                    <m:e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&amp;∼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e>
                    <m:e>
                      <m:r>
                        <a:rPr>
                          <a:latin typeface="Cambria Math" panose="02040503050406030204" pitchFamily="18" charset="0"/>
                        </a:rPr>
                        <m:t>&amp;  ⋮</m:t>
                      </m:r>
                    </m:e>
                    <m:e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&amp;∼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∣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e>
                  </m:eqAr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Gibbs sampler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Gibbs sampling is a special case of Metropolis-Hastings in which</a:t>
            </a:r>
          </a:p>
          <a:p>
            <a:pPr lvl="0"/>
            <a:r>
              <a:t>the proposal is the full conditional itself,</a:t>
            </a:r>
          </a:p>
          <a:p>
            <a:pPr lvl="0"/>
            <a:r>
              <a:t>every proposal is accepted (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𝑟</m:t>
                </m:r>
                <m:r>
                  <a:rPr>
                    <a:latin typeface="Cambria Math" panose="02040503050406030204" pitchFamily="18" charset="0"/>
                  </a:rPr>
                  <m:t>=1</m:t>
                </m:r>
              </m:oMath>
            </a14:m>
            <a:r>
              <a:t>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33</a:t>
            </a:fld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haemoglobin with unknown mean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 err="1"/>
                  <a:t>Haemoglobin</a:t>
                </a:r>
                <a:r>
                  <a:rPr dirty="0"/>
                  <a:t> (g/dL) measured in 20 pregnant women at an antenatal clinic (simulated data):</a:t>
                </a:r>
              </a:p>
              <a:p>
                <a:pPr lvl="0" indent="0">
                  <a:buNone/>
                </a:pP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set.seed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42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  <a:br>
                  <a:rPr dirty="0"/>
                </a:b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&lt;-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rnorm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20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mean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10.8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sd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1.4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  <a:br>
                  <a:rPr dirty="0"/>
                </a:b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n_hb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&lt;-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length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); 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ybar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&lt;-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  <a:br>
                  <a:rPr dirty="0"/>
                </a:br>
                <a:r>
                  <a:rPr dirty="0"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n_hb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mean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ybar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sd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hb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))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        n      mean        </a:t>
                </a:r>
                <a:r>
                  <a:rPr dirty="0" err="1">
                    <a:latin typeface="Courier"/>
                  </a:rPr>
                  <a:t>sd</a:t>
                </a:r>
                <a:r>
                  <a:rPr dirty="0">
                    <a:latin typeface="Courier"/>
                  </a:rPr>
                  <a:t> 
20.000000 11.070000  1.824425 </a:t>
                </a:r>
                <a:r>
                  <a:rPr lang="en-GB" dirty="0">
                    <a:latin typeface="Courier"/>
                  </a:rPr>
                  <a:t> </a:t>
                </a:r>
                <a:endParaRPr dirty="0">
                  <a:latin typeface="Courier"/>
                </a:endParaRPr>
              </a:p>
              <a:p>
                <a:pPr marL="0" lvl="0" indent="0">
                  <a:buNone/>
                </a:pPr>
                <a:r>
                  <a:rPr dirty="0"/>
                  <a:t>Semi-conjugate priors from Lecture 2: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𝜇</m:t>
                    </m:r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𝒩</m:t>
                    </m:r>
                    <m:r>
                      <a:rPr>
                        <a:latin typeface="Cambria Math" panose="02040503050406030204" pitchFamily="18" charset="0"/>
                      </a:rPr>
                      <m:t>(12,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i="0"/>
                      <m:t>Gamma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/2,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/2)</m:t>
                    </m:r>
                  </m:oMath>
                </a14:m>
                <a:r>
                  <a:rPr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dirty="0"/>
                  <a:t>. The Gibbs sampler alternates between the two full conditionals: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897" r="-603" b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haemoglobin with unknown mean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gibbs_normal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b="1" dirty="0">
                <a:solidFill>
                  <a:srgbClr val="003B4F"/>
                </a:solidFill>
                <a:latin typeface="Courier"/>
              </a:rPr>
              <a:t>function</a:t>
            </a:r>
            <a:r>
              <a:rPr dirty="0">
                <a:solidFill>
                  <a:srgbClr val="003B4F"/>
                </a:solidFill>
                <a:latin typeface="Courier"/>
              </a:rPr>
              <a:t>(y, S, </a:t>
            </a:r>
            <a:r>
              <a:rPr dirty="0" err="1">
                <a:solidFill>
                  <a:srgbClr val="003B4F"/>
                </a:solidFill>
                <a:latin typeface="Courier"/>
              </a:rPr>
              <a:t>mu_init</a:t>
            </a:r>
            <a:r>
              <a:rPr dirty="0">
                <a:solidFill>
                  <a:srgbClr val="003B4F"/>
                </a:solidFill>
                <a:latin typeface="Courier"/>
              </a:rPr>
              <a:t>, sigma2_init,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                </a:t>
            </a:r>
            <a:r>
              <a:rPr dirty="0">
                <a:solidFill>
                  <a:srgbClr val="657422"/>
                </a:solidFill>
                <a:latin typeface="Courier"/>
              </a:rPr>
              <a:t>mu0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12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tau0_2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4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nu0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sigma0_2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1.5</a:t>
            </a:r>
            <a:r>
              <a:rPr dirty="0">
                <a:solidFill>
                  <a:srgbClr val="5E5E5E"/>
                </a:solidFill>
                <a:latin typeface="Courier"/>
              </a:rPr>
              <a:t>^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n &lt;- </a:t>
            </a:r>
            <a:r>
              <a:rPr dirty="0">
                <a:solidFill>
                  <a:srgbClr val="4758AB"/>
                </a:solidFill>
                <a:latin typeface="Courier"/>
              </a:rPr>
              <a:t>length</a:t>
            </a:r>
            <a:r>
              <a:rPr dirty="0">
                <a:solidFill>
                  <a:srgbClr val="003B4F"/>
                </a:solidFill>
                <a:latin typeface="Courier"/>
              </a:rPr>
              <a:t>(y); </a:t>
            </a:r>
            <a:r>
              <a:rPr dirty="0" err="1">
                <a:solidFill>
                  <a:srgbClr val="003B4F"/>
                </a:solidFill>
                <a:latin typeface="Courier"/>
              </a:rPr>
              <a:t>ybar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>
                <a:solidFill>
                  <a:srgbClr val="4758AB"/>
                </a:solidFill>
                <a:latin typeface="Courier"/>
              </a:rPr>
              <a:t>mean</a:t>
            </a:r>
            <a:r>
              <a:rPr dirty="0">
                <a:solidFill>
                  <a:srgbClr val="003B4F"/>
                </a:solidFill>
                <a:latin typeface="Courier"/>
              </a:rPr>
              <a:t>(y)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mu &lt;- sigma2 &lt;- </a:t>
            </a:r>
            <a:r>
              <a:rPr dirty="0">
                <a:solidFill>
                  <a:srgbClr val="4758AB"/>
                </a:solidFill>
                <a:latin typeface="Courier"/>
              </a:rPr>
              <a:t>numeric</a:t>
            </a:r>
            <a:r>
              <a:rPr dirty="0">
                <a:solidFill>
                  <a:srgbClr val="003B4F"/>
                </a:solidFill>
                <a:latin typeface="Courier"/>
              </a:rPr>
              <a:t>(S)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mu[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 &lt;- </a:t>
            </a:r>
            <a:r>
              <a:rPr dirty="0" err="1">
                <a:solidFill>
                  <a:srgbClr val="003B4F"/>
                </a:solidFill>
                <a:latin typeface="Courier"/>
              </a:rPr>
              <a:t>mu_init</a:t>
            </a:r>
            <a:r>
              <a:rPr dirty="0">
                <a:solidFill>
                  <a:srgbClr val="003B4F"/>
                </a:solidFill>
                <a:latin typeface="Courier"/>
              </a:rPr>
              <a:t>; sigma2[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 &lt;- sigma2_init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003B4F"/>
                </a:solidFill>
                <a:latin typeface="Courier"/>
              </a:rPr>
              <a:t>for</a:t>
            </a:r>
            <a:r>
              <a:rPr dirty="0">
                <a:solidFill>
                  <a:srgbClr val="003B4F"/>
                </a:solidFill>
                <a:latin typeface="Courier"/>
              </a:rPr>
              <a:t> (s </a:t>
            </a:r>
            <a:r>
              <a:rPr b="1" dirty="0">
                <a:solidFill>
                  <a:srgbClr val="003B4F"/>
                </a:solidFill>
                <a:latin typeface="Courier"/>
              </a:rPr>
              <a:t>in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003B4F"/>
                </a:solidFill>
                <a:latin typeface="Courier"/>
              </a:rPr>
              <a:t>S)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</a:t>
            </a:r>
            <a:r>
              <a:rPr dirty="0">
                <a:solidFill>
                  <a:srgbClr val="5E5E5E"/>
                </a:solidFill>
                <a:latin typeface="Courier"/>
              </a:rPr>
              <a:t># 1. mu | sigma2, y  ~ Normal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tau_n2 &lt;-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tau0_2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n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sigma2[s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</a:t>
            </a:r>
            <a:r>
              <a:rPr dirty="0" err="1">
                <a:solidFill>
                  <a:srgbClr val="003B4F"/>
                </a:solidFill>
                <a:latin typeface="Courier"/>
              </a:rPr>
              <a:t>mu_n</a:t>
            </a:r>
            <a:r>
              <a:rPr dirty="0">
                <a:solidFill>
                  <a:srgbClr val="003B4F"/>
                </a:solidFill>
                <a:latin typeface="Courier"/>
              </a:rPr>
              <a:t>   &lt;- tau_n2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(mu0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tau0_2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n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ybar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sigma2[s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])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mu[s] 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mu_n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4758AB"/>
                </a:solidFill>
                <a:latin typeface="Courier"/>
              </a:rPr>
              <a:t>sqrt</a:t>
            </a:r>
            <a:r>
              <a:rPr dirty="0">
                <a:solidFill>
                  <a:srgbClr val="003B4F"/>
                </a:solidFill>
                <a:latin typeface="Courier"/>
              </a:rPr>
              <a:t>(tau_n2))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</a:t>
            </a:r>
            <a:r>
              <a:rPr dirty="0">
                <a:solidFill>
                  <a:srgbClr val="5E5E5E"/>
                </a:solidFill>
                <a:latin typeface="Courier"/>
              </a:rPr>
              <a:t># 2. 1/sigma2 | mu, y ~ Gamma   (uses the NEW value mu[s])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shape &lt;- (nu0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n)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rate  &lt;- (nu0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sigma0_2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sum</a:t>
            </a:r>
            <a:r>
              <a:rPr dirty="0">
                <a:solidFill>
                  <a:srgbClr val="003B4F"/>
                </a:solidFill>
                <a:latin typeface="Courier"/>
              </a:rPr>
              <a:t>((y 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 mu[s])</a:t>
            </a:r>
            <a:r>
              <a:rPr dirty="0">
                <a:solidFill>
                  <a:srgbClr val="5E5E5E"/>
                </a:solidFill>
                <a:latin typeface="Courier"/>
              </a:rPr>
              <a:t>^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))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sigma2[s] &lt;-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rgamma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shape =</a:t>
            </a:r>
            <a:r>
              <a:rPr dirty="0">
                <a:solidFill>
                  <a:srgbClr val="003B4F"/>
                </a:solidFill>
                <a:latin typeface="Courier"/>
              </a:rPr>
              <a:t> shape, </a:t>
            </a:r>
            <a:r>
              <a:rPr dirty="0">
                <a:solidFill>
                  <a:srgbClr val="657422"/>
                </a:solidFill>
                <a:latin typeface="Courier"/>
              </a:rPr>
              <a:t>rate =</a:t>
            </a:r>
            <a:r>
              <a:rPr dirty="0">
                <a:solidFill>
                  <a:srgbClr val="003B4F"/>
                </a:solidFill>
                <a:latin typeface="Courier"/>
              </a:rPr>
              <a:t> rate)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}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tibble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iteration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003B4F"/>
                </a:solidFill>
                <a:latin typeface="Courier"/>
              </a:rPr>
              <a:t>S, </a:t>
            </a:r>
            <a:r>
              <a:rPr dirty="0">
                <a:solidFill>
                  <a:srgbClr val="657422"/>
                </a:solidFill>
                <a:latin typeface="Courier"/>
              </a:rPr>
              <a:t>mu =</a:t>
            </a:r>
            <a:r>
              <a:rPr dirty="0">
                <a:solidFill>
                  <a:srgbClr val="003B4F"/>
                </a:solidFill>
                <a:latin typeface="Courier"/>
              </a:rPr>
              <a:t> mu, </a:t>
            </a:r>
            <a:r>
              <a:rPr dirty="0">
                <a:solidFill>
                  <a:srgbClr val="657422"/>
                </a:solidFill>
                <a:latin typeface="Courier"/>
              </a:rPr>
              <a:t>sigma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sqrt</a:t>
            </a:r>
            <a:r>
              <a:rPr dirty="0">
                <a:solidFill>
                  <a:srgbClr val="003B4F"/>
                </a:solidFill>
                <a:latin typeface="Courier"/>
              </a:rPr>
              <a:t>(sigma2))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35</a:t>
            </a:fld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haemoglobin with unknown mean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set.seed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gs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gibbs_normal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hb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5000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mu_init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sigma2_init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20</a:t>
            </a:r>
            <a:r>
              <a:rPr dirty="0">
                <a:solidFill>
                  <a:srgbClr val="003B4F"/>
                </a:solidFill>
                <a:latin typeface="Courier"/>
              </a:rPr>
              <a:t>)   </a:t>
            </a:r>
            <a:r>
              <a:rPr dirty="0">
                <a:solidFill>
                  <a:srgbClr val="5E5E5E"/>
                </a:solidFill>
                <a:latin typeface="Courier"/>
              </a:rPr>
              <a:t># deliberately poor start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p1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(gs[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AD0000"/>
                </a:solidFill>
                <a:latin typeface="Courier"/>
              </a:rPr>
              <a:t>30</a:t>
            </a:r>
            <a:r>
              <a:rPr dirty="0">
                <a:solidFill>
                  <a:srgbClr val="003B4F"/>
                </a:solidFill>
                <a:latin typeface="Courier"/>
              </a:rPr>
              <a:t>, ],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(mu, sigma))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geom_path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"grey50"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lang="en-GB" dirty="0">
                <a:solidFill>
                  <a:srgbClr val="5E5E5E"/>
                </a:solidFill>
                <a:latin typeface="Courier"/>
              </a:rPr>
              <a:t> 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"salmon"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geom_density_2d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gs[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AD0000"/>
                </a:solidFill>
                <a:latin typeface="Courier"/>
              </a:rPr>
              <a:t>500</a:t>
            </a:r>
            <a:r>
              <a:rPr dirty="0">
                <a:solidFill>
                  <a:srgbClr val="003B4F"/>
                </a:solidFill>
                <a:latin typeface="Courier"/>
              </a:rPr>
              <a:t>), ],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steelblue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"first 30 Gibbs steps"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expression</a:t>
            </a:r>
            <a:r>
              <a:rPr dirty="0">
                <a:solidFill>
                  <a:srgbClr val="003B4F"/>
                </a:solidFill>
                <a:latin typeface="Courier"/>
              </a:rPr>
              <a:t>(mu),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expression</a:t>
            </a:r>
            <a:r>
              <a:rPr dirty="0">
                <a:solidFill>
                  <a:srgbClr val="003B4F"/>
                </a:solidFill>
                <a:latin typeface="Courier"/>
              </a:rPr>
              <a:t>(sigma))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p2 &lt;- gs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pivot_longer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(mu, sigma))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(iteration, value))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geom_line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linewidth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0.2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steelblue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facet_wrap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name,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ncol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scales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free_y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"trace plots"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NULL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 err="1">
                <a:solidFill>
                  <a:srgbClr val="003B4F"/>
                </a:solidFill>
                <a:latin typeface="Courier"/>
              </a:rPr>
              <a:t>gridExtra</a:t>
            </a:r>
            <a:r>
              <a:rPr dirty="0">
                <a:solidFill>
                  <a:srgbClr val="5E5E5E"/>
                </a:solidFill>
                <a:latin typeface="Courier"/>
              </a:rPr>
              <a:t>::</a:t>
            </a:r>
            <a:r>
              <a:rPr dirty="0" err="1">
                <a:solidFill>
                  <a:srgbClr val="4758AB"/>
                </a:solidFill>
                <a:latin typeface="Courier"/>
              </a:rPr>
              <a:t>grid.arrange</a:t>
            </a:r>
            <a:r>
              <a:rPr dirty="0">
                <a:solidFill>
                  <a:srgbClr val="003B4F"/>
                </a:solidFill>
                <a:latin typeface="Courier"/>
              </a:rPr>
              <a:t>(p1, p2,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ncol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gs[</a:t>
            </a:r>
            <a:r>
              <a:rPr dirty="0">
                <a:solidFill>
                  <a:srgbClr val="5E5E5E"/>
                </a:solidFill>
                <a:latin typeface="Courier"/>
              </a:rPr>
              <a:t>-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AD0000"/>
                </a:solidFill>
                <a:latin typeface="Courier"/>
              </a:rPr>
              <a:t>500</a:t>
            </a:r>
            <a:r>
              <a:rPr dirty="0">
                <a:solidFill>
                  <a:srgbClr val="003B4F"/>
                </a:solidFill>
                <a:latin typeface="Courier"/>
              </a:rPr>
              <a:t>), ]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summarise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4758AB"/>
                </a:solidFill>
                <a:latin typeface="Courier"/>
              </a:rPr>
              <a:t>across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(mu, sigma),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mean =</a:t>
            </a:r>
            <a:r>
              <a:rPr dirty="0">
                <a:solidFill>
                  <a:srgbClr val="003B4F"/>
                </a:solidFill>
                <a:latin typeface="Courier"/>
              </a:rPr>
              <a:t> mean, </a:t>
            </a:r>
            <a:r>
              <a:rPr dirty="0">
                <a:solidFill>
                  <a:srgbClr val="657422"/>
                </a:solidFill>
                <a:latin typeface="Courier"/>
              </a:rPr>
              <a:t>lo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4758AB"/>
                </a:solidFill>
                <a:latin typeface="Courier"/>
              </a:rPr>
              <a:t>quantile</a:t>
            </a:r>
            <a:r>
              <a:rPr dirty="0">
                <a:solidFill>
                  <a:srgbClr val="003B4F"/>
                </a:solidFill>
                <a:latin typeface="Courier"/>
              </a:rPr>
              <a:t>(.x, </a:t>
            </a:r>
            <a:r>
              <a:rPr dirty="0">
                <a:solidFill>
                  <a:srgbClr val="AD0000"/>
                </a:solidFill>
                <a:latin typeface="Courier"/>
              </a:rPr>
              <a:t>0.025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hi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4758AB"/>
                </a:solidFill>
                <a:latin typeface="Courier"/>
              </a:rPr>
              <a:t>quantile</a:t>
            </a:r>
            <a:r>
              <a:rPr dirty="0">
                <a:solidFill>
                  <a:srgbClr val="003B4F"/>
                </a:solidFill>
                <a:latin typeface="Courier"/>
              </a:rPr>
              <a:t>(.x, </a:t>
            </a:r>
            <a:r>
              <a:rPr dirty="0">
                <a:solidFill>
                  <a:srgbClr val="AD0000"/>
                </a:solidFill>
                <a:latin typeface="Courier"/>
              </a:rPr>
              <a:t>0.975</a:t>
            </a:r>
            <a:r>
              <a:rPr dirty="0">
                <a:solidFill>
                  <a:srgbClr val="003B4F"/>
                </a:solidFill>
                <a:latin typeface="Courier"/>
              </a:rPr>
              <a:t>))))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haemoglobin with unknown mean and variance</a:t>
            </a:r>
          </a:p>
        </p:txBody>
      </p:sp>
      <p:pic>
        <p:nvPicPr>
          <p:cNvPr id="3" name="Picture 1" descr="Chanco_STA623_BDA_2026_Henrion_Session3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816100"/>
            <a:ext cx="9321800" cy="466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1 × 6
  mu_mean mu_lo mu_hi sigma_mean sigma_lo sigma_hi
    &lt;dbl&gt; &lt;dbl&gt; &lt;dbl&gt;      &lt;dbl&gt;    &lt;dbl&gt;    &lt;dbl&gt;
1    11.1  10.3  11.9       1.88     1.37     2.64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haemoglobin with unknown mean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path moves in axis-parallel steps (one parameter at a time), quickly leaves the poor starting point, and then wanders around the posterior.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Note how the first few iterations are clearly not representative of the posterior: they should be discarded as </a:t>
            </a:r>
            <a:r>
              <a:rPr b="1"/>
              <a:t>burn-in</a:t>
            </a:r>
            <a:r>
              <a:t> (also called warm-up).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Beyond Metropolis and Gibbs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Real software combines and extends these building blocks:</a:t>
            </a:r>
          </a:p>
          <a:p>
            <a:pPr lvl="0"/>
            <a:r>
              <a:rPr b="1"/>
              <a:t>Metropolis-within-Gibbs</a:t>
            </a:r>
            <a:r>
              <a:t>: update each parameter (or block of parameters) in turn, by a Gibbs step if its full conditional is standard, by a Metropolis step otherwise. This is essentially what </a:t>
            </a:r>
            <a:r>
              <a:rPr>
                <a:latin typeface="Courier"/>
              </a:rPr>
              <a:t>NIMBLE</a:t>
            </a:r>
            <a:r>
              <a:t> and </a:t>
            </a:r>
            <a:r>
              <a:rPr>
                <a:latin typeface="Courier"/>
              </a:rPr>
              <a:t>JAGS</a:t>
            </a:r>
            <a:r>
              <a:t> do by default.</a:t>
            </a:r>
          </a:p>
          <a:p>
            <a:pPr lvl="0"/>
            <a:r>
              <a:rPr b="1"/>
              <a:t>Block updating</a:t>
            </a:r>
            <a:r>
              <a:t>: update strongly correlated parameters jointly (e.g. all regression coefficients), with a multivariate random-walk or slice sampler. One-at-a-time updates move very slowly along narrow diagonal ridges.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40</a:t>
            </a:fld>
            <a:endParaRPr lang="en-GB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Beyond Metropolis and Gibbs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Hamiltonian Monte Carlo (HMC)</a:t>
            </a:r>
            <a:r>
              <a:t> and its adaptive version </a:t>
            </a:r>
            <a:r>
              <a:rPr b="1"/>
              <a:t>NUTS</a:t>
            </a:r>
            <a:r>
              <a:t> use the </a:t>
            </a:r>
            <a:r>
              <a:rPr i="1"/>
              <a:t>gradient</a:t>
            </a:r>
            <a:r>
              <a:t> of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acc>
                  <m:accPr>
                    <m:chr m:val="̃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e>
                </m:acc>
              </m:oMath>
            </a14:m>
            <a:r>
              <a:t> to propose distant moves that are still likely to be accepted. They scale much better to high dimensions and correlated posteriors. HMC/NUTS is the engine of </a:t>
            </a:r>
            <a:r>
              <a:rPr>
                <a:latin typeface="Courier"/>
              </a:rPr>
              <a:t>Stan</a:t>
            </a:r>
            <a:r>
              <a:t> (and </a:t>
            </a:r>
            <a:r>
              <a:rPr>
                <a:latin typeface="Courier"/>
              </a:rPr>
              <a:t>brms</a:t>
            </a:r>
            <a:r>
              <a:t>), and is available in </a:t>
            </a:r>
            <a:r>
              <a:rPr>
                <a:latin typeface="Courier"/>
              </a:rPr>
              <a:t>NIMBLE</a:t>
            </a:r>
            <a:r>
              <a:t> through the </a:t>
            </a:r>
            <a:r>
              <a:rPr>
                <a:latin typeface="Courier"/>
              </a:rPr>
              <a:t>nimbleHMC</a:t>
            </a:r>
            <a:r>
              <a:t> package.</a:t>
            </a:r>
          </a:p>
          <a:p>
            <a:pPr lvl="0"/>
            <a:r>
              <a:rPr b="1"/>
              <a:t>Approximate methods</a:t>
            </a:r>
            <a:r>
              <a:t> that avoid sampling altogether (integrated nested Laplace approximation, INLA; variational inference) are fast for particular model classes, at the cost of being approximations.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41</a:t>
            </a:fld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MCMC struggles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Things to watch for (they motivate the diagnostics of Lecture 4):</a:t>
            </a:r>
          </a:p>
          <a:p>
            <a:pPr lvl="0"/>
            <a:r>
              <a:rPr b="1" dirty="0"/>
              <a:t>Starting values</a:t>
            </a:r>
            <a:r>
              <a:rPr dirty="0"/>
              <a:t> far from the posterior: need a longer burn-in; use several chains from dispersed starting values.</a:t>
            </a:r>
          </a:p>
          <a:p>
            <a:pPr lvl="0"/>
            <a:r>
              <a:rPr b="1" dirty="0"/>
              <a:t>Strong posterior correlation</a:t>
            </a:r>
            <a:r>
              <a:rPr dirty="0"/>
              <a:t> between parameters, e.g. intercept and slope when a covariate is not </a:t>
            </a:r>
            <a:r>
              <a:rPr dirty="0" err="1"/>
              <a:t>centred</a:t>
            </a:r>
            <a:r>
              <a:rPr dirty="0"/>
              <a:t>: one-at-a-time samplers mix slowly.</a:t>
            </a:r>
          </a:p>
          <a:p>
            <a:pPr lvl="0"/>
            <a:r>
              <a:rPr b="1" dirty="0"/>
              <a:t>Multimodality</a:t>
            </a:r>
            <a:r>
              <a:rPr dirty="0"/>
              <a:t>: a chain can get stuck in one mode; different chains may find different modes.</a:t>
            </a:r>
            <a:r>
              <a:rPr lang="en-GB" dirty="0"/>
              <a:t> </a:t>
            </a:r>
            <a:endParaRPr dirty="0"/>
          </a:p>
          <a:p>
            <a:pPr lvl="0"/>
            <a:r>
              <a:rPr b="1" dirty="0"/>
              <a:t>Weakly identified parameters</a:t>
            </a:r>
            <a:r>
              <a:rPr dirty="0"/>
              <a:t> (vague priors + little data): the chain drifts over huge ranges.</a:t>
            </a:r>
          </a:p>
          <a:p>
            <a:pPr lvl="0"/>
            <a:r>
              <a:rPr b="1" dirty="0"/>
              <a:t>“Funnels”</a:t>
            </a:r>
            <a:r>
              <a:rPr dirty="0"/>
              <a:t> in hierarchical models (Lecture 5): the scale of some parameters depends strongly on another parameter.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[end of STA623 Bayesian Data analysis Session 3]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43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3390</Words>
  <Application>Microsoft Macintosh PowerPoint</Application>
  <PresentationFormat>Widescreen</PresentationFormat>
  <Paragraphs>201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</vt:lpstr>
      <vt:lpstr>Office Theme</vt:lpstr>
      <vt:lpstr>STA623 Bayesian Data Analysis</vt:lpstr>
      <vt:lpstr>Preliminaries</vt:lpstr>
      <vt:lpstr>Code notes</vt:lpstr>
      <vt:lpstr>License</vt:lpstr>
      <vt:lpstr>Morning Quiz</vt:lpstr>
      <vt:lpstr>Monte Carlo</vt:lpstr>
      <vt:lpstr>Monte Carlo integration</vt:lpstr>
      <vt:lpstr>Monte Carlo integration</vt:lpstr>
      <vt:lpstr>Monte Carlo SE</vt:lpstr>
      <vt:lpstr>Example: comparing two groups</vt:lpstr>
      <vt:lpstr>Example: comparing two groups</vt:lpstr>
      <vt:lpstr>Example: comparing two groups</vt:lpstr>
      <vt:lpstr>Example: comparing two groups</vt:lpstr>
      <vt:lpstr>Example: comparing two groups</vt:lpstr>
      <vt:lpstr>Markov Ccain Monte Carlo (MCMC)</vt:lpstr>
      <vt:lpstr>Why we need MCMC</vt:lpstr>
      <vt:lpstr>Why we need MCMC</vt:lpstr>
      <vt:lpstr>A non-conjugate example</vt:lpstr>
      <vt:lpstr>A non-conjugate example</vt:lpstr>
      <vt:lpstr>A non-conjugate example</vt:lpstr>
      <vt:lpstr>The Metropolis algorithm</vt:lpstr>
      <vt:lpstr>The Metropolis algorithm</vt:lpstr>
      <vt:lpstr>The Metropolis algorithm</vt:lpstr>
      <vt:lpstr>The Metropolis algorithm</vt:lpstr>
      <vt:lpstr>The Metropolis algorithm</vt:lpstr>
      <vt:lpstr>The Metropolis algorithm</vt:lpstr>
      <vt:lpstr>PowerPoint Presentation</vt:lpstr>
      <vt:lpstr>Tuning the step size</vt:lpstr>
      <vt:lpstr>Tuning the step size</vt:lpstr>
      <vt:lpstr>Tuning the step size</vt:lpstr>
      <vt:lpstr>Metropolis-Hastings</vt:lpstr>
      <vt:lpstr>The Gibbs sampler</vt:lpstr>
      <vt:lpstr>The Gibbs sampler</vt:lpstr>
      <vt:lpstr>Example: haemoglobin with unknown mean and variance</vt:lpstr>
      <vt:lpstr>Example: haemoglobin with unknown mean and variance</vt:lpstr>
      <vt:lpstr>Example: haemoglobin with unknown mean and variance</vt:lpstr>
      <vt:lpstr>Example: haemoglobin with unknown mean and variance</vt:lpstr>
      <vt:lpstr>PowerPoint Presentation</vt:lpstr>
      <vt:lpstr>Example: haemoglobin with unknown mean and variance</vt:lpstr>
      <vt:lpstr>Beyond Metropolis and Gibbs</vt:lpstr>
      <vt:lpstr>Beyond Metropolis and Gibbs</vt:lpstr>
      <vt:lpstr>When MCMC struggles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STA623 Bayesian Data Analysis</dc:title>
  <dc:creator>Marc Henrion</dc:creator>
  <cp:keywords/>
  <cp:lastModifiedBy>Marc Henrion</cp:lastModifiedBy>
  <cp:revision>1</cp:revision>
  <dcterms:created xsi:type="dcterms:W3CDTF">2026-09-29T16:43:12Z</dcterms:created>
  <dcterms:modified xsi:type="dcterms:W3CDTF">2026-09-29T16:44:35Z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2026-09-30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Session 3: Monte Carlo and Markov chain Monte Carlo</vt:lpwstr>
  </property>
  <property fmtid="{D5CDD505-2E9C-101B-9397-08002B2CF9AE}" pid="12" name="toc-title">
    <vt:lpwstr>Table of contents</vt:lpwstr>
  </property>
</Properties>
</file>