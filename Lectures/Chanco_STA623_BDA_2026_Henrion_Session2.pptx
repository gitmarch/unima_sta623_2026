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7006"/>
    <p:restoredTop sz="94660"/>
  </p:normalViewPr>
  <p:slideViewPr>
    <p:cSldViewPr snapToGrid="0">
      <p:cViewPr varScale="1">
        <p:scale>
          <a:sx d="100" n="102"/>
          <a:sy d="100" n="102"/>
        </p:scale>
        <p:origin x="126" y="3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notesViewPr>
    <p:cSldViewPr snapToGrid="0">
      <p:cViewPr varScale="1">
        <p:scale>
          <a:sx d="100" n="87"/>
          <a:sy d="100" n="87"/>
        </p:scale>
        <p:origin x="3840" y="9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02/07/2019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e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20" y="365125"/>
            <a:ext cx="10333113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78603"/>
            <a:ext cx="12192001" cy="2280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38963" lIns="77925" rIns="77925" tIns="38963" wrap="none"/>
          <a:lstStyle/>
          <a:p>
            <a:endParaRPr lang="en-US">
              <a:latin charset="0" pitchFamily="34" typeface="Calibri"/>
            </a:endParaRPr>
          </a:p>
        </p:txBody>
      </p:sp>
      <p:pic>
        <p:nvPicPr>
          <p:cNvPr descr="CoM new.jpg" id="8" name="Picture 7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cstate="email"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88" y="365126"/>
            <a:ext cx="750719" cy="89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gitMarcH/UNIMA_STA623_2026" TargetMode="External" /><Relationship Id="rId3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STA623 Bayesian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4026500"/>
            <a:ext cx="9144000" cy="1231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2: Priors, conjugate models, posterior summaries &amp; prediction</a:t>
            </a:r>
            <a:br/>
            <a:br/>
            <a:r>
              <a:rPr/>
              <a:t>Marc Henrion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2026-09-29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Preliminaries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notes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These notes have been prepared using </a:t>
            </a:r>
            <a:r>
              <a:rPr>
                <a:latin typeface="Courier"/>
              </a:rPr>
              <a:t>quarto</a:t>
            </a:r>
            <a:r>
              <a:rPr/>
              <a:t> - qmd shared on GitHub.</a:t>
            </a:r>
          </a:p>
          <a:p>
            <a:pPr lvl="0"/>
            <a:r>
              <a:rPr/>
              <a:t>All code is </a:t>
            </a:r>
            <a:r>
              <a:rPr>
                <a:latin typeface="Courier"/>
              </a:rPr>
              <a:t>R</a:t>
            </a:r>
            <a:r>
              <a:rPr/>
              <a:t>; Bayesian models are specified in </a:t>
            </a:r>
            <a:r>
              <a:rPr>
                <a:latin typeface="Courier"/>
              </a:rPr>
              <a:t>NIMBLE</a:t>
            </a:r>
            <a:r>
              <a:rPr/>
              <a:t> (a dialect of </a:t>
            </a:r>
            <a:r>
              <a:rPr>
                <a:latin typeface="Courier"/>
              </a:rPr>
              <a:t>BUGS</a:t>
            </a:r>
            <a:r>
              <a:rPr/>
              <a:t>).</a:t>
            </a:r>
          </a:p>
          <a:p>
            <a:pPr lvl="0"/>
            <a:r>
              <a:rPr>
                <a:latin typeface="Courier"/>
              </a:rPr>
              <a:t>R</a:t>
            </a:r>
            <a:r>
              <a:rPr/>
              <a:t> packages used: </a:t>
            </a:r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gridExtra</a:t>
            </a:r>
            <a:r>
              <a:rPr/>
              <a:t>, </a:t>
            </a:r>
            <a:r>
              <a:rPr>
                <a:latin typeface="Courier"/>
              </a:rPr>
              <a:t>HDInterval</a:t>
            </a:r>
            <a:r>
              <a:rPr/>
              <a:t>, </a:t>
            </a:r>
            <a:r>
              <a:rPr>
                <a:latin typeface="Courier"/>
              </a:rPr>
              <a:t>nimble</a:t>
            </a:r>
            <a:r>
              <a:rPr/>
              <a:t>, </a:t>
            </a:r>
            <a:r>
              <a:rPr>
                <a:latin typeface="Courier"/>
              </a:rPr>
              <a:t>coda</a:t>
            </a:r>
            <a:r>
              <a:rPr/>
              <a:t>, </a:t>
            </a:r>
            <a:r>
              <a:rPr>
                <a:latin typeface="Courier"/>
              </a:rPr>
              <a:t>posterior</a:t>
            </a:r>
            <a:r>
              <a:rPr/>
              <a:t>, </a:t>
            </a:r>
            <a:r>
              <a:rPr>
                <a:latin typeface="Courier"/>
              </a:rPr>
              <a:t>loo</a:t>
            </a:r>
            <a:r>
              <a:rPr/>
              <a:t> (plus </a:t>
            </a:r>
            <a:r>
              <a:rPr>
                <a:latin typeface="Courier"/>
              </a:rPr>
              <a:t>MCMCvis</a:t>
            </a:r>
            <a:r>
              <a:rPr/>
              <a:t> optionally). Install them all before the first practical: </a:t>
            </a:r>
            <a:r>
              <a:rPr>
                <a:latin typeface="Courier"/>
              </a:rPr>
              <a:t>NIMBLE</a:t>
            </a:r>
            <a:r>
              <a:rPr/>
              <a:t> needs a working C++ compiler (Rtools on Windows, Xcode command line tools on macOS).</a:t>
            </a:r>
          </a:p>
          <a:p>
            <a:pPr lvl="0"/>
            <a:r>
              <a:rPr/>
              <a:t>Course materials: </a:t>
            </a:r>
            <a:r>
              <a:rPr>
                <a:hlinkClick r:id="rId2"/>
              </a:rPr>
              <a:t>https://github.com/gitMarcH/UNIMA_STA623_2026</a:t>
            </a:r>
          </a:p>
        </p:txBody>
      </p:sp>
      <p:pic>
        <p:nvPicPr>
          <p:cNvPr descr="images/QR_GitHubRep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42000" y="977900"/>
            <a:ext cx="4864100" cy="486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License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quarto code is subject to an MIT license (Marc Henrion).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compiled html is subject to a CC BY 4.0 license (Marc Henrion).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Morning Quiz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Conjugate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Conjugate priors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exact, as opposed to computational derivation, we can choose a family of prior distribution for mathematical simplicity.</a:t>
                </a:r>
              </a:p>
              <a:p>
                <a:pPr lvl="0" indent="0" marL="0">
                  <a:buNone/>
                </a:pPr>
                <a:r>
                  <a:rPr/>
                  <a:t>We saw in Lecture 2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beta prior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binomial sampling model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beta posterior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 in Exercise 5 of Practical 1, it is shown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gamma prior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Poisson sampling model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gamma posterior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called </a:t>
                </a:r>
                <a:r>
                  <a:rPr i="1"/>
                  <a:t>conjugacy</a:t>
                </a:r>
                <a:r>
                  <a:rPr/>
                  <a:t>: the beta distribution is the </a:t>
                </a:r>
                <a:r>
                  <a:rPr i="1"/>
                  <a:t>conjugate distribution</a:t>
                </a:r>
                <a:r>
                  <a:rPr/>
                  <a:t> for a binomial sample model.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Conjugate priors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Formally we can define: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 class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P</m:t>
                    </m:r>
                  </m:oMath>
                </a14:m>
                <a:r>
                  <a:rPr/>
                  <a:t> of prior probability distributions is called </a:t>
                </a:r>
                <a:r>
                  <a:rPr b="1"/>
                  <a:t>conjugate</a:t>
                </a:r>
                <a:r>
                  <a:rPr/>
                  <a:t> for a sampling model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|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cr m:val="script"/>
                          <m:sty m:val="p"/>
                        </m:rPr>
                        <m:t>P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cr m:val="script"/>
                          <m:sty m:val="p"/>
                        </m:rPr>
                        <m:t>P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catalogue of conjugate models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Sampling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Conjugate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Posterior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 ~ Bin(n, 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π ~ Beta(a, 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Beta(a + k, b + n − 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Yᵢ ~ Pois(λ)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λ ~ Gamma(a, 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Gamma(a + Σyᵢ, b + 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Yᵢ ~ Exp(λ)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λ ~ Gamma(a, 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Gamma(a + n, b + Σyᵢ)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Yᵢ ~ N(μ, σ²), σ² known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μ ~ N(μ₀, τ₀²)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N(μₙ, τₙ²)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 ~ Multinom(n, 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 ~ Dirichlet(α)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Dirichlet(α + y)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normal mean, variance known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sSubSup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n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sSubSup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</m:num>
                        <m:den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τ</m:t>
                          </m:r>
                        </m:e>
                        <m:sub>
                          <m:r>
                            <m:t>n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μ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Sup>
                                <m:e>
                                  <m:r>
                                    <m:t>τ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n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</m:num>
                            <m:den>
                              <m:sSup>
                                <m:e>
                                  <m:r>
                                    <m:t>σ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/>
                <a:r>
                  <a:rPr/>
                  <a:t>Posterior precision = prior precision + data precision</a:t>
                </a:r>
              </a:p>
              <a:p>
                <a:pPr lvl="0"/>
                <a:r>
                  <a:rPr/>
                  <a:t>Posterior mean = precision-weighted average of prior mean and sample mean</a:t>
                </a:r>
              </a:p>
              <a:p>
                <a:pPr lvl="0"/>
                <a:r>
                  <a:rPr/>
                  <a:t>The same “weights proportional to information” pattern appears in every conjugate model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Gamma prior, Poisson sampling model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Recall that if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Pois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t>λ</m:t>
                                        </m:r>
                                      </m:e>
                                      <m:sup>
                                        <m:r>
                                          <m:t>k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λ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!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t> 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if </m:t>
                                </m:r>
                                <m: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and 0 otherwise</m:t>
                                </m:r>
                              </m:e>
                            </m:mr>
                            <m:mr>
                              <m:e>
                                <m: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[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]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λ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m:t>V</m:t>
                                </m:r>
                                <m:r>
                                  <m:t>a</m:t>
                                </m:r>
                                <m: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λ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∼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iid</m:t>
                        </m:r>
                      </m:sub>
                    </m:sSub>
                    <m:r>
                      <m:rPr>
                        <m:nor/>
                        <m:sty m:val="p"/>
                      </m:rPr>
                      <m:t>Pois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</m:oMath>
                </a14:m>
                <a:r>
                  <a:rPr/>
                  <a:t> and we observe data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 joint pdf of the data is given by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|</m:t>
                            </m:r>
                            <m:r>
                              <m:t>λ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</m:e>
                          <m:e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r>
                                  <m:t>p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|</m:t>
                            </m:r>
                            <m:r>
                              <m:t>λ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</m:e>
                          <m:e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1</m:t>
                                    </m:r>
                                  </m:num>
                                  <m:den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!</m:t>
                                    </m:r>
                                  </m:den>
                                </m:f>
                              </m:e>
                            </m:nary>
                            <m:sSup>
                              <m:e>
                                <m:r>
                                  <m:t>λ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sup>
                            </m:sSup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λ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</m:e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∏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m:t>!</m:t>
                                </m:r>
                              </m:den>
                            </m:f>
                            <m:sSup>
                              <m:e>
                                <m:r>
                                  <m:t>λ</m:t>
                                </m:r>
                              </m:e>
                              <m:sup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</m:sup>
                            </m:sSup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n</m:t>
                                </m:r>
                                <m:r>
                                  <m:t>λ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</m:naryPr>
                          <m:sub>
                            <m:r>
                              <m:t>i</m:t>
                            </m:r>
                          </m:sub>
                          <m:sup>
                            <m: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m:t>!</m:t>
                        </m:r>
                      </m:den>
                    </m:f>
                  </m:oMath>
                </a14:m>
                <a:r>
                  <a:rPr/>
                  <a:t> is constant for each dataset. So if we compare densities for different values of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, this factor will cancel out. All information about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is therefore contained 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 is a </a:t>
                </a:r>
                <a:r>
                  <a:rPr i="1"/>
                  <a:t>sufficient statistic</a:t>
                </a:r>
                <a:r>
                  <a:rPr/>
                  <a:t> for the parameter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in the Poisson sampling model.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Posterior density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If we assume a prior distribution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then the posterior density for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given the data is given by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∝</m:t>
                                </m:r>
                              </m:e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t> 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m:t>∝</m:t>
                                </m:r>
                              </m:e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t> </m:t>
                                </m:r>
                                <m:sSup>
                                  <m:e>
                                    <m:r>
                                      <m:t>λ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∑</m:t>
                                    </m:r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n</m:t>
                                    </m:r>
                                    <m:r>
                                      <m:t>λ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If we want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to be conjugate for the Poisson sampling model, i.e. we want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|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to be in the same family of distributions as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then the above implies that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needs to include terms of the form </a:t>
                </a:r>
                <a14:m>
                  <m:oMath xmlns:m="http://schemas.openxmlformats.org/officeDocument/2006/math">
                    <m:sSup>
                      <m:e>
                        <m:r>
                          <m:t>λ</m:t>
                        </m:r>
                      </m:e>
                      <m:sup>
                        <m:sSub>
                          <m:e>
                            <m:r>
                              <m:t>c</m:t>
                            </m:r>
                          </m:e>
                          <m:sub>
                            <m:r>
                              <m:t>1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c</m:t>
                            </m:r>
                          </m:e>
                          <m:sub>
                            <m:r>
                              <m:t>2</m:t>
                            </m:r>
                          </m:sub>
                        </m:sSub>
                        <m:r>
                          <m:t>λ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simplest class of such distributions is the family of gamma distributions (these include only such terms).</a:t>
                </a:r>
              </a:p>
              <a:p>
                <a:pPr lvl="0" indent="0" marL="0">
                  <a:buNone/>
                </a:pPr>
                <a:r>
                  <a:rPr/>
                  <a:t>Recall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Λ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sty m:val="p"/>
                      </m:rPr>
                      <m:t>Γ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with parameters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sSup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p>
                                        <m:r>
                                          <m:t>a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Γ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t>λ</m:t>
                                    </m:r>
                                  </m:e>
                                  <m:sup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b</m:t>
                                    </m:r>
                                    <m:r>
                                      <m:t>λ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 if 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&gt;</m:t>
                                </m:r>
                                <m: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 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Γ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m:t>∞</m:t>
                        </m:r>
                      </m:sup>
                      <m:e>
                        <m:sSup>
                          <m:e>
                            <m:r>
                              <m:t>z</m:t>
                            </m:r>
                          </m:e>
                          <m:sup>
                            <m:r>
                              <m:t>α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z</m:t>
                        </m:r>
                      </m:sup>
                    </m:sSup>
                    <m:r>
                      <m:t>d</m:t>
                    </m:r>
                    <m:r>
                      <m:t>z</m:t>
                    </m:r>
                  </m:oMath>
                </a14:m>
                <a:r>
                  <a:rPr/>
                  <a:t> is the gamma function.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Λ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 </m:t>
                      </m:r>
                      <m:r>
                        <m:t>V</m:t>
                      </m:r>
                      <m:r>
                        <m:t>a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Λ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</m:num>
                        <m:den>
                          <m:sSup>
                            <m:e>
                              <m:r>
                                <m:t>b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 </m:t>
                      </m:r>
                      <m:r>
                        <m:rPr>
                          <m:nor/>
                          <m:sty m:val="p"/>
                        </m:rPr>
                        <m:t>mode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Λ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r>
                        <m:t> </m:t>
                      </m:r>
                      <m:r>
                        <m:rPr>
                          <m:nor/>
                          <m:sty m:val="p"/>
                        </m:rPr>
                        <m:t> if 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&gt;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 </m:t>
                      </m:r>
                      <m:r>
                        <m:t>0</m:t>
                      </m:r>
                      <m:r>
                        <m:rPr>
                          <m:nor/>
                          <m:sty m:val="p"/>
                        </m:rPr>
                        <m:t> otherwise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m:t>∼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  <m:sty m:val="p"/>
                                      </m:rPr>
                                      <m:t>iid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  <m:sty m:val="p"/>
                                  </m:rPr>
                                  <m:t>Pois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t> 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(sampling model)</m:t>
                                </m:r>
                              </m:e>
                            </m:mr>
                            <m:mr>
                              <m:e/>
                              <m:e/>
                            </m:mr>
                            <m:mr>
                              <m:e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m:t>Γ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(prior distribution)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λ</m:t>
                            </m:r>
                            <m:r>
                              <m:rPr>
                                <m:sty m:val="p"/>
                              </m:rPr>
                              <m:t>|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m:t>∝</m:t>
                            </m:r>
                          </m:e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λ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t> 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∝</m:t>
                            </m:r>
                          </m: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λ</m:t>
                                    </m:r>
                                  </m:e>
                                  <m:sup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1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b</m:t>
                                    </m:r>
                                    <m:r>
                                      <m:t>λ</m:t>
                                    </m:r>
                                  </m:sup>
                                </m:sSup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λ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∑</m:t>
                                    </m:r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n</m:t>
                                    </m:r>
                                    <m:r>
                                      <m:t>λ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∝</m:t>
                            </m:r>
                          </m:e>
                          <m:e>
                            <m:sSup>
                              <m:e>
                                <m:r>
                                  <m:t>λ</m:t>
                                </m:r>
                              </m:e>
                              <m:sup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m:t>∑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t>λ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Γ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distribution.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So we see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prior </m:t>
                                </m:r>
                                <m:r>
                                  <m:t> 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Γ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likelihood </m:t>
                                </m:r>
                                <m:r>
                                  <m:t> 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y</m:t>
                                    </m:r>
                                  </m:e>
                                  <m:sub>
                                    <m: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Pois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λ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⇒</m:t>
                      </m:r>
                      <m:r>
                        <m:rPr>
                          <m:nor/>
                          <m:sty m:val="p"/>
                        </m:rPr>
                        <m:t>posterior </m:t>
                      </m:r>
                      <m:r>
                        <m:t> 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Γ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,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What would be a real-world research / public health setting where we could encounter this?</a:t>
                </a:r>
              </a:p>
              <a:p>
                <a:pPr lvl="0" indent="0" marL="0">
                  <a:buNone/>
                </a:pPr>
                <a:r>
                  <a:rPr/>
                  <a:t>It turns out we could use this to model the number of malaria episodes in a rainy season in a village in Malawi.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/>
                <a:r>
                  <a:rPr/>
                  <a:t>Episodes in one rainy season for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</m:t>
                    </m:r>
                  </m:oMath>
                </a14:m>
                <a:r>
                  <a:rPr/>
                  <a:t> children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∑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  <a:r>
                  <a:rPr/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2.22</m:t>
                    </m:r>
                  </m:oMath>
                </a14:m>
              </a:p>
              <a:p>
                <a:pPr lvl="0"/>
                <a:r>
                  <a:rPr/>
                  <a:t>Model: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Pois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independently</a:t>
                </a:r>
              </a:p>
              <a:p>
                <a:pPr lvl="0"/>
                <a:r>
                  <a:rPr/>
                  <a:t>Prior: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(cont’d)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i"/>
                        </m:rP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∝</m:t>
                      </m:r>
                      <m:sSup>
                        <m:e>
                          <m:r>
                            <m:t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∑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sup>
                      </m:sSup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n</m:t>
                          </m:r>
                          <m:r>
                            <m:t>λ</m:t>
                          </m:r>
                        </m:sup>
                      </m:sSup>
                      <m:r>
                        <m:rPr>
                          <m:sty m:val="p"/>
                        </m:rPr>
                        <m:t>⋅</m:t>
                      </m:r>
                      <m:sSup>
                        <m:e>
                          <m:r>
                            <m:t>λ</m:t>
                          </m:r>
                        </m:e>
                        <m:sup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b</m:t>
                          </m:r>
                          <m:r>
                            <m:t>λ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λ</m:t>
                          </m:r>
                        </m:e>
                        <m:sup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sty m:val="p"/>
                            </m:rPr>
                            <m:t>∑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λ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∑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 </m:t>
                    </m:r>
                    <m:r>
                      <m:t>b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a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prior, the posterior is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a prior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a prior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 is no single “correct” prior. There are, however, good and bad ways of choosing one, and the choice should always be </a:t>
                </a:r>
                <a:r>
                  <a:rPr b="1"/>
                  <a:t>stated, justified and checked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prior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Informative priors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Encode substantive knowledge: a previous study, a meta-analysis, a biological constraint, expert opinion.</a:t>
                </a:r>
              </a:p>
              <a:p>
                <a:pPr lvl="0" indent="0" marL="0">
                  <a:buNone/>
                </a:pPr>
                <a:r>
                  <a:rPr/>
                  <a:t>A convenient way to build one: choose a prior mean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and an equivalent prior sample size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, then for your choice of parametric distribution, select parameters so that the prior distribution has mean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and an information content equivalent to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E.g. for a proportion use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Beta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 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r>
                      <m:rPr>
                        <m:sty m:val="p"/>
                      </m:rPr>
                      <m:t>)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Opinions from several experts can be pooled as a mixture of their priors.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prior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Weakly informative priors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Rule out implausible values without imposing a specific guess, e.g. a log-odds ratio of 10 (odds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22,000) is not plausible for most exposures, so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sSup>
                      <m:e>
                        <m:r>
                          <m:t>1.5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on a log-odds ratio is a sensible default.</a:t>
                </a:r>
              </a:p>
              <a:p>
                <a:pPr lvl="0" indent="0" marL="0">
                  <a:buNone/>
                </a:pPr>
                <a:r>
                  <a:rPr/>
                  <a:t>That is a good default for most regression parameters.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Types of prior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Vague / “non-informative” / reference priors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Try to let the data speak. Examples are uniform priors and </a:t>
                </a:r>
                <a:r>
                  <a:rPr b="1"/>
                  <a:t>Jeffreys priors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∝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I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θ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e>
                    </m:rad>
                  </m:oMath>
                </a14:m>
                <a:r>
                  <a:rPr/>
                  <a:t>, where </a:t>
                </a:r>
                <a14:m>
                  <m:oMath xmlns:m="http://schemas.openxmlformats.org/officeDocument/2006/math">
                    <m:r>
                      <m:t>I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the Fisher information (Appendix B.3). Jeffreys priors are invariant to reparameterisation; for the binomial the Jeffreys prior is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Beta</m:t>
                    </m:r>
                    <m:r>
                      <m:rPr>
                        <m:sty m:val="p"/>
                      </m:rPr>
                      <m:t>(</m:t>
                    </m:r>
                    <m:f>
                      <m:fPr>
                        <m:type m:val="lin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,</m:t>
                    </m:r>
                    <m:f>
                      <m:fPr>
                        <m:type m:val="lin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for the Poisson it is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∝</m:t>
                    </m:r>
                    <m:sSup>
                      <m:e>
                        <m:r>
                          <m:t>λ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which is </a:t>
                </a:r>
                <a:r>
                  <a:rPr b="1"/>
                  <a:t>improper</a:t>
                </a:r>
                <a:r>
                  <a:rPr/>
                  <a:t> (does not integrate to 1). Improper priors can be used only if the resulting posterior is proper, which must be checked.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‘Flat’ priors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 prior that is flat on one scale is not flat on another. A uniform prior on a prevalence </a:t>
                </a:r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  <a:r>
                  <a:rPr/>
                  <a:t> implies a far-from-flat prior on the log-odds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logit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Conversely, the very common “vague” prior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sSup>
                      <m:e>
                        <m:r>
                          <m:t>100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on a log-odds puts about 90% of its mass on prevalences below 0.001% or above 99.999%: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lesson: </a:t>
                </a:r>
                <a:r>
                  <a:rPr b="1"/>
                  <a:t>think about priors on the scale of quantities you understand</a:t>
                </a:r>
                <a:r>
                  <a:rPr/>
                  <a:t>, which is almost always the scale of the data, not the scale of the parameter.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‘Flat’ priors</a:t>
            </a:r>
          </a:p>
        </p:txBody>
      </p:sp>
      <p:pic>
        <p:nvPicPr>
          <p:cNvPr descr="Chanco_STA623_BDA_2026_Henrion_Session2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997200"/>
            <a:ext cx="10515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predictive checks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practical way to do this is to simulate data from the prior, before looking at the real data: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∼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m:t>y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∼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y</m:t>
                      </m:r>
                      <m:r>
                        <m:rPr>
                          <m:sty m:val="p"/>
                        </m:rPr>
                        <m:t>∣</m:t>
                      </m:r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rPr>
                                <m:sty m:val="bi"/>
                              </m:rPr>
                              <m:t>y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  <a:r>
                  <a:rPr/>
                  <a:t> are draws from the </a:t>
                </a:r>
                <a:r>
                  <a:rPr b="1"/>
                  <a:t>prior predictive distribution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acc>
                      <m:accPr>
                        <m:chr m:val="̃"/>
                      </m:accPr>
                      <m:e>
                        <m:r>
                          <m:rPr>
                            <m:sty m:val="bi"/>
                          </m:rP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acc>
                      <m:accPr>
                        <m:chr m:val="̃"/>
                      </m:accPr>
                      <m:e>
                        <m:r>
                          <m:rPr>
                            <m:sty m:val="bi"/>
                          </m:rP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∣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θ</m:t>
                    </m:r>
                  </m:oMath>
                </a14:m>
                <a:r>
                  <a:rPr/>
                  <a:t>. If simulated datasets look absurd (children with 40 malaria episodes per season), the prior is too vague or wrong.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predictive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prior             `P(y &gt; 15)` `P(y = 0)` `99.9% quantile`
  &lt;chr&gt;                   &lt;dbl&gt;      &lt;dbl&gt;            &lt;dbl&gt;
1 Gamma(0.01, 0.01)      0.0118      0.958             139.
2 Gamma(5, 2)            0.0004      0.126              11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predictive checks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supposedly “vague”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0.01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0.01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prior (common in older </a:t>
                </a:r>
                <a:r>
                  <a:rPr>
                    <a:latin typeface="Courier"/>
                  </a:rPr>
                  <a:t>BUGS</a:t>
                </a:r>
                <a:r>
                  <a:rPr/>
                  <a:t> examples) predicts that about 95% of children have zero episodes </a:t>
                </a:r>
                <a:r>
                  <a:rPr i="1"/>
                  <a:t>and</a:t>
                </a:r>
                <a:r>
                  <a:rPr/>
                  <a:t> that 1 child in 1000 has well over 100 episodes in one season;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Gamma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generates more plausible data.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sensitivity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When in doubt, fit the model under several reasonable priors and report whether conclusions change. For the prevalence example of Lecture 1 (n=30, k=9), we can consider, for example, four different priors: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/>
                <a:r>
                  <a:rPr/>
                  <a:t>Uniform - Beta (1,1)</a:t>
                </a:r>
              </a:p>
              <a:p>
                <a:pPr lvl="0"/>
                <a:r>
                  <a:rPr/>
                  <a:t>Jeffrey’s prior - Beta(0.5,0.5)</a:t>
                </a:r>
              </a:p>
              <a:p>
                <a:pPr lvl="0"/>
                <a:r>
                  <a:rPr/>
                  <a:t>Weakly informative - Beta(2,5)</a:t>
                </a:r>
              </a:p>
              <a:p>
                <a:pPr lvl="0"/>
                <a:r>
                  <a:rPr/>
                  <a:t>Strong, sceptical prior - Beta (10,40)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As it turns out (next slide), the first three priors give almost identical conclusions; the strong prior (worth 50 children, centred on 20%) pulls the estimate down noticeably. That is not wrong, but it must be reported and justified.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 sensitivity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711200"/>
                <a:gridCol w="711200"/>
                <a:gridCol w="1422400"/>
                <a:gridCol w="850900"/>
                <a:gridCol w="8509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post_mean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upper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P(pi &gt; 0.2)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Uniform Beta(1,1)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Jeffreys Beta(0.5,0.5)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Weakly informative Beta(2,5)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Strong, sceptical Beta(10,40)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0.780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Summarising the posterior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Summarising the posterior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posterior </a:t>
                </a:r>
                <a:r>
                  <a:rPr i="1"/>
                  <a:t>is</a:t>
                </a:r>
                <a:r>
                  <a:rPr/>
                  <a:t> the answer. For communication we summarise it: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/>
                <a:r>
                  <a:rPr/>
                  <a:t>Point estimates</a:t>
                </a:r>
              </a:p>
              <a:p>
                <a:pPr lvl="0"/>
                <a:r>
                  <a:rPr/>
                  <a:t>Credible / Bayesian confidence intervals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estimates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point estimate can be justified as the value minimising the </a:t>
                </a:r>
                <a:r>
                  <a:rPr b="1"/>
                  <a:t>posterior expected loss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∫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,</m:t>
                    </m:r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y</m:t>
                    </m:r>
                    <m:r>
                      <m:rPr>
                        <m:sty m:val="p"/>
                      </m:rPr>
                      <m:t>)</m:t>
                    </m:r>
                    <m:r>
                      <m:t> </m:t>
                    </m:r>
                    <m:r>
                      <m:t>d</m:t>
                    </m:r>
                    <m:r>
                      <m:t>θ</m:t>
                    </m:r>
                  </m:oMath>
                </a14:m>
                <a:r>
                  <a:rPr/>
                  <a:t> (details in Appendix C).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Note that for skewed posteriors (variances, rates, odds ratios) the median is usually the most sensible single number.</a:t>
                </a:r>
              </a:p>
              <a:p>
                <a:pPr lvl="0" indent="0" marL="0">
                  <a:buNone/>
                </a:pPr>
                <a:r>
                  <a:rPr/>
                  <a:t>The maximum a posteriori density estimate (MAP) depends on the parameterisation and is not recommended as a default.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estimates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6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Loss L(θ, θ̂)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Optimal estimate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Squared error: (θ − θ̂)²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Posterior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Absolute error: |θ − θ̂|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Posterior median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0-1 loss: 1 if |θ − θ̂| ≥ ε, else 0 (with ε → 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Posterior mode (MAP)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Credible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</a:t>
                </a:r>
                <a14:m>
                  <m:oMath xmlns:m="http://schemas.openxmlformats.org/officeDocument/2006/math">
                    <m:r>
                      <m:t>100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</a:t>
                </a:r>
                <a:r>
                  <a:rPr b="1"/>
                  <a:t>credible interval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l</m:t>
                    </m:r>
                    <m:r>
                      <m:rPr>
                        <m:sty m:val="p"/>
                      </m:rPr>
                      <m:t>,</m:t>
                    </m:r>
                    <m:r>
                      <m:t>u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satisfies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α</m:t>
                    </m:r>
                  </m:oMath>
                </a14:m>
                <a:r>
                  <a:rPr/>
                  <a:t>. Two common choices: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/>
                <a:r>
                  <a:rPr b="1"/>
                  <a:t>Equal-tailed (quantile-based)</a:t>
                </a:r>
                <a:r>
                  <a:rPr/>
                  <a:t> interval: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/>
                  <a:t> posterior probability in each tail. Invariant to monotone transformations (the interval for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θ</m:t>
                        </m:r>
                      </m:sup>
                    </m:sSup>
                  </m:oMath>
                </a14:m>
                <a:r>
                  <a:rPr/>
                  <a:t> is the exponential of the interval for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Highest posterior density (HPD)</a:t>
                </a:r>
                <a:r>
                  <a:rPr/>
                  <a:t> interval: the narrowest region with the required probability; every point inside has higher density than every point outside. May be a union of intervals for multimodal posteriors. Not transformation-invariant.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Credible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post_a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(y); post_b &lt;-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(y)   </a:t>
            </a:r>
            <a:r>
              <a:rPr>
                <a:solidFill>
                  <a:srgbClr val="5E5E5E"/>
                </a:solidFill>
                <a:latin typeface="Courier"/>
              </a:rPr>
              <a:t># Gamma(45, 20) posterior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rbind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equal_tailed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qgamma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0.025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0.975</a:t>
            </a:r>
            <a:r>
              <a:rPr>
                <a:solidFill>
                  <a:srgbClr val="003B4F"/>
                </a:solidFill>
                <a:latin typeface="Courier"/>
              </a:rPr>
              <a:t>), post_a, post_b),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HPD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hdi</a:t>
            </a:r>
            <a:r>
              <a:rPr>
                <a:solidFill>
                  <a:srgbClr val="003B4F"/>
                </a:solidFill>
                <a:latin typeface="Courier"/>
              </a:rPr>
              <a:t>(qgamma, 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shape =</a:t>
            </a:r>
            <a:r>
              <a:rPr>
                <a:solidFill>
                  <a:srgbClr val="003B4F"/>
                </a:solidFill>
                <a:latin typeface="Courier"/>
              </a:rPr>
              <a:t> post_a, </a:t>
            </a:r>
            <a:r>
              <a:rPr>
                <a:solidFill>
                  <a:srgbClr val="657422"/>
                </a:solidFill>
                <a:latin typeface="Courier"/>
              </a:rPr>
              <a:t>rate =</a:t>
            </a:r>
            <a:r>
              <a:rPr>
                <a:solidFill>
                  <a:srgbClr val="003B4F"/>
                </a:solidFill>
                <a:latin typeface="Courier"/>
              </a:rPr>
              <a:t> post_b))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lower    upper
equal_tailed 1.641165 2.953397
HPD          1.611342 2.917067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Credible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i="1"/>
                  <a:t>Given the model, prior and data, there is a 95% probability that the mean number of episodes per child lies in this interval.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the statement people often (wrongly) attach to a frequentist confidence interval. Under a vague prior, the two intervals are frequently numerically close; their interpretations are not the same.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Posterior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Often more useful than any interval: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OR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risk difference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5</m:t>
                    </m:r>
                    <m:r>
                      <m:rPr>
                        <m:sty m:val="p"/>
                      </m:rPr>
                      <m:t>%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These answer the questions decision-makers actually ask.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P(lambda &gt; 3 | y) P(lambda &lt; 2 | y) 
        0.0189731         0.2343151 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two hypotheses or models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rPr>
                                    <m:sty m:val="bi"/>
                                  </m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num>
                              <m:den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r>
                                  <m:rPr>
                                    <m:sty m:val="bi"/>
                                  </m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den>
                            </m:f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</m:e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num>
                              <m:den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den>
                            </m:f>
                          </m:e>
                          <m:e>
                            <m:r>
                              <m:rPr>
                                <m:sty m:val="p"/>
                              </m:rPr>
                              <m:t>×</m:t>
                            </m:r>
                          </m:e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num>
                              <m:den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posterior odds</m:t>
                            </m:r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Bayes factor</m:t>
                            </m:r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prior odds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Bayes 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Bayes factor is a ratio of </a:t>
                </a:r>
                <a:r>
                  <a:rPr i="1"/>
                  <a:t>marginal likelihoods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∫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,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  <m:r>
                      <m:t>d</m:t>
                    </m:r>
                    <m:r>
                      <m:t>θ</m:t>
                    </m:r>
                  </m:oMath>
                </a14:m>
                <a:r>
                  <a:rPr/>
                  <a:t>. For composite hypotheses it can be extremely sensitive to the prior (a vaguer prior under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always favours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), and it is hard to compute for realistic models.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</a:t>
                </a:r>
                <a:r>
                  <a:rPr b="1"/>
                  <a:t>model comparison</a:t>
                </a:r>
                <a:r>
                  <a:rPr/>
                  <a:t> we will prefer predictive criteria (LOO, WAIC; Lecture 5). For </a:t>
                </a:r>
                <a:r>
                  <a:rPr b="1"/>
                  <a:t>questions about parameters</a:t>
                </a:r>
                <a:r>
                  <a:rPr/>
                  <a:t>, report posterior probabilities directly.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posterior predictive distribution</a:t>
                </a:r>
                <a:r>
                  <a:rPr/>
                  <a:t> for a new observation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averages the sampling model over posterior uncertainty in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acc>
                        <m:accPr>
                          <m:chr m:val="̃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i"/>
                        </m:rP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∫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acc>
                        <m:accPr>
                          <m:chr m:val="̃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∣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i"/>
                        </m:rP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It is wider than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acc>
                      <m:accPr>
                        <m:chr m:val="̃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∣</m:t>
                    </m:r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because it accounts for </a:t>
                </a:r>
                <a:r>
                  <a:rPr i="1"/>
                  <a:t>both</a:t>
                </a:r>
                <a:r>
                  <a:rPr/>
                  <a:t> the randomness of new data </a:t>
                </a:r>
                <a:r>
                  <a:rPr i="1"/>
                  <a:t>and</a:t>
                </a:r>
                <a:r>
                  <a:rPr/>
                  <a:t> our uncertainty about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. Plugging in a point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θ</m:t>
                        </m:r>
                      </m:e>
                    </m:acc>
                  </m:oMath>
                </a14:m>
                <a:r>
                  <a:rPr/>
                  <a:t> ignores the second source and gives over-confident predictions.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the Gamma-Poisson model the integral can be done analytically: </a:t>
                </a:r>
                <a14:m>
                  <m:oMath xmlns:m="http://schemas.openxmlformats.org/officeDocument/2006/math">
                    <m:acc>
                      <m:accPr>
                        <m:chr m:val="̃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∼</m:t>
                    </m:r>
                    <m:r>
                      <m:rPr>
                        <m:nor/>
                        <m:sty m:val="p"/>
                      </m:rPr>
                      <m:t>NegBin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a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∑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r>
                          <m:t> 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n</m:t>
                            </m:r>
                          </m:num>
                          <m:den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/>
                  <a:t> (Appendix B.2). But the integral has a much simpler </a:t>
                </a:r>
                <a:r>
                  <a:rPr i="1"/>
                  <a:t>simulation</a:t>
                </a:r>
                <a:r>
                  <a:rPr/>
                  <a:t> form, which works for </a:t>
                </a:r>
                <a:r>
                  <a:rPr b="1"/>
                  <a:t>every</a:t>
                </a:r>
                <a:r>
                  <a:rPr/>
                  <a:t> model: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∼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rPr>
                          <m:sty m:val="bi"/>
                        </m:rP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∼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acc>
                        <m:accPr>
                          <m:chr m:val="̃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∣</m:t>
                      </m:r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</a:t>
            </a:r>
          </a:p>
        </p:txBody>
      </p:sp>
      <p:pic>
        <p:nvPicPr>
          <p:cNvPr descr="Chanco_STA623_BDA_2026_Henrion_Session2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997200"/>
            <a:ext cx="10515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Simulation and exact answer agree; the plug-in Poisson is slightly too narrow.</a:t>
                </a:r>
              </a:p>
              <a:p>
                <a:pPr lvl="0" indent="0" marL="0">
                  <a:buNone/>
                </a:pPr>
                <a:r>
                  <a:rPr/>
                  <a:t>Two lines of code replaced a page of algebra.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Closed forms do not always exist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 model with unknown mean </a:t>
            </a:r>
            <a:r>
              <a:rPr i="1"/>
              <a:t>and</a:t>
            </a:r>
            <a:r>
              <a:rPr/>
              <a:t>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rPr>
                        <m:scr m:val="script"/>
                        <m:sty m:val="p"/>
                      </m:rP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,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with both parameters unknown, a fully conjugate prior exists (the normal-inverse-gamma, Appendix B.4), but it forces the prior uncertainty about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to be proportional to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which is often unnatural. The more natural choice is an </a:t>
                </a:r>
                <a:r>
                  <a:rPr b="1"/>
                  <a:t>independent</a:t>
                </a:r>
                <a:r>
                  <a:rPr/>
                  <a:t> (semi-conjugate) prior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μ</m:t>
                      </m:r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m:t>N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Sup>
                        <m:e>
                          <m:r>
                            <m:t>τ</m:t>
                          </m:r>
                        </m:e>
                        <m:sub>
                          <m:r>
                            <m:t>0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/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∼</m:t>
                      </m:r>
                      <m:r>
                        <m:rPr>
                          <m:nor/>
                          <m:sty m:val="p"/>
                        </m:rPr>
                        <m:t>Gamma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lin"/>
                            </m:fPr>
                            <m:num>
                              <m:sSub>
                                <m:e>
                                  <m:r>
                                    <m:t>ν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,</m:t>
                          </m:r>
                          <m:f>
                            <m:fPr>
                              <m:type m:val="lin"/>
                            </m:fPr>
                            <m:num>
                              <m:sSub>
                                <m:e>
                                  <m:r>
                                    <m:t>ν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  <m:sSubSup>
                                <m:e>
                                  <m:r>
                                    <m:t>σ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which the joint posterior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,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i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</a:t>
                </a:r>
                <a:r>
                  <a:rPr b="1"/>
                  <a:t>not</a:t>
                </a:r>
                <a:r>
                  <a:rPr/>
                  <a:t> a standard distribution.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 model with unknown mean </a:t>
            </a:r>
            <a:r>
              <a:rPr i="1"/>
              <a:t>and</a:t>
            </a:r>
            <a:r>
              <a:rPr/>
              <a:t>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8BC91F-1C76-43AE-8B2A-956D48B7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However, each </a:t>
                </a:r>
                <a:r>
                  <a:rPr i="1"/>
                  <a:t>full conditional</a:t>
                </a:r>
                <a:r>
                  <a:rPr/>
                  <a:t> distribution is standard: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μ</m:t>
                            </m:r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σ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bi"/>
                              </m:rPr>
                              <m:t>y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m:t>∼</m:t>
                            </m:r>
                          </m:e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m:t>N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μ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Sup>
                              <m:e>
                                <m:r>
                                  <m:t>τ</m:t>
                                </m:r>
                              </m:e>
                              <m:sub>
                                <m:r>
                                  <m:t>n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/</m:t>
                            </m:r>
                            <m:sSup>
                              <m:e>
                                <m:r>
                                  <m:t>σ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∣</m:t>
                            </m:r>
                            <m:r>
                              <m:t>μ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bi"/>
                              </m:rPr>
                              <m:t>y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m:t>∼</m:t>
                            </m:r>
                          </m:e>
                          <m:e>
                            <m:r>
                              <m:rPr>
                                <m:nor/>
                                <m:sty m:val="p"/>
                              </m:rPr>
                              <m:t>Gamma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sSub>
                                      <m:e>
                                        <m:r>
                                          <m:t>ν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r>
                                      <m:t>n</m:t>
                                    </m:r>
                                  </m:num>
                                  <m:den>
                                    <m: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 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sSub>
                                      <m:e>
                                        <m:r>
                                          <m:t>ν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ff"/>
                                        <m:supHide m:val="on"/>
                                      </m:naryPr>
                                      <m:sub>
                                        <m:r>
                                          <m:t>i</m:t>
                                        </m:r>
                                      </m:sub>
                                      <m:sup>
                                        <m:r>
                                          <m:t>​</m:t>
                                        </m:r>
                                      </m: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(</m:t>
                                        </m:r>
                                      </m:e>
                                    </m:nary>
                                    <m:sSub>
                                      <m:e>
                                        <m: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μ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Sup>
                      <m:e>
                        <m:r>
                          <m:t>τ</m:t>
                        </m:r>
                      </m:e>
                      <m:sub>
                        <m:r>
                          <m:t>n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  <a:r>
                  <a:rPr/>
                  <a:t> as in the table above. This is exactly the situation the Gibbs sampler (Lecture 3) is designed for. Almost every realistic model (regression with non-normal outcomes, random effects, missing data) is in this situation or worse, which is why the rest of the course is about computation.</a:t>
                </a:r>
              </a:p>
            </p:txBody>
          </p:sp>
        </mc:Choice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[end of STA623 Bayesian Data analysis Session 2]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STA623 Bayesian Data Analysis</dc:title>
  <dc:creator>Marc Henrion</dc:creator>
  <cp:keywords/>
  <dcterms:created xsi:type="dcterms:W3CDTF">2026-09-29T04:54:03Z</dcterms:created>
  <dcterms:modified xsi:type="dcterms:W3CDTF">2026-09-29T04:54:03Z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2026-09-29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Session 2: Priors, conjugate models, posterior summaries &amp; prediction</vt:lpwstr>
  </property>
  <property fmtid="{D5CDD505-2E9C-101B-9397-08002B2CF9AE}" pid="12" name="toc-title">
    <vt:lpwstr>Table of contents</vt:lpwstr>
  </property>
</Properties>
</file>