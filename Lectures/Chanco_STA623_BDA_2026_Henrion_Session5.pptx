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7006"/>
    <p:restoredTop sz="94660"/>
  </p:normalViewPr>
  <p:slideViewPr>
    <p:cSldViewPr snapToGrid="0">
      <p:cViewPr varScale="1">
        <p:scale>
          <a:sx d="100" n="102"/>
          <a:sy d="100" n="102"/>
        </p:scale>
        <p:origin x="126" y="384"/>
      </p:cViewPr>
      <p:guideLst/>
    </p:cSldViewPr>
  </p:slideViewPr>
  <p:notesTextViewPr>
    <p:cViewPr>
      <p:scale>
        <a:sx d="1" n="1"/>
        <a:sy d="1" n="1"/>
      </p:scale>
      <p:origin x="0" y="0"/>
    </p:cViewPr>
  </p:notesTextViewPr>
  <p:notesViewPr>
    <p:cSldViewPr snapToGrid="0">
      <p:cViewPr varScale="1">
        <p:scale>
          <a:sx d="100" n="87"/>
          <a:sy d="100" n="87"/>
        </p:scale>
        <p:origin x="3840" y="90"/>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82" Type="http://schemas.openxmlformats.org/officeDocument/2006/relationships/tableStyles" Target="tableStyles.xml" /><Relationship Id="rId81" Type="http://schemas.openxmlformats.org/officeDocument/2006/relationships/theme" Target="theme/theme1.xml" /><Relationship Id="rId1" Type="http://schemas.openxmlformats.org/officeDocument/2006/relationships/slideMaster" Target="slideMasters/slideMaster1.xml" /><Relationship Id="rId80" Type="http://schemas.openxmlformats.org/officeDocument/2006/relationships/viewProps" Target="viewProps.xml" /><Relationship Id="rId79"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nchor="b">
            <a:normAutofit/>
          </a:bodyPr>
          <a:lstStyle>
            <a:lvl1pPr algn="ctr">
              <a:defRPr sz="5400" b="1">
                <a:solidFill>
                  <a:srgbClr val="C00000"/>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8C47A7-1C60-48ED-9106-1A4E50CD85F0}"/>
              </a:ext>
            </a:extLst>
          </p:cNvPr>
          <p:cNvSpPr>
            <a:spLocks noGrp="1"/>
          </p:cNvSpPr>
          <p:nvPr>
            <p:ph type="subTitle" idx="1"/>
          </p:nvPr>
        </p:nvSpPr>
        <p:spPr>
          <a:xfrm>
            <a:off x="1524000" y="4026500"/>
            <a:ext cx="9144000" cy="12313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type="sldNum" sz="quarter" idx="12"/>
          </p:nvPr>
        </p:nvSpPr>
        <p:spPr/>
        <p:txBody>
          <a:bodyPr/>
          <a:lstStyle/>
          <a:p>
            <a:fld id="{E1C5CB42-CF14-4293-8971-6DCD1AAE8BE7}" type="slidenum">
              <a:rPr lang="en-GB" smtClean="0"/>
              <a:t>‹#›</a:t>
            </a:fld>
            <a:endParaRPr lang="en-GB"/>
          </a:p>
        </p:txBody>
      </p:sp>
      <p:sp>
        <p:nvSpPr>
          <p:cNvPr id="7" name="Date Placeholder 3">
            <a:extLst>
              <a:ext uri="{FF2B5EF4-FFF2-40B4-BE49-F238E27FC236}">
                <a16:creationId xmlns:a16="http://schemas.microsoft.com/office/drawing/2014/main" id="{7CD99309-7B5F-490B-9BDE-AAF9B5F8DCFE}"/>
              </a:ext>
            </a:extLst>
          </p:cNvPr>
          <p:cNvSpPr>
            <a:spLocks noGrp="1"/>
          </p:cNvSpPr>
          <p:nvPr>
            <p:ph type="dt" sz="half" idx="2"/>
          </p:nvPr>
        </p:nvSpPr>
        <p:spPr>
          <a:xfrm>
            <a:off x="4724400" y="5580025"/>
            <a:ext cx="2743200" cy="311224"/>
          </a:xfrm>
          <a:prstGeom prst="rect">
            <a:avLst/>
          </a:prstGeom>
        </p:spPr>
        <p:txBody>
          <a:bodyPr vert="horz" lIns="91440" tIns="45720" rIns="91440" bIns="45720" rtlCol="0" anchor="ctr"/>
          <a:lstStyle>
            <a:lvl1pPr algn="ctr">
              <a:defRPr sz="1200">
                <a:solidFill>
                  <a:schemeClr val="bg2">
                    <a:lumMod val="50000"/>
                  </a:schemeClr>
                </a:solidFill>
              </a:defRPr>
            </a:lvl1pPr>
          </a:lstStyle>
          <a:p>
            <a:fld id="{C2113EE3-8373-4C14-933F-C1E589D5B246}" type="datetime1">
              <a:rPr lang="en-GB" smtClean="0"/>
              <a:t>02/07/2019</a:t>
            </a:fld>
            <a:endParaRPr lang="en-GB" dirty="0"/>
          </a:p>
        </p:txBody>
      </p:sp>
    </p:spTree>
    <p:extLst>
      <p:ext uri="{BB962C8B-B14F-4D97-AF65-F5344CB8AC3E}">
        <p14:creationId xmlns:p14="http://schemas.microsoft.com/office/powerpoint/2010/main" val="29120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lvl2pPr marL="685800" indent="-228600">
              <a:buClr>
                <a:srgbClr val="C00000"/>
              </a:buClr>
              <a:buFont typeface="Arial" panose="020B0604020202020204" pitchFamily="34" charset="0"/>
              <a:buChar char="•"/>
              <a:defRPr/>
            </a:lvl2pPr>
            <a:lvl3pPr marL="1143000" indent="-228600">
              <a:buClrTx/>
              <a:buFont typeface="Arial" panose="020B0604020202020204" pitchFamily="34" charset="0"/>
              <a:buChar char="•"/>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99003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nchor="b">
            <a:normAutofit/>
          </a:bodyPr>
          <a:lstStyle>
            <a:lvl1pPr>
              <a:defRPr sz="4400" b="1">
                <a:solidFill>
                  <a:srgbClr val="C00000"/>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E6FC57D-47CF-4AB3-8F41-D74240EA1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048679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85BE-B3D8-4FF3-B29D-02E8297507B4}"/>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E89358A-6410-47DE-B7D5-0F708CD13DF5}"/>
              </a:ext>
            </a:extLst>
          </p:cNvPr>
          <p:cNvSpPr>
            <a:spLocks noGrp="1"/>
          </p:cNvSpPr>
          <p:nvPr>
            <p:ph sz="half" idx="1"/>
          </p:nvPr>
        </p:nvSpPr>
        <p:spPr>
          <a:xfrm>
            <a:off x="838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B94B0D16-5BFA-42AC-ADC2-646F18F108D0}"/>
              </a:ext>
            </a:extLst>
          </p:cNvPr>
          <p:cNvSpPr>
            <a:spLocks noGrp="1"/>
          </p:cNvSpPr>
          <p:nvPr>
            <p:ph sz="half" idx="2"/>
          </p:nvPr>
        </p:nvSpPr>
        <p:spPr>
          <a:xfrm>
            <a:off x="6172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a:extLst>
              <a:ext uri="{FF2B5EF4-FFF2-40B4-BE49-F238E27FC236}">
                <a16:creationId xmlns:a16="http://schemas.microsoft.com/office/drawing/2014/main" id="{5392B6E7-0296-4DDC-8A37-ADBF03312730}"/>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2399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E6CF-0013-49C7-AEB8-8E91374711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3B4A6D-F116-4484-8C9C-A4639CC18B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21EE16-2CAA-4269-9363-D2817EE0DF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C135FF5-1094-4B0C-B250-AD8B448C6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5D47F8F-0A27-4035-ACD4-A78ECFE4A2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26EF0084-C4B2-4571-BB9F-0F21077EB4E6}"/>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05271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37DD-A251-437C-AEDD-CB5B4426A930}"/>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77CF1F1D-CD28-4160-A015-F8A9E022CFE3}"/>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6919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8FEFF-33E8-4DF3-9F82-C8924C647AEE}"/>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68611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618A54E-07B9-4B62-B101-F97969B04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930229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806B-9951-41F8-8355-56988956D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42C372-A8E3-48FB-BC6D-03E9BE45A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AF29B-6E7F-438B-A4F0-E7B08FC24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1CB0398-38BC-4D55-98B4-91433EB43C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0211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010A-D0D2-45E6-B04B-900AFC28069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9A6CE9-1503-44AE-9C80-F0F8D874EAE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C35A2AA1-1B6B-4E88-A09D-356FC68522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9444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E5E3CF-3D05-44C8-88C8-D98ADD5B83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F504C6-15EF-447C-AD59-74FEC0CCC51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1767EC9-ADE0-4807-A12B-A966A05B8BB9}"/>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6076422"/>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jpe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1E1190-2136-48F0-AC05-CF8B70904B38}"/>
              </a:ext>
            </a:extLst>
          </p:cNvPr>
          <p:cNvSpPr>
            <a:spLocks noGrp="1"/>
          </p:cNvSpPr>
          <p:nvPr>
            <p:ph type="title"/>
          </p:nvPr>
        </p:nvSpPr>
        <p:spPr>
          <a:xfrm>
            <a:off x="949720" y="365125"/>
            <a:ext cx="10333113" cy="1325563"/>
          </a:xfrm>
          <a:prstGeom prst="rect">
            <a:avLst/>
          </a:prstGeom>
        </p:spPr>
        <p:txBody>
          <a:bodyPr anchor="ctr" bIns="45720" lIns="91440" rIns="91440" rtlCol="0" tIns="45720" vert="horz">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345448-651E-4B5A-868C-102A5658F70B}"/>
              </a:ext>
            </a:extLst>
          </p:cNvPr>
          <p:cNvSpPr>
            <a:spLocks noGrp="1"/>
          </p:cNvSpPr>
          <p:nvPr>
            <p:ph idx="1" type="body"/>
          </p:nvPr>
        </p:nvSpPr>
        <p:spPr>
          <a:xfrm>
            <a:off x="838200" y="1825624"/>
            <a:ext cx="10515600" cy="4667250"/>
          </a:xfrm>
          <a:prstGeom prst="rect">
            <a:avLst/>
          </a:prstGeom>
        </p:spPr>
        <p:txBody>
          <a:bodyPr bIns="45720" lIns="91440" rIns="91440" rtlCol="0" tIns="45720" vert="horz">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A570DB5-9A54-43D6-A1BD-EE919D586D51}"/>
              </a:ext>
            </a:extLst>
          </p:cNvPr>
          <p:cNvSpPr>
            <a:spLocks noGrp="1"/>
          </p:cNvSpPr>
          <p:nvPr>
            <p:ph idx="4" sz="quarter" type="sldNum"/>
          </p:nvPr>
        </p:nvSpPr>
        <p:spPr>
          <a:xfrm>
            <a:off x="9448799" y="6542081"/>
            <a:ext cx="2743200" cy="315919"/>
          </a:xfrm>
          <a:prstGeom prst="rect">
            <a:avLst/>
          </a:prstGeom>
        </p:spPr>
        <p:txBody>
          <a:bodyPr anchor="ctr" bIns="45720" lIns="91440" rIns="91440" rtlCol="0" tIns="45720" vert="horz"/>
          <a:lstStyle>
            <a:lvl1pPr algn="r">
              <a:defRPr sz="1200">
                <a:solidFill>
                  <a:schemeClr val="tx1">
                    <a:tint val="75000"/>
                  </a:schemeClr>
                </a:solidFill>
              </a:defRPr>
            </a:lvl1pPr>
          </a:lstStyle>
          <a:p>
            <a:fld id="{E1C5CB42-CF14-4293-8971-6DCD1AAE8BE7}" type="slidenum">
              <a:rPr lang="en-GB" smtClean="0"/>
              <a:t>‹#›</a:t>
            </a:fld>
            <a:endParaRPr lang="en-GB"/>
          </a:p>
        </p:txBody>
      </p:sp>
      <p:sp>
        <p:nvSpPr>
          <p:cNvPr id="7" name="Rectangle 2">
            <a:extLst>
              <a:ext uri="{FF2B5EF4-FFF2-40B4-BE49-F238E27FC236}">
                <a16:creationId xmlns:a16="http://schemas.microsoft.com/office/drawing/2014/main" id="{9B768418-2B2A-4DD4-AF20-A6EC6C03C465}"/>
              </a:ext>
            </a:extLst>
          </p:cNvPr>
          <p:cNvSpPr>
            <a:spLocks noChangeArrowheads="1"/>
          </p:cNvSpPr>
          <p:nvPr userDrawn="1"/>
        </p:nvSpPr>
        <p:spPr bwMode="auto">
          <a:xfrm>
            <a:off x="-2" y="78603"/>
            <a:ext cx="12192001" cy="228029"/>
          </a:xfrm>
          <a:prstGeom prst="rect">
            <a:avLst/>
          </a:prstGeom>
          <a:solidFill>
            <a:schemeClr val="accent1"/>
          </a:solidFill>
          <a:ln>
            <a:noFill/>
          </a:ln>
          <a:extLst>
            <a:ext uri="{91240B29-F687-4f45-9708-019B960494DF}">
              <a14:hiddenLine xmlns="" xmlns:a14="http://schemas.microsoft.com/office/drawing/2010/main" w="0">
                <a:solidFill>
                  <a:srgbClr val="000000"/>
                </a:solidFill>
                <a:miter lim="800000"/>
                <a:headEnd/>
                <a:tailEnd/>
              </a14:hiddenLine>
            </a:ext>
          </a:extLst>
        </p:spPr>
        <p:txBody>
          <a:bodyPr anchor="ctr" bIns="38963" lIns="77925" rIns="77925" tIns="38963" wrap="none"/>
          <a:lstStyle/>
          <a:p>
            <a:endParaRPr lang="en-US">
              <a:latin charset="0" pitchFamily="34" typeface="Calibri"/>
            </a:endParaRPr>
          </a:p>
        </p:txBody>
      </p:sp>
      <p:pic>
        <p:nvPicPr>
          <p:cNvPr descr="CoM new.jpg" id="8" name="Picture 7">
            <a:extLst>
              <a:ext uri="{FF2B5EF4-FFF2-40B4-BE49-F238E27FC236}">
                <a16:creationId xmlns:a16="http://schemas.microsoft.com/office/drawing/2014/main" id="{CA1A8323-4ADE-4BE5-B7CC-3ABBBDEC976A}"/>
              </a:ext>
            </a:extLst>
          </p:cNvPr>
          <p:cNvPicPr>
            <a:picLocks noChangeAspect="1"/>
          </p:cNvPicPr>
          <p:nvPr userDrawn="1"/>
        </p:nvPicPr>
        <p:blipFill>
          <a:blip cstate="email" r:embed="rId13">
            <a:extLst>
              <a:ext uri="{28A0092B-C50C-407E-A947-70E740481C1C}">
                <a14:useLocalDpi xmlns:a14="http://schemas.microsoft.com/office/drawing/2010/main" val="0"/>
              </a:ext>
            </a:extLst>
          </a:blip>
          <a:stretch>
            <a:fillRect/>
          </a:stretch>
        </p:blipFill>
        <p:spPr>
          <a:xfrm>
            <a:off x="116188" y="365126"/>
            <a:ext cx="750719" cy="893832"/>
          </a:xfrm>
          <a:prstGeom prst="rect">
            <a:avLst/>
          </a:prstGeom>
        </p:spPr>
      </p:pic>
    </p:spTree>
    <p:extLst>
      <p:ext uri="{BB962C8B-B14F-4D97-AF65-F5344CB8AC3E}">
        <p14:creationId xmlns:p14="http://schemas.microsoft.com/office/powerpoint/2010/main" val="29747758"/>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gitMarcH/UNIMA_STA623_2026" TargetMode="Externa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lstStyle/>
          <a:p>
            <a:pPr lvl="0" indent="0" marL="0">
              <a:buNone/>
            </a:pPr>
            <a:r>
              <a:rPr/>
              <a:t>STA623 Bayesian Data Analysis</a:t>
            </a:r>
          </a:p>
        </p:txBody>
      </p:sp>
      <p:sp>
        <p:nvSpPr>
          <p:cNvPr id="3" name="Subtitle 2">
            <a:extLst>
              <a:ext uri="{FF2B5EF4-FFF2-40B4-BE49-F238E27FC236}">
                <a16:creationId xmlns:a16="http://schemas.microsoft.com/office/drawing/2014/main" id="{4E8C47A7-1C60-48ED-9106-1A4E50CD85F0}"/>
              </a:ext>
            </a:extLst>
          </p:cNvPr>
          <p:cNvSpPr>
            <a:spLocks noGrp="1"/>
          </p:cNvSpPr>
          <p:nvPr>
            <p:ph idx="1" type="subTitle"/>
          </p:nvPr>
        </p:nvSpPr>
        <p:spPr>
          <a:xfrm>
            <a:off x="1524000" y="4026500"/>
            <a:ext cx="9144000" cy="1231300"/>
          </a:xfrm>
        </p:spPr>
        <p:txBody>
          <a:bodyPr/>
          <a:lstStyle/>
          <a:p>
            <a:pPr lvl="0" indent="0" marL="0">
              <a:buNone/>
            </a:pPr>
            <a:r>
              <a:rPr/>
              <a:t>Session 5: Bayesian regression, model checking, comparison, hierarchical models</a:t>
            </a:r>
            <a:br/>
            <a:br/>
            <a:r>
              <a:rPr/>
              <a:t>Marc Henrion</a:t>
            </a:r>
          </a:p>
        </p:txBody>
      </p:sp>
      <p:sp>
        <p:nvSpPr>
          <p:cNvPr id="7" name="Date Placeholder 3">
            <a:extLst>
              <a:ext uri="{FF2B5EF4-FFF2-40B4-BE49-F238E27FC236}">
                <a16:creationId xmlns:a16="http://schemas.microsoft.com/office/drawing/2014/main" id="{7CD99309-7B5F-490B-9BDE-AAF9B5F8DCFE}"/>
              </a:ext>
            </a:extLst>
          </p:cNvPr>
          <p:cNvSpPr>
            <a:spLocks noGrp="1"/>
          </p:cNvSpPr>
          <p:nvPr>
            <p:ph idx="2" sz="half" type="dt"/>
          </p:nvPr>
        </p:nvSpPr>
        <p:spPr>
          <a:xfrm>
            <a:off x="4724400" y="5580025"/>
            <a:ext cx="2743200" cy="311224"/>
          </a:xfrm>
          <a:prstGeom prst="rect">
            <a:avLst/>
          </a:prstGeom>
        </p:spPr>
        <p:txBody>
          <a:bodyPr/>
          <a:lstStyle/>
          <a:p>
            <a:pPr lvl="0" indent="0" marL="0">
              <a:buNone/>
            </a:pPr>
            <a:r>
              <a:rPr/>
              <a:t>2026-10-02</a:t>
            </a:r>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Preliminaries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lstStyle/>
          <a:p>
            <a:pPr lvl="0" indent="0" marL="0">
              <a:buNone/>
            </a:pPr>
            <a:r>
              <a:rPr/>
              <a:t>Code notes</a:t>
            </a:r>
          </a:p>
        </p:txBody>
      </p:sp>
      <p:sp>
        <p:nvSpPr>
          <p:cNvPr id="4" name="Text Placeholder 3">
            <a:extLst>
              <a:ext uri="{FF2B5EF4-FFF2-40B4-BE49-F238E27FC236}">
                <a16:creationId xmlns:a16="http://schemas.microsoft.com/office/drawing/2014/main" id="{F6C278EB-CD3C-4569-8B41-D3DDD3B4004E}"/>
              </a:ext>
            </a:extLst>
          </p:cNvPr>
          <p:cNvSpPr>
            <a:spLocks noGrp="1"/>
          </p:cNvSpPr>
          <p:nvPr>
            <p:ph idx="2" sz="half" type="body"/>
          </p:nvPr>
        </p:nvSpPr>
        <p:spPr/>
        <p:txBody>
          <a:bodyPr/>
          <a:lstStyle/>
          <a:p>
            <a:pPr lvl="0"/>
            <a:r>
              <a:rPr/>
              <a:t>These notes have been prepared using </a:t>
            </a:r>
            <a:r>
              <a:rPr>
                <a:latin typeface="Courier"/>
              </a:rPr>
              <a:t>quarto</a:t>
            </a:r>
            <a:r>
              <a:rPr/>
              <a:t> - qmd shared on GitHub.</a:t>
            </a:r>
          </a:p>
          <a:p>
            <a:pPr lvl="0"/>
            <a:r>
              <a:rPr/>
              <a:t>All code is </a:t>
            </a:r>
            <a:r>
              <a:rPr>
                <a:latin typeface="Courier"/>
              </a:rPr>
              <a:t>R</a:t>
            </a:r>
            <a:r>
              <a:rPr/>
              <a:t>; Bayesian models are specified in </a:t>
            </a:r>
            <a:r>
              <a:rPr>
                <a:latin typeface="Courier"/>
              </a:rPr>
              <a:t>NIMBLE</a:t>
            </a:r>
            <a:r>
              <a:rPr/>
              <a:t> (a dialect of </a:t>
            </a:r>
            <a:r>
              <a:rPr>
                <a:latin typeface="Courier"/>
              </a:rPr>
              <a:t>BUGS</a:t>
            </a:r>
            <a:r>
              <a:rPr/>
              <a:t>).</a:t>
            </a:r>
          </a:p>
          <a:p>
            <a:pPr lvl="0"/>
            <a:r>
              <a:rPr>
                <a:latin typeface="Courier"/>
              </a:rPr>
              <a:t>R</a:t>
            </a:r>
            <a:r>
              <a:rPr/>
              <a:t> packages used: </a:t>
            </a:r>
            <a:r>
              <a:rPr>
                <a:latin typeface="Courier"/>
              </a:rPr>
              <a:t>tidyverse</a:t>
            </a:r>
            <a:r>
              <a:rPr/>
              <a:t>, </a:t>
            </a:r>
            <a:r>
              <a:rPr>
                <a:latin typeface="Courier"/>
              </a:rPr>
              <a:t>gridExtra</a:t>
            </a:r>
            <a:r>
              <a:rPr/>
              <a:t>, </a:t>
            </a:r>
            <a:r>
              <a:rPr>
                <a:latin typeface="Courier"/>
              </a:rPr>
              <a:t>HDInterval</a:t>
            </a:r>
            <a:r>
              <a:rPr/>
              <a:t>, </a:t>
            </a:r>
            <a:r>
              <a:rPr>
                <a:latin typeface="Courier"/>
              </a:rPr>
              <a:t>nimble</a:t>
            </a:r>
            <a:r>
              <a:rPr/>
              <a:t>, </a:t>
            </a:r>
            <a:r>
              <a:rPr>
                <a:latin typeface="Courier"/>
              </a:rPr>
              <a:t>coda</a:t>
            </a:r>
            <a:r>
              <a:rPr/>
              <a:t>, </a:t>
            </a:r>
            <a:r>
              <a:rPr>
                <a:latin typeface="Courier"/>
              </a:rPr>
              <a:t>posterior</a:t>
            </a:r>
            <a:r>
              <a:rPr/>
              <a:t>, </a:t>
            </a:r>
            <a:r>
              <a:rPr>
                <a:latin typeface="Courier"/>
              </a:rPr>
              <a:t>loo</a:t>
            </a:r>
            <a:r>
              <a:rPr/>
              <a:t> (plus </a:t>
            </a:r>
            <a:r>
              <a:rPr>
                <a:latin typeface="Courier"/>
              </a:rPr>
              <a:t>MCMCvis</a:t>
            </a:r>
            <a:r>
              <a:rPr/>
              <a:t> optionally). Install them all before the first practical: </a:t>
            </a:r>
            <a:r>
              <a:rPr>
                <a:latin typeface="Courier"/>
              </a:rPr>
              <a:t>NIMBLE</a:t>
            </a:r>
            <a:r>
              <a:rPr/>
              <a:t> needs a working C++ compiler (Rtools on Windows, Xcode command line tools on macOS).</a:t>
            </a:r>
          </a:p>
          <a:p>
            <a:pPr lvl="0"/>
            <a:r>
              <a:rPr/>
              <a:t>Course materials: </a:t>
            </a:r>
            <a:r>
              <a:rPr>
                <a:hlinkClick r:id="rId2"/>
              </a:rPr>
              <a:t>https://github.com/gitMarcH/UNIMA_STA623_2026</a:t>
            </a:r>
          </a:p>
        </p:txBody>
      </p:sp>
      <p:pic>
        <p:nvPicPr>
          <p:cNvPr descr="images/QR_GitHubRepo.png" id="0" name="Picture 1"/>
          <p:cNvPicPr>
            <a:picLocks noGrp="1" noChangeAspect="1"/>
          </p:cNvPicPr>
          <p:nvPr/>
        </p:nvPicPr>
        <p:blipFill>
          <a:blip r:embed="rId3"/>
          <a:stretch>
            <a:fillRect/>
          </a:stretch>
        </p:blipFill>
        <p:spPr bwMode="auto">
          <a:xfrm>
            <a:off x="5842000" y="977900"/>
            <a:ext cx="4864100" cy="4864100"/>
          </a:xfrm>
          <a:prstGeom prst="rect">
            <a:avLst/>
          </a:prstGeom>
          <a:noFill/>
          <a:ln w="9525">
            <a:noFill/>
            <a:headEnd/>
            <a:tailEnd/>
          </a:ln>
        </p:spPr>
      </p:pic>
      <p:sp>
        <p:nvSpPr>
          <p:cNvPr id="7" name="Slide Number Placeholder 6">
            <a:extLst>
              <a:ext uri="{FF2B5EF4-FFF2-40B4-BE49-F238E27FC236}">
                <a16:creationId xmlns:a16="http://schemas.microsoft.com/office/drawing/2014/main" id="{14DD33D4-F2B4-4E27-98BD-BC92728343C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License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t> </m:t>
                      </m:r>
                    </m:oMath>
                  </m:oMathPara>
                </a14:m>
              </a:p>
              <a:p>
                <a:pPr lvl="0" indent="0" marL="0">
                  <a:buNone/>
                </a:pPr>
                <a:r>
                  <a:rPr/>
                  <a:t>The quarto code is subject to an MIT license (Marc Henrion).</a:t>
                </a:r>
              </a:p>
              <a:p>
                <a:pPr lvl="0" indent="0" marL="0">
                  <a:buNone/>
                </a:pPr>
                <a14:m>
                  <m:oMathPara xmlns:m="http://schemas.openxmlformats.org/officeDocument/2006/math">
                    <m:oMathParaPr>
                      <m:jc m:val="center"/>
                    </m:oMathParaPr>
                    <m:oMath>
                      <m:r>
                        <m:t> </m:t>
                      </m:r>
                    </m:oMath>
                  </m:oMathPara>
                </a14:m>
              </a:p>
              <a:p>
                <a:pPr lvl="0" indent="0" marL="0">
                  <a:buNone/>
                </a:pPr>
                <a:r>
                  <a:rPr/>
                  <a:t>The compiled html is subject to a CC BY 4.0 license (Marc Henrion).</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Morning Quiz</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A Bayesian workflow</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A Bayesian workflow</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Fitting a model is one step in an iterative process (Gelman et al., 2020):</a:t>
                </a:r>
              </a:p>
              <a:p>
                <a:pPr lvl="0" indent="-457200" marL="457200">
                  <a:buAutoNum type="arabicPeriod"/>
                </a:pPr>
                <a:r>
                  <a:rPr b="1"/>
                  <a:t>Formulate</a:t>
                </a:r>
                <a:r>
                  <a:rPr/>
                  <a:t> a sampling model from subject-matter knowledge and the study design.</a:t>
                </a:r>
              </a:p>
              <a:p>
                <a:pPr lvl="0" indent="-457200" marL="457200">
                  <a:buAutoNum type="arabicPeriod"/>
                </a:pPr>
                <a:r>
                  <a:rPr b="1"/>
                  <a:t>Choose priors</a:t>
                </a:r>
                <a:r>
                  <a:rPr/>
                  <a:t> and check them with </a:t>
                </a:r>
                <a:r>
                  <a:rPr b="1"/>
                  <a:t>prior predictive simulation</a:t>
                </a:r>
                <a:r>
                  <a:rPr/>
                  <a:t>.</a:t>
                </a:r>
              </a:p>
              <a:p>
                <a:pPr lvl="0" indent="-457200" marL="457200">
                  <a:buAutoNum type="arabicPeriod"/>
                </a:pPr>
                <a:r>
                  <a:rPr b="1"/>
                  <a:t>Fit</a:t>
                </a:r>
                <a:r>
                  <a:rPr/>
                  <a:t> the model (MCMC) and </a:t>
                </a:r>
                <a:r>
                  <a:rPr b="1"/>
                  <a:t>check the computation</a:t>
                </a:r>
                <a:r>
                  <a:rPr/>
                  <a:t> (</a:t>
                </a:r>
                <a14:m>
                  <m:oMath xmlns:m="http://schemas.openxmlformats.org/officeDocument/2006/math">
                    <m:acc>
                      <m:accPr>
                        <m:chr m:val="̂"/>
                      </m:accPr>
                      <m:e>
                        <m:r>
                          <m:t>R</m:t>
                        </m:r>
                      </m:e>
                    </m:acc>
                  </m:oMath>
                </a14:m>
                <a:r>
                  <a:rPr/>
                  <a:t>, ESS, trace plots).</a:t>
                </a:r>
              </a:p>
              <a:p>
                <a:pPr lvl="0" indent="-457200" marL="457200">
                  <a:buAutoNum type="arabicPeriod"/>
                </a:pPr>
                <a:r>
                  <a:rPr b="1"/>
                  <a:t>Check the model</a:t>
                </a:r>
                <a:r>
                  <a:rPr/>
                  <a:t> against the data: </a:t>
                </a:r>
                <a:r>
                  <a:rPr b="1"/>
                  <a:t>posterior predictive checks</a:t>
                </a:r>
                <a:r>
                  <a:rPr/>
                  <a:t>.</a:t>
                </a:r>
              </a:p>
              <a:p>
                <a:pPr lvl="0" indent="-457200" marL="457200">
                  <a:buAutoNum type="arabicPeriod"/>
                </a:pPr>
                <a:r>
                  <a:rPr b="1"/>
                  <a:t>Compare / expand</a:t>
                </a:r>
                <a:r>
                  <a:rPr/>
                  <a:t> models where checks reveal problems; compare by </a:t>
                </a:r>
                <a:r>
                  <a:rPr b="1"/>
                  <a:t>predictive performance</a:t>
                </a:r>
                <a:r>
                  <a:rPr/>
                  <a:t> (LOO, WAIC).</a:t>
                </a:r>
              </a:p>
              <a:p>
                <a:pPr lvl="0" indent="-457200" marL="457200">
                  <a:buAutoNum type="arabicPeriod"/>
                </a:pPr>
                <a:r>
                  <a:rPr b="1"/>
                  <a:t>Summarise and report</a:t>
                </a:r>
                <a:r>
                  <a:rPr/>
                  <a:t> posterior quantities that answer the scientific question, with sensitivity analyses.</a:t>
                </a:r>
              </a:p>
              <a:p>
                <a:pPr lvl="0" indent="0" marL="0">
                  <a:buNone/>
                </a:pPr>
                <a:r>
                  <a:rPr/>
                  <a:t>This lecture goes through the loop with three examples typical of biostatistics.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Logistic regression</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Example (simulated)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In a household survey, 300 children aged 6 months to 5 years were tested for anaemia. We want the association with bed-net use, adjusted for age.</a:t>
                </a:r>
              </a:p>
              <a:p>
                <a:pPr lvl="0" indent="0" marL="0">
                  <a:buNone/>
                </a:pPr>
                <a14:m>
                  <m:oMathPara xmlns:m="http://schemas.openxmlformats.org/officeDocument/2006/math">
                    <m:oMathParaPr>
                      <m:jc m:val="center"/>
                    </m:oMathParaPr>
                    <m:oMath>
                      <m:r>
                        <m:t> </m:t>
                      </m:r>
                    </m:oMath>
                  </m:oMathPara>
                </a14:m>
              </a:p>
              <a:p>
                <a:pPr lvl="0" indent="0" marL="0">
                  <a:buNone/>
                </a:pPr>
                <a:r>
                  <a:rPr b="1"/>
                  <a:t>The model:</a:t>
                </a:r>
              </a:p>
              <a:p>
                <a:pPr lvl="0" indent="0" marL="0">
                  <a:buNone/>
                </a:pPr>
                <a14:m>
                  <m:oMathPara xmlns:m="http://schemas.openxmlformats.org/officeDocument/2006/math">
                    <m:oMathParaPr>
                      <m:jc m:val="center"/>
                    </m:oMathParaPr>
                    <m:oMath>
                      <m:eqArr>
                        <m:e>
                          <m:r>
                            <m:t>&amp;</m:t>
                          </m:r>
                          <m:sSub>
                            <m:e>
                              <m:r>
                                <m:t>Y</m:t>
                              </m:r>
                            </m:e>
                            <m:sub>
                              <m:r>
                                <m:t>i</m:t>
                              </m:r>
                            </m:sub>
                          </m:sSub>
                          <m:r>
                            <m:rPr>
                              <m:sty m:val="p"/>
                            </m:rPr>
                            <m:t>∼</m:t>
                          </m:r>
                          <m:r>
                            <m:rPr>
                              <m:nor/>
                              <m:sty m:val="p"/>
                            </m:rPr>
                            <m:t>Bernoulli</m:t>
                          </m:r>
                          <m:r>
                            <m:rPr>
                              <m:sty m:val="p"/>
                            </m:rPr>
                            <m:t>(</m:t>
                          </m:r>
                          <m:sSub>
                            <m:e>
                              <m:r>
                                <m:t>p</m:t>
                              </m:r>
                            </m:e>
                            <m:sub>
                              <m:r>
                                <m:t>i</m:t>
                              </m:r>
                            </m:sub>
                          </m:sSub>
                          <m:r>
                            <m:rPr>
                              <m:sty m:val="p"/>
                            </m:rPr>
                            <m:t>)</m:t>
                          </m:r>
                          <m:r>
                            <m:rPr>
                              <m:sty m:val="p"/>
                            </m:rPr>
                            <m:t>,</m:t>
                          </m:r>
                        </m:e>
                        <m:e>
                          <m:r>
                            <m:t>&amp;</m:t>
                          </m:r>
                          <m:r>
                            <m:rPr>
                              <m:nor/>
                              <m:sty m:val="p"/>
                            </m:rPr>
                            <m:t>logit</m:t>
                          </m:r>
                          <m:r>
                            <m:rPr>
                              <m:sty m:val="p"/>
                            </m:rPr>
                            <m:t>(</m:t>
                          </m:r>
                          <m:sSub>
                            <m:e>
                              <m:r>
                                <m:t>p</m:t>
                              </m:r>
                            </m:e>
                            <m:sub>
                              <m:r>
                                <m:t>i</m:t>
                              </m:r>
                            </m:sub>
                          </m:sSub>
                          <m:r>
                            <m:rPr>
                              <m:sty m:val="p"/>
                            </m:rPr>
                            <m:t>)</m:t>
                          </m:r>
                          <m:r>
                            <m:rPr>
                              <m:sty m:val="p"/>
                            </m:rPr>
                            <m:t>=</m:t>
                          </m:r>
                          <m:sSub>
                            <m:e>
                              <m:r>
                                <m:t>β</m:t>
                              </m:r>
                            </m:e>
                            <m:sub>
                              <m:r>
                                <m:t>0</m:t>
                              </m:r>
                            </m:sub>
                          </m:sSub>
                          <m:r>
                            <m:rPr>
                              <m:sty m:val="p"/>
                            </m:rPr>
                            <m:t>+</m:t>
                          </m:r>
                          <m:sSub>
                            <m:e>
                              <m:r>
                                <m:t>β</m:t>
                              </m:r>
                            </m:e>
                            <m:sub>
                              <m:r>
                                <m:rPr>
                                  <m:nor/>
                                  <m:sty m:val="p"/>
                                </m:rPr>
                                <m:t>age</m:t>
                              </m:r>
                            </m:sub>
                          </m:sSub>
                          <m:r>
                            <m:t> </m:t>
                          </m:r>
                          <m:r>
                            <m:rPr>
                              <m:sty m:val="p"/>
                            </m:rPr>
                            <m:t>(</m:t>
                          </m:r>
                          <m:sSub>
                            <m:e>
                              <m:r>
                                <m:rPr>
                                  <m:nor/>
                                  <m:sty m:val="p"/>
                                </m:rPr>
                                <m:t>age</m:t>
                              </m:r>
                            </m:e>
                            <m:sub>
                              <m:r>
                                <m:t>i</m:t>
                              </m:r>
                            </m:sub>
                          </m:sSub>
                          <m:r>
                            <m:rPr>
                              <m:sty m:val="p"/>
                            </m:rPr>
                            <m:t>−</m:t>
                          </m:r>
                          <m:bar>
                            <m:barPr>
                              <m:pos m:val="top"/>
                            </m:barPr>
                            <m:e>
                              <m:r>
                                <m:rPr>
                                  <m:nor/>
                                  <m:sty m:val="p"/>
                                </m:rPr>
                                <m:t>age</m:t>
                              </m:r>
                            </m:e>
                          </m:bar>
                          <m:r>
                            <m:rPr>
                              <m:sty m:val="p"/>
                            </m:rPr>
                            <m:t>)</m:t>
                          </m:r>
                          <m:r>
                            <m:rPr>
                              <m:sty m:val="p"/>
                            </m:rPr>
                            <m:t>+</m:t>
                          </m:r>
                          <m:sSub>
                            <m:e>
                              <m:r>
                                <m:t>β</m:t>
                              </m:r>
                            </m:e>
                            <m:sub>
                              <m:r>
                                <m:rPr>
                                  <m:nor/>
                                  <m:sty m:val="p"/>
                                </m:rPr>
                                <m:t>net</m:t>
                              </m:r>
                            </m:sub>
                          </m:sSub>
                          <m:r>
                            <m:t> </m:t>
                          </m:r>
                          <m:sSub>
                            <m:e>
                              <m:r>
                                <m:rPr>
                                  <m:nor/>
                                  <m:sty m:val="p"/>
                                </m:rPr>
                                <m:t>net</m:t>
                              </m:r>
                            </m:e>
                            <m:sub>
                              <m:r>
                                <m:t>i</m:t>
                              </m:r>
                            </m:sub>
                          </m:sSub>
                          <m:r>
                            <m:rPr>
                              <m:sty m:val="p"/>
                            </m:rPr>
                            <m:t>.</m:t>
                          </m:r>
                        </m:e>
                      </m:eqArr>
                    </m:oMath>
                  </m:oMathPara>
                </a14:m>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Example (simulated)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2025</a:t>
            </a:r>
            <a:r>
              <a:rPr>
                <a:solidFill>
                  <a:srgbClr val="003B4F"/>
                </a:solidFill>
                <a:latin typeface="Courier"/>
              </a:rPr>
              <a:t>)</a:t>
            </a:r>
            <a:br/>
            <a:r>
              <a:rPr>
                <a:solidFill>
                  <a:srgbClr val="003B4F"/>
                </a:solidFill>
                <a:latin typeface="Courier"/>
              </a:rPr>
              <a:t>N_c &lt;- </a:t>
            </a:r>
            <a:r>
              <a:rPr>
                <a:solidFill>
                  <a:srgbClr val="AD0000"/>
                </a:solidFill>
                <a:latin typeface="Courier"/>
              </a:rPr>
              <a:t>300</a:t>
            </a:r>
            <a:br/>
            <a:r>
              <a:rPr>
                <a:solidFill>
                  <a:srgbClr val="003B4F"/>
                </a:solidFill>
                <a:latin typeface="Courier"/>
              </a:rPr>
              <a:t>anaemia_df &lt;- </a:t>
            </a:r>
            <a:r>
              <a:rPr>
                <a:solidFill>
                  <a:srgbClr val="4758AB"/>
                </a:solidFill>
                <a:latin typeface="Courier"/>
              </a:rPr>
              <a:t>tibble</a:t>
            </a:r>
            <a:r>
              <a:rPr>
                <a:solidFill>
                  <a:srgbClr val="003B4F"/>
                </a:solidFill>
                <a:latin typeface="Courier"/>
              </a:rPr>
              <a:t>(</a:t>
            </a:r>
            <a:r>
              <a:rPr>
                <a:solidFill>
                  <a:srgbClr val="657422"/>
                </a:solidFill>
                <a:latin typeface="Courier"/>
              </a:rPr>
              <a:t>age =</a:t>
            </a:r>
            <a:r>
              <a:rPr>
                <a:solidFill>
                  <a:srgbClr val="003B4F"/>
                </a:solidFill>
                <a:latin typeface="Courier"/>
              </a:rPr>
              <a:t> </a:t>
            </a:r>
            <a:r>
              <a:rPr>
                <a:solidFill>
                  <a:srgbClr val="4758AB"/>
                </a:solidFill>
                <a:latin typeface="Courier"/>
              </a:rPr>
              <a:t>runif</a:t>
            </a:r>
            <a:r>
              <a:rPr>
                <a:solidFill>
                  <a:srgbClr val="003B4F"/>
                </a:solidFill>
                <a:latin typeface="Courier"/>
              </a:rPr>
              <a:t>(N_c, </a:t>
            </a:r>
            <a:r>
              <a:rPr>
                <a:solidFill>
                  <a:srgbClr val="AD0000"/>
                </a:solidFill>
                <a:latin typeface="Courier"/>
              </a:rPr>
              <a:t>0.5</a:t>
            </a:r>
            <a:r>
              <a:rPr>
                <a:solidFill>
                  <a:srgbClr val="003B4F"/>
                </a:solidFill>
                <a:latin typeface="Courier"/>
              </a:rPr>
              <a:t>, </a:t>
            </a:r>
            <a:r>
              <a:rPr>
                <a:solidFill>
                  <a:srgbClr val="AD0000"/>
                </a:solidFill>
                <a:latin typeface="Courier"/>
              </a:rPr>
              <a:t>5</a:t>
            </a:r>
            <a:r>
              <a:rPr>
                <a:solidFill>
                  <a:srgbClr val="003B4F"/>
                </a:solidFill>
                <a:latin typeface="Courier"/>
              </a:rPr>
              <a:t>),</a:t>
            </a:r>
            <a:br/>
            <a:r>
              <a:rPr>
                <a:solidFill>
                  <a:srgbClr val="003B4F"/>
                </a:solidFill>
                <a:latin typeface="Courier"/>
              </a:rPr>
              <a:t>                     </a:t>
            </a:r>
            <a:r>
              <a:rPr>
                <a:solidFill>
                  <a:srgbClr val="657422"/>
                </a:solidFill>
                <a:latin typeface="Courier"/>
              </a:rPr>
              <a:t>net =</a:t>
            </a:r>
            <a:r>
              <a:rPr>
                <a:solidFill>
                  <a:srgbClr val="003B4F"/>
                </a:solidFill>
                <a:latin typeface="Courier"/>
              </a:rPr>
              <a:t> </a:t>
            </a:r>
            <a:r>
              <a:rPr>
                <a:solidFill>
                  <a:srgbClr val="4758AB"/>
                </a:solidFill>
                <a:latin typeface="Courier"/>
              </a:rPr>
              <a:t>rbinom</a:t>
            </a:r>
            <a:r>
              <a:rPr>
                <a:solidFill>
                  <a:srgbClr val="003B4F"/>
                </a:solidFill>
                <a:latin typeface="Courier"/>
              </a:rPr>
              <a:t>(N_c, </a:t>
            </a:r>
            <a:r>
              <a:rPr>
                <a:solidFill>
                  <a:srgbClr val="AD0000"/>
                </a:solidFill>
                <a:latin typeface="Courier"/>
              </a:rPr>
              <a:t>1</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anaemia =</a:t>
            </a:r>
            <a:r>
              <a:rPr>
                <a:solidFill>
                  <a:srgbClr val="003B4F"/>
                </a:solidFill>
                <a:latin typeface="Courier"/>
              </a:rPr>
              <a:t> </a:t>
            </a:r>
            <a:r>
              <a:rPr>
                <a:solidFill>
                  <a:srgbClr val="4758AB"/>
                </a:solidFill>
                <a:latin typeface="Courier"/>
              </a:rPr>
              <a:t>rbinom</a:t>
            </a:r>
            <a:r>
              <a:rPr>
                <a:solidFill>
                  <a:srgbClr val="003B4F"/>
                </a:solidFill>
                <a:latin typeface="Courier"/>
              </a:rPr>
              <a:t>(N_c, </a:t>
            </a:r>
            <a:r>
              <a:rPr>
                <a:solidFill>
                  <a:srgbClr val="AD0000"/>
                </a:solidFill>
                <a:latin typeface="Courier"/>
              </a:rPr>
              <a:t>1</a:t>
            </a:r>
            <a:r>
              <a:rPr>
                <a:solidFill>
                  <a:srgbClr val="003B4F"/>
                </a:solidFill>
                <a:latin typeface="Courier"/>
              </a:rPr>
              <a:t>, </a:t>
            </a:r>
            <a:r>
              <a:rPr>
                <a:solidFill>
                  <a:srgbClr val="4758AB"/>
                </a:solidFill>
                <a:latin typeface="Courier"/>
              </a:rPr>
              <a:t>plogis</a:t>
            </a:r>
            <a:r>
              <a:rPr>
                <a:solidFill>
                  <a:srgbClr val="003B4F"/>
                </a:solidFill>
                <a:latin typeface="Courier"/>
              </a:rPr>
              <a:t>(</a:t>
            </a:r>
            <a:r>
              <a:rPr>
                <a:solidFill>
                  <a:srgbClr val="5E5E5E"/>
                </a:solidFill>
                <a:latin typeface="Courier"/>
              </a:rPr>
              <a:t>-</a:t>
            </a:r>
            <a:r>
              <a:rPr>
                <a:solidFill>
                  <a:srgbClr val="AD0000"/>
                </a:solidFill>
                <a:latin typeface="Courier"/>
              </a:rPr>
              <a:t>0.5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0.4</a:t>
            </a:r>
            <a:r>
              <a:rPr>
                <a:solidFill>
                  <a:srgbClr val="003B4F"/>
                </a:solidFill>
                <a:latin typeface="Courier"/>
              </a:rPr>
              <a:t>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a:t>
            </a:r>
            <a:r>
              <a:rPr>
                <a:solidFill>
                  <a:srgbClr val="AD0000"/>
                </a:solidFill>
                <a:latin typeface="Courier"/>
              </a:rPr>
              <a:t>2.75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0.8</a:t>
            </a:r>
            <a:r>
              <a:rPr>
                <a:solidFill>
                  <a:srgbClr val="003B4F"/>
                </a:solidFill>
                <a:latin typeface="Courier"/>
              </a:rPr>
              <a:t> </a:t>
            </a:r>
            <a:r>
              <a:rPr>
                <a:solidFill>
                  <a:srgbClr val="5E5E5E"/>
                </a:solidFill>
                <a:latin typeface="Courier"/>
              </a:rPr>
              <a:t>*</a:t>
            </a:r>
            <a:r>
              <a:rPr>
                <a:solidFill>
                  <a:srgbClr val="003B4F"/>
                </a:solidFill>
                <a:latin typeface="Courier"/>
              </a:rPr>
              <a:t> net)),</a:t>
            </a:r>
            <a:br/>
            <a:r>
              <a:rPr>
                <a:solidFill>
                  <a:srgbClr val="003B4F"/>
                </a:solidFill>
                <a:latin typeface="Courier"/>
              </a:rPr>
              <a:t>         </a:t>
            </a:r>
            <a:r>
              <a:rPr>
                <a:solidFill>
                  <a:srgbClr val="657422"/>
                </a:solidFill>
                <a:latin typeface="Courier"/>
              </a:rPr>
              <a:t>age_c   =</a:t>
            </a:r>
            <a:r>
              <a:rPr>
                <a:solidFill>
                  <a:srgbClr val="003B4F"/>
                </a:solidFill>
                <a:latin typeface="Courier"/>
              </a:rPr>
              <a:t> age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(age))</a:t>
            </a:r>
            <a:br/>
            <a:br/>
            <a:r>
              <a:rPr>
                <a:solidFill>
                  <a:srgbClr val="003B4F"/>
                </a:solidFill>
                <a:latin typeface="Courier"/>
              </a:rPr>
              <a:t>anaemia_df </a:t>
            </a:r>
            <a:r>
              <a:rPr>
                <a:solidFill>
                  <a:srgbClr val="5E5E5E"/>
                </a:solidFill>
                <a:latin typeface="Courier"/>
              </a:rPr>
              <a:t>|&gt;</a:t>
            </a:r>
            <a:r>
              <a:rPr>
                <a:solidFill>
                  <a:srgbClr val="003B4F"/>
                </a:solidFill>
                <a:latin typeface="Courier"/>
              </a:rPr>
              <a:t> </a:t>
            </a:r>
            <a:r>
              <a:rPr>
                <a:solidFill>
                  <a:srgbClr val="4758AB"/>
                </a:solidFill>
                <a:latin typeface="Courier"/>
              </a:rPr>
              <a:t>group_by</a:t>
            </a:r>
            <a:r>
              <a:rPr>
                <a:solidFill>
                  <a:srgbClr val="003B4F"/>
                </a:solidFill>
                <a:latin typeface="Courier"/>
              </a:rPr>
              <a:t>(net) </a:t>
            </a:r>
            <a:r>
              <a:rPr>
                <a:solidFill>
                  <a:srgbClr val="5E5E5E"/>
                </a:solidFill>
                <a:latin typeface="Courier"/>
              </a:rPr>
              <a:t>|&gt;</a:t>
            </a: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 </a:t>
            </a:r>
            <a:r>
              <a:rPr>
                <a:solidFill>
                  <a:srgbClr val="657422"/>
                </a:solidFill>
                <a:latin typeface="Courier"/>
              </a:rPr>
              <a:t>prevalence =</a:t>
            </a:r>
            <a:r>
              <a:rPr>
                <a:solidFill>
                  <a:srgbClr val="003B4F"/>
                </a:solidFill>
                <a:latin typeface="Courier"/>
              </a:rPr>
              <a:t> </a:t>
            </a:r>
            <a:r>
              <a:rPr>
                <a:solidFill>
                  <a:srgbClr val="4758AB"/>
                </a:solidFill>
                <a:latin typeface="Courier"/>
              </a:rPr>
              <a:t>mean</a:t>
            </a:r>
            <a:r>
              <a:rPr>
                <a:solidFill>
                  <a:srgbClr val="003B4F"/>
                </a:solidFill>
                <a:latin typeface="Courier"/>
              </a:rPr>
              <a:t>(anaemia))</a:t>
            </a:r>
          </a:p>
          <a:p>
            <a:pPr lvl="0" indent="0">
              <a:buNone/>
            </a:pPr>
            <a:r>
              <a:rPr>
                <a:latin typeface="Courier"/>
              </a:rPr>
              <a:t># A tibble: 2 × 3
    net     n prevalence
  &lt;int&gt; &lt;int&gt;      &lt;dbl&gt;
1     0   125      0.408
2     1   175      0.274</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The model has two kinds of coefficient, on different scales, so they get different priors and different checks.</a:t>
                </a:r>
              </a:p>
              <a:p>
                <a:pPr lvl="0" indent="0" marL="0">
                  <a:buNone/>
                </a:pPr>
                <a14:m>
                  <m:oMathPara xmlns:m="http://schemas.openxmlformats.org/officeDocument/2006/math">
                    <m:oMathParaPr>
                      <m:jc m:val="center"/>
                    </m:oMathParaPr>
                    <m:oMath>
                      <m:r>
                        <m:t> </m:t>
                      </m:r>
                    </m:oMath>
                  </m:oMathPara>
                </a14:m>
              </a:p>
              <a:p>
                <a:pPr lvl="0" indent="0" marL="0">
                  <a:buNone/>
                </a:pPr>
                <a:r>
                  <a:rPr b="1"/>
                  <a:t>The intercept.</a:t>
                </a:r>
                <a:r>
                  <a:rPr/>
                  <a:t> </a:t>
                </a:r>
                <a14:m>
                  <m:oMath xmlns:m="http://schemas.openxmlformats.org/officeDocument/2006/math">
                    <m:sSub>
                      <m:e>
                        <m:r>
                          <m:t>β</m:t>
                        </m:r>
                      </m:e>
                      <m:sub>
                        <m:r>
                          <m:t>0</m:t>
                        </m:r>
                      </m:sub>
                    </m:sSub>
                  </m:oMath>
                </a14:m>
                <a:r>
                  <a:rPr/>
                  <a:t> is the log-odds of anaemia for a child of average age without a net. We know anaemia is common but not universal in this population, and we want a prior that allows any plausible prevalence. The quantity to check is therefore the implied </a:t>
                </a:r>
                <a:r>
                  <a:rPr b="1"/>
                  <a:t>prevalence</a:t>
                </a:r>
                <a:r>
                  <a:rPr/>
                  <a:t>, </a:t>
                </a:r>
                <a14:m>
                  <m:oMath xmlns:m="http://schemas.openxmlformats.org/officeDocument/2006/math">
                    <m:sSup>
                      <m:e>
                        <m:r>
                          <m:rPr>
                            <m:nor/>
                            <m:sty m:val="p"/>
                          </m:rPr>
                          <m:t>logit</m:t>
                        </m:r>
                      </m:e>
                      <m:sup>
                        <m:r>
                          <m:rPr>
                            <m:sty m:val="p"/>
                          </m:rPr>
                          <m:t>−</m:t>
                        </m:r>
                        <m:r>
                          <m:t>1</m:t>
                        </m:r>
                      </m:sup>
                    </m:sSup>
                    <m:r>
                      <m:rPr>
                        <m:sty m:val="p"/>
                      </m:rPr>
                      <m:t>(</m:t>
                    </m:r>
                    <m:sSub>
                      <m:e>
                        <m:r>
                          <m:t>β</m:t>
                        </m:r>
                      </m:e>
                      <m:sub>
                        <m:r>
                          <m:t>0</m:t>
                        </m:r>
                      </m:sub>
                    </m:sSub>
                    <m:r>
                      <m:rPr>
                        <m:sty m:val="p"/>
                      </m:rPr>
                      <m:t>)</m:t>
                    </m:r>
                  </m:oMath>
                </a14:m>
                <a:r>
                  <a:rPr/>
                  <a:t>. We compare </a:t>
                </a:r>
                <a14:m>
                  <m:oMath xmlns:m="http://schemas.openxmlformats.org/officeDocument/2006/math">
                    <m:sSub>
                      <m:e>
                        <m:r>
                          <m:t>β</m:t>
                        </m:r>
                      </m:e>
                      <m:sub>
                        <m:r>
                          <m:t>0</m:t>
                        </m:r>
                      </m:sub>
                    </m:sSub>
                    <m:r>
                      <m:rPr>
                        <m:sty m:val="p"/>
                      </m:rPr>
                      <m:t>∼</m:t>
                    </m:r>
                    <m:r>
                      <m:rPr>
                        <m:scr m:val="script"/>
                        <m:sty m:val="p"/>
                      </m:rPr>
                      <m:t>N</m:t>
                    </m:r>
                    <m:r>
                      <m:rPr>
                        <m:sty m:val="p"/>
                      </m:rPr>
                      <m:t>(</m:t>
                    </m:r>
                    <m:r>
                      <m:t>0</m:t>
                    </m:r>
                    <m:r>
                      <m:rPr>
                        <m:sty m:val="p"/>
                      </m:rPr>
                      <m:t>,</m:t>
                    </m:r>
                    <m:sSup>
                      <m:e>
                        <m:r>
                          <m:t>1.5</m:t>
                        </m:r>
                      </m:e>
                      <m:sup>
                        <m:r>
                          <m:t>2</m:t>
                        </m:r>
                      </m:sup>
                    </m:sSup>
                    <m:r>
                      <m:rPr>
                        <m:sty m:val="p"/>
                      </m:rPr>
                      <m:t>)</m:t>
                    </m:r>
                  </m:oMath>
                </a14:m>
                <a:r>
                  <a:rPr/>
                  <a:t> with the “vague” </a:t>
                </a:r>
                <a14:m>
                  <m:oMath xmlns:m="http://schemas.openxmlformats.org/officeDocument/2006/math">
                    <m:r>
                      <m:rPr>
                        <m:scr m:val="script"/>
                        <m:sty m:val="p"/>
                      </m:rPr>
                      <m:t>N</m:t>
                    </m:r>
                    <m:r>
                      <m:rPr>
                        <m:sty m:val="p"/>
                      </m:rPr>
                      <m:t>(</m:t>
                    </m:r>
                    <m:r>
                      <m:t>0</m:t>
                    </m:r>
                    <m:r>
                      <m:rPr>
                        <m:sty m:val="p"/>
                      </m:rPr>
                      <m:t>,</m:t>
                    </m:r>
                    <m:sSup>
                      <m:e>
                        <m:r>
                          <m:t>100</m:t>
                        </m:r>
                      </m:e>
                      <m:sup>
                        <m:r>
                          <m:t>2</m:t>
                        </m:r>
                      </m:sup>
                    </m:sSup>
                    <m:r>
                      <m:rPr>
                        <m:sty m:val="p"/>
                      </m:rPr>
                      <m:t>)</m:t>
                    </m:r>
                  </m:oMath>
                </a14:m>
                <a:r>
                  <a:rPr/>
                  <a:t> often seen in older code:</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S &lt;- </a:t>
            </a:r>
            <a:r>
              <a:rPr>
                <a:solidFill>
                  <a:srgbClr val="AD0000"/>
                </a:solidFill>
                <a:latin typeface="Courier"/>
              </a:rPr>
              <a:t>1e4</a:t>
            </a:r>
            <a:br/>
            <a:r>
              <a:rPr>
                <a:solidFill>
                  <a:srgbClr val="4758AB"/>
                </a:solidFill>
                <a:latin typeface="Courier"/>
              </a:rPr>
              <a:t>tibble</a:t>
            </a:r>
            <a:r>
              <a:rPr>
                <a:solidFill>
                  <a:srgbClr val="003B4F"/>
                </a:solidFill>
                <a:latin typeface="Courier"/>
              </a:rPr>
              <a:t>(</a:t>
            </a:r>
            <a:r>
              <a:rPr>
                <a:solidFill>
                  <a:srgbClr val="20794D"/>
                </a:solidFill>
                <a:latin typeface="Courier"/>
              </a:rPr>
              <a:t>`</a:t>
            </a:r>
            <a:r>
              <a:rPr>
                <a:solidFill>
                  <a:srgbClr val="657422"/>
                </a:solidFill>
                <a:latin typeface="Courier"/>
              </a:rPr>
              <a:t>weakly informative: N(0, 1.5^2)</a:t>
            </a:r>
            <a:r>
              <a:rPr>
                <a:solidFill>
                  <a:srgbClr val="20794D"/>
                </a:solidFill>
                <a:latin typeface="Courier"/>
              </a:rPr>
              <a:t>`</a:t>
            </a:r>
            <a:r>
              <a:rPr>
                <a:solidFill>
                  <a:srgbClr val="003B4F"/>
                </a:solidFill>
                <a:latin typeface="Courier"/>
              </a:rPr>
              <a:t> = </a:t>
            </a:r>
            <a:r>
              <a:rPr>
                <a:solidFill>
                  <a:srgbClr val="4758AB"/>
                </a:solidFill>
                <a:latin typeface="Courier"/>
              </a:rPr>
              <a:t>plogis</a:t>
            </a:r>
            <a:r>
              <a:rPr>
                <a:solidFill>
                  <a:srgbClr val="003B4F"/>
                </a:solidFill>
                <a:latin typeface="Courier"/>
              </a:rPr>
              <a:t>(</a:t>
            </a:r>
            <a:r>
              <a:rPr>
                <a:solidFill>
                  <a:srgbClr val="4758AB"/>
                </a:solidFill>
                <a:latin typeface="Courier"/>
              </a:rPr>
              <a:t>rnorm</a:t>
            </a:r>
            <a:r>
              <a:rPr>
                <a:solidFill>
                  <a:srgbClr val="003B4F"/>
                </a:solidFill>
                <a:latin typeface="Courier"/>
              </a:rPr>
              <a:t>(S, </a:t>
            </a:r>
            <a:r>
              <a:rPr>
                <a:solidFill>
                  <a:srgbClr val="AD0000"/>
                </a:solidFill>
                <a:latin typeface="Courier"/>
              </a:rPr>
              <a:t>0</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"vague": N(0, 100^2)</a:t>
            </a:r>
            <a:r>
              <a:rPr>
                <a:solidFill>
                  <a:srgbClr val="20794D"/>
                </a:solidFill>
                <a:latin typeface="Courier"/>
              </a:rPr>
              <a:t>`</a:t>
            </a:r>
            <a:r>
              <a:rPr>
                <a:solidFill>
                  <a:srgbClr val="003B4F"/>
                </a:solidFill>
                <a:latin typeface="Courier"/>
              </a:rPr>
              <a:t>           = </a:t>
            </a:r>
            <a:r>
              <a:rPr>
                <a:solidFill>
                  <a:srgbClr val="4758AB"/>
                </a:solidFill>
                <a:latin typeface="Courier"/>
              </a:rPr>
              <a:t>plogis</a:t>
            </a:r>
            <a:r>
              <a:rPr>
                <a:solidFill>
                  <a:srgbClr val="003B4F"/>
                </a:solidFill>
                <a:latin typeface="Courier"/>
              </a:rPr>
              <a:t>(</a:t>
            </a:r>
            <a:r>
              <a:rPr>
                <a:solidFill>
                  <a:srgbClr val="4758AB"/>
                </a:solidFill>
                <a:latin typeface="Courier"/>
              </a:rPr>
              <a:t>rnorm</a:t>
            </a:r>
            <a:r>
              <a:rPr>
                <a:solidFill>
                  <a:srgbClr val="003B4F"/>
                </a:solidFill>
                <a:latin typeface="Courier"/>
              </a:rPr>
              <a:t>(S, </a:t>
            </a:r>
            <a:r>
              <a:rPr>
                <a:solidFill>
                  <a:srgbClr val="AD0000"/>
                </a:solidFill>
                <a:latin typeface="Courier"/>
              </a:rPr>
              <a:t>0</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pivot_longer</a:t>
            </a:r>
            <a:r>
              <a:rPr>
                <a:solidFill>
                  <a:srgbClr val="003B4F"/>
                </a:solidFill>
                <a:latin typeface="Courier"/>
              </a:rPr>
              <a:t>(</a:t>
            </a:r>
            <a:r>
              <a:rPr>
                <a:solidFill>
                  <a:srgbClr val="4758AB"/>
                </a:solidFill>
                <a:latin typeface="Courier"/>
              </a:rPr>
              <a:t>everything</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(value)) </a:t>
            </a:r>
            <a:r>
              <a:rPr>
                <a:solidFill>
                  <a:srgbClr val="5E5E5E"/>
                </a:solidFill>
                <a:latin typeface="Courier"/>
              </a:rPr>
              <a:t>+</a:t>
            </a: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bins =</a:t>
            </a:r>
            <a:r>
              <a:rPr>
                <a:solidFill>
                  <a:srgbClr val="003B4F"/>
                </a:solidFill>
                <a:latin typeface="Courier"/>
              </a:rPr>
              <a:t> </a:t>
            </a:r>
            <a:r>
              <a:rPr>
                <a:solidFill>
                  <a:srgbClr val="AD0000"/>
                </a:solidFill>
                <a:latin typeface="Courier"/>
              </a:rPr>
              <a:t>40</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"steelblue"</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"white"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name,</a:t>
            </a:r>
            <a:r>
              <a:rPr>
                <a:solidFill>
                  <a:srgbClr val="657422"/>
                </a:solidFill>
                <a:latin typeface="Courier"/>
              </a:rPr>
              <a:t>nrow=</a:t>
            </a:r>
            <a:r>
              <a:rPr>
                <a:solidFill>
                  <a:srgbClr val="AD0000"/>
                </a:solidFill>
                <a:latin typeface="Courier"/>
              </a:rPr>
              <a:t>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"prior predictive prevalence (average age, no net)"</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"count"</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p:pic>
        <p:nvPicPr>
          <p:cNvPr descr="Chanco_STA623_BDA_2026_Henrion_Session5_files/figure-pptx/unnamed-chunk-3-1.png" id="0" name="Picture 1"/>
          <p:cNvPicPr>
            <a:picLocks noGrp="1" noChangeAspect="1"/>
          </p:cNvPicPr>
          <p:nvPr/>
        </p:nvPicPr>
        <p:blipFill>
          <a:blip r:embed="rId2"/>
          <a:stretch>
            <a:fillRect/>
          </a:stretch>
        </p:blipFill>
        <p:spPr bwMode="auto">
          <a:xfrm>
            <a:off x="838200" y="2387600"/>
            <a:ext cx="10515600" cy="35052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 xmlns:m="http://schemas.openxmlformats.org/officeDocument/2006/math">
                    <m:r>
                      <m:rPr>
                        <m:scr m:val="script"/>
                        <m:sty m:val="p"/>
                      </m:rPr>
                      <m:t>N</m:t>
                    </m:r>
                    <m:r>
                      <m:rPr>
                        <m:sty m:val="p"/>
                      </m:rPr>
                      <m:t>(</m:t>
                    </m:r>
                    <m:r>
                      <m:t>0</m:t>
                    </m:r>
                    <m:r>
                      <m:rPr>
                        <m:sty m:val="p"/>
                      </m:rPr>
                      <m:t>,</m:t>
                    </m:r>
                    <m:sSup>
                      <m:e>
                        <m:r>
                          <m:t>1.5</m:t>
                        </m:r>
                      </m:e>
                      <m:sup>
                        <m:r>
                          <m:t>2</m:t>
                        </m:r>
                      </m:sup>
                    </m:sSup>
                    <m:r>
                      <m:rPr>
                        <m:sty m:val="p"/>
                      </m:rPr>
                      <m:t>)</m:t>
                    </m:r>
                  </m:oMath>
                </a14:m>
                <a:r>
                  <a:rPr/>
                  <a:t> spreads prevalence across the whole range without piling up at the extremes. The “vague” prior claims that prevalence is almost certainly either close to 0% or close to 100%: it is anything but uninformative.</a:t>
                </a:r>
              </a:p>
              <a:p>
                <a:pPr lvl="0" indent="0" marL="0">
                  <a:buNone/>
                </a:pPr>
                <a:r>
                  <a:rPr b="1"/>
                  <a:t>The slopes.</a:t>
                </a:r>
                <a:r>
                  <a:rPr/>
                  <a:t> </a:t>
                </a:r>
                <a14:m>
                  <m:oMath xmlns:m="http://schemas.openxmlformats.org/officeDocument/2006/math">
                    <m:sSub>
                      <m:e>
                        <m:r>
                          <m:t>β</m:t>
                        </m:r>
                      </m:e>
                      <m:sub>
                        <m:r>
                          <m:rPr>
                            <m:nor/>
                            <m:sty m:val="p"/>
                          </m:rPr>
                          <m:t>net</m:t>
                        </m:r>
                      </m:sub>
                    </m:sSub>
                  </m:oMath>
                </a14:m>
                <a:r>
                  <a:rPr/>
                  <a:t> and </a:t>
                </a:r>
                <a14:m>
                  <m:oMath xmlns:m="http://schemas.openxmlformats.org/officeDocument/2006/math">
                    <m:sSub>
                      <m:e>
                        <m:r>
                          <m:t>β</m:t>
                        </m:r>
                      </m:e>
                      <m:sub>
                        <m:r>
                          <m:rPr>
                            <m:nor/>
                            <m:sty m:val="p"/>
                          </m:rPr>
                          <m:t>age</m:t>
                        </m:r>
                      </m:sub>
                    </m:sSub>
                  </m:oMath>
                </a14:m>
                <a:r>
                  <a:rPr/>
                  <a:t> are log odds ratios: </a:t>
                </a:r>
                <a:r>
                  <a:rPr i="1"/>
                  <a:t>differences</a:t>
                </a:r>
                <a:r>
                  <a:rPr/>
                  <a:t> in log-odds. Here the question is how large an effect is plausible, so the quantity to check is the implied </a:t>
                </a:r>
                <a:r>
                  <a:rPr b="1"/>
                  <a:t>odds ratio</a:t>
                </a:r>
                <a:r>
                  <a:rPr/>
                  <a:t> </a:t>
                </a:r>
                <a14:m>
                  <m:oMath xmlns:m="http://schemas.openxmlformats.org/officeDocument/2006/math">
                    <m:sSup>
                      <m:e>
                        <m:r>
                          <m:t>e</m:t>
                        </m:r>
                      </m:e>
                      <m:sup>
                        <m:r>
                          <m:t>β</m:t>
                        </m:r>
                      </m:sup>
                    </m:sSup>
                  </m:oMath>
                </a14:m>
                <a:r>
                  <a:rPr/>
                  <a:t>. We use </a:t>
                </a:r>
                <a14:m>
                  <m:oMath xmlns:m="http://schemas.openxmlformats.org/officeDocument/2006/math">
                    <m:r>
                      <m:rPr>
                        <m:scr m:val="script"/>
                        <m:sty m:val="p"/>
                      </m:rPr>
                      <m:t>N</m:t>
                    </m:r>
                    <m:r>
                      <m:rPr>
                        <m:sty m:val="p"/>
                      </m:rPr>
                      <m:t>(</m:t>
                    </m:r>
                    <m:r>
                      <m:t>0</m:t>
                    </m:r>
                    <m:r>
                      <m:rPr>
                        <m:sty m:val="p"/>
                      </m:rPr>
                      <m:t>,</m:t>
                    </m:r>
                    <m:r>
                      <m:t>1</m:t>
                    </m:r>
                    <m:r>
                      <m:rPr>
                        <m:sty m:val="p"/>
                      </m:rPr>
                      <m:t>)</m:t>
                    </m:r>
                  </m:oMath>
                </a14:m>
                <a:r>
                  <a:rPr/>
                  <a:t>:</a:t>
                </a:r>
              </a:p>
              <a:p>
                <a:pPr lvl="0" indent="0">
                  <a:buNone/>
                </a:pPr>
                <a:r>
                  <a:rPr>
                    <a:solidFill>
                      <a:srgbClr val="4758AB"/>
                    </a:solidFill>
                    <a:latin typeface="Courier"/>
                  </a:rPr>
                  <a:t>quantile</a:t>
                </a:r>
                <a:r>
                  <a:rPr>
                    <a:solidFill>
                      <a:srgbClr val="003B4F"/>
                    </a:solidFill>
                    <a:latin typeface="Courier"/>
                  </a:rPr>
                  <a:t>(</a:t>
                </a:r>
                <a:r>
                  <a:rPr>
                    <a:solidFill>
                      <a:srgbClr val="4758AB"/>
                    </a:solidFill>
                    <a:latin typeface="Courier"/>
                  </a:rPr>
                  <a:t>exp</a:t>
                </a:r>
                <a:r>
                  <a:rPr>
                    <a:solidFill>
                      <a:srgbClr val="003B4F"/>
                    </a:solidFill>
                    <a:latin typeface="Courier"/>
                  </a:rPr>
                  <a:t>(</a:t>
                </a:r>
                <a:r>
                  <a:rPr>
                    <a:solidFill>
                      <a:srgbClr val="4758AB"/>
                    </a:solidFill>
                    <a:latin typeface="Courier"/>
                  </a:rPr>
                  <a:t>rnorm</a:t>
                </a:r>
                <a:r>
                  <a:rPr>
                    <a:solidFill>
                      <a:srgbClr val="003B4F"/>
                    </a:solidFill>
                    <a:latin typeface="Courier"/>
                  </a:rPr>
                  <a:t>(S, </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0.025</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AD0000"/>
                    </a:solidFill>
                    <a:latin typeface="Courier"/>
                  </a:rPr>
                  <a:t>0.975</a:t>
                </a:r>
                <a:r>
                  <a:rPr>
                    <a:solidFill>
                      <a:srgbClr val="003B4F"/>
                    </a:solidFill>
                    <a:latin typeface="Courier"/>
                  </a:rPr>
                  <a:t>))   </a:t>
                </a:r>
                <a:r>
                  <a:rPr>
                    <a:solidFill>
                      <a:srgbClr val="5E5E5E"/>
                    </a:solidFill>
                    <a:latin typeface="Courier"/>
                  </a:rPr>
                  <a:t># implied prior for an odds ratio</a:t>
                </a:r>
              </a:p>
              <a:p>
                <a:pPr lvl="0" indent="0">
                  <a:buNone/>
                </a:pPr>
                <a:r>
                  <a:rPr>
                    <a:latin typeface="Courier"/>
                  </a:rPr>
                  <a:t>     2.5%       50%     97.5% 
0.1348073 0.9904853 7.1473704 </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This gives odds ratios between about 0.14 and 7 with 95% prior probability, which comfortably covers realistic effects of an exposure such as bed-net use while ruling out absurd ones (an odds ratio of 1000).</a:t>
            </a:r>
          </a:p>
          <a:p>
            <a:pPr lvl="0" indent="0" marL="0">
              <a:buNone/>
            </a:pPr>
            <a:r>
              <a:rPr/>
              <a:t>The slopes get a smaller SD than the intercept because effects are usually more constrained than baselines: prevalence could plausibly be anywhere from 5% to 90%, but an exposure that multiplies the odds by 20 is rare.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Priors, checked on interpretable scales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 xmlns:m="http://schemas.openxmlformats.org/officeDocument/2006/math">
                    <m:r>
                      <m:rPr>
                        <m:scr m:val="script"/>
                        <m:sty m:val="p"/>
                      </m:rPr>
                      <m:t>N</m:t>
                    </m:r>
                    <m:r>
                      <m:rPr>
                        <m:sty m:val="p"/>
                      </m:rPr>
                      <m:t>(</m:t>
                    </m:r>
                    <m:r>
                      <m:t>0</m:t>
                    </m:r>
                    <m:r>
                      <m:rPr>
                        <m:sty m:val="p"/>
                      </m:rPr>
                      <m:t>,</m:t>
                    </m:r>
                    <m:sSup>
                      <m:e>
                        <m:r>
                          <m:t>1.5</m:t>
                        </m:r>
                      </m:e>
                      <m:sup>
                        <m:r>
                          <m:t>2</m:t>
                        </m:r>
                      </m:sup>
                    </m:sSup>
                    <m:r>
                      <m:rPr>
                        <m:sty m:val="p"/>
                      </m:rPr>
                      <m:t>)</m:t>
                    </m:r>
                  </m:oMath>
                </a14:m>
                <a:r>
                  <a:rPr/>
                  <a:t> for the slopes would be equally defensible. With 300 children the choice hardly matters: the standard error of </a:t>
                </a:r>
                <a14:m>
                  <m:oMath xmlns:m="http://schemas.openxmlformats.org/officeDocument/2006/math">
                    <m:sSub>
                      <m:e>
                        <m:r>
                          <m:t>β</m:t>
                        </m:r>
                      </m:e>
                      <m:sub>
                        <m:r>
                          <m:rPr>
                            <m:nor/>
                            <m:sty m:val="p"/>
                          </m:rPr>
                          <m:t>net</m:t>
                        </m:r>
                      </m:sub>
                    </m:sSub>
                  </m:oMath>
                </a14:m>
                <a:r>
                  <a:rPr/>
                  <a:t> is about 0.25, so its posterior mean is shrunk towards 0 by roughly 6% under </a:t>
                </a:r>
                <a14:m>
                  <m:oMath xmlns:m="http://schemas.openxmlformats.org/officeDocument/2006/math">
                    <m:r>
                      <m:rPr>
                        <m:scr m:val="script"/>
                        <m:sty m:val="p"/>
                      </m:rPr>
                      <m:t>N</m:t>
                    </m:r>
                    <m:r>
                      <m:rPr>
                        <m:sty m:val="p"/>
                      </m:rPr>
                      <m:t>(</m:t>
                    </m:r>
                    <m:r>
                      <m:t>0</m:t>
                    </m:r>
                    <m:r>
                      <m:rPr>
                        <m:sty m:val="p"/>
                      </m:rPr>
                      <m:t>,</m:t>
                    </m:r>
                    <m:r>
                      <m:t>1</m:t>
                    </m:r>
                    <m:r>
                      <m:rPr>
                        <m:sty m:val="p"/>
                      </m:rPr>
                      <m:t>)</m:t>
                    </m:r>
                  </m:oMath>
                </a14:m>
                <a:r>
                  <a:rPr/>
                  <a:t> and 3% under </a:t>
                </a:r>
                <a14:m>
                  <m:oMath xmlns:m="http://schemas.openxmlformats.org/officeDocument/2006/math">
                    <m:r>
                      <m:rPr>
                        <m:scr m:val="script"/>
                        <m:sty m:val="p"/>
                      </m:rPr>
                      <m:t>N</m:t>
                    </m:r>
                    <m:r>
                      <m:rPr>
                        <m:sty m:val="p"/>
                      </m:rPr>
                      <m:t>(</m:t>
                    </m:r>
                    <m:r>
                      <m:t>0</m:t>
                    </m:r>
                    <m:r>
                      <m:rPr>
                        <m:sty m:val="p"/>
                      </m:rPr>
                      <m:t>,</m:t>
                    </m:r>
                    <m:sSup>
                      <m:e>
                        <m:r>
                          <m:t>1.5</m:t>
                        </m:r>
                      </m:e>
                      <m:sup>
                        <m:r>
                          <m:t>2</m:t>
                        </m:r>
                      </m:sup>
                    </m:sSup>
                    <m:r>
                      <m:rPr>
                        <m:sty m:val="p"/>
                      </m:rPr>
                      <m:t>)</m:t>
                    </m:r>
                  </m:oMath>
                </a14:m>
                <a:r>
                  <a:rPr/>
                  <a:t>. What matters is avoiding </a:t>
                </a:r>
                <a14:m>
                  <m:oMath xmlns:m="http://schemas.openxmlformats.org/officeDocument/2006/math">
                    <m:r>
                      <m:rPr>
                        <m:scr m:val="script"/>
                        <m:sty m:val="p"/>
                      </m:rPr>
                      <m:t>N</m:t>
                    </m:r>
                    <m:r>
                      <m:rPr>
                        <m:sty m:val="p"/>
                      </m:rPr>
                      <m:t>(</m:t>
                    </m:r>
                    <m:r>
                      <m:t>0</m:t>
                    </m:r>
                    <m:r>
                      <m:rPr>
                        <m:sty m:val="p"/>
                      </m:rPr>
                      <m:t>,</m:t>
                    </m:r>
                    <m:sSup>
                      <m:e>
                        <m:r>
                          <m:t>100</m:t>
                        </m:r>
                      </m:e>
                      <m:sup>
                        <m:r>
                          <m:t>2</m:t>
                        </m:r>
                      </m:sup>
                    </m:sSup>
                    <m:r>
                      <m:rPr>
                        <m:sty m:val="p"/>
                      </m:rPr>
                      <m:t>)</m:t>
                    </m:r>
                  </m:oMath>
                </a14:m>
                <a:r>
                  <a:rPr/>
                  <a:t>, which puts most of its mass on odds ratios above </a:t>
                </a:r>
                <a14:m>
                  <m:oMath xmlns:m="http://schemas.openxmlformats.org/officeDocument/2006/math">
                    <m:sSup>
                      <m:e>
                        <m:r>
                          <m:t>10</m:t>
                        </m:r>
                      </m:e>
                      <m:sup>
                        <m:r>
                          <m:t>20</m:t>
                        </m:r>
                      </m:sup>
                    </m:sSup>
                  </m:oMath>
                </a14:m>
                <a:r>
                  <a:rPr/>
                  <a:t> or below </a:t>
                </a:r>
                <a14:m>
                  <m:oMath xmlns:m="http://schemas.openxmlformats.org/officeDocument/2006/math">
                    <m:sSup>
                      <m:e>
                        <m:r>
                          <m:t>10</m:t>
                        </m:r>
                      </m:e>
                      <m:sup>
                        <m:r>
                          <m:rPr>
                            <m:sty m:val="p"/>
                          </m:rPr>
                          <m:t>−</m:t>
                        </m:r>
                        <m:r>
                          <m:t>20</m:t>
                        </m:r>
                      </m:sup>
                    </m:sSup>
                  </m:oMath>
                </a14:m>
                <a:r>
                  <a:rPr/>
                  <a:t>.</a:t>
                </a:r>
              </a:p>
              <a:p>
                <a:pPr lvl="0" indent="0" marL="0">
                  <a:buNone/>
                </a:pPr>
                <a14:m>
                  <m:oMath xmlns:m="http://schemas.openxmlformats.org/officeDocument/2006/math">
                    <m:sSub>
                      <m:e>
                        <m:r>
                          <m:t>β</m:t>
                        </m:r>
                      </m:e>
                      <m:sub>
                        <m:r>
                          <m:rPr>
                            <m:nor/>
                            <m:sty m:val="p"/>
                          </m:rPr>
                          <m:t>age</m:t>
                        </m:r>
                      </m:sub>
                    </m:sSub>
                  </m:oMath>
                </a14:m>
                <a:r>
                  <a:rPr/>
                  <a:t> is per year of age, so across the 4.5-year age range the </a:t>
                </a:r>
                <a14:m>
                  <m:oMath xmlns:m="http://schemas.openxmlformats.org/officeDocument/2006/math">
                    <m:r>
                      <m:rPr>
                        <m:scr m:val="script"/>
                        <m:sty m:val="p"/>
                      </m:rPr>
                      <m:t>N</m:t>
                    </m:r>
                    <m:r>
                      <m:rPr>
                        <m:sty m:val="p"/>
                      </m:rPr>
                      <m:t>(</m:t>
                    </m:r>
                    <m:r>
                      <m:t>0</m:t>
                    </m:r>
                    <m:r>
                      <m:rPr>
                        <m:sty m:val="p"/>
                      </m:rPr>
                      <m:t>,</m:t>
                    </m:r>
                    <m:r>
                      <m:t>1</m:t>
                    </m:r>
                    <m:r>
                      <m:rPr>
                        <m:sty m:val="p"/>
                      </m:rPr>
                      <m:t>)</m:t>
                    </m:r>
                  </m:oMath>
                </a14:m>
                <a:r>
                  <a:rPr/>
                  <a:t> prior still allows a very large cumulative age effect. If covariates are on very different scales, standardise them first so that one prior SD makes sense for all slopes.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Fitting the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logit_code &lt;- </a:t>
            </a:r>
            <a:r>
              <a:rPr>
                <a:solidFill>
                  <a:srgbClr val="4758AB"/>
                </a:solidFill>
                <a:latin typeface="Courier"/>
              </a:rPr>
              <a:t>nimbleCode</a:t>
            </a:r>
            <a:r>
              <a:rPr>
                <a:solidFill>
                  <a:srgbClr val="003B4F"/>
                </a:solidFill>
                <a:latin typeface="Courier"/>
              </a:rPr>
              <a:t>({</a:t>
            </a:r>
            <a:br/>
            <a:r>
              <a:rPr>
                <a:solidFill>
                  <a:srgbClr val="003B4F"/>
                </a:solidFill>
                <a:latin typeface="Courier"/>
              </a:rPr>
              <a:t>  </a:t>
            </a:r>
            <a:r>
              <a:rPr b="1">
                <a:solidFill>
                  <a:srgbClr val="003B4F"/>
                </a:solidFill>
                <a:latin typeface="Courier"/>
              </a:rPr>
              <a:t>for</a:t>
            </a:r>
            <a:r>
              <a:rPr>
                <a:solidFill>
                  <a:srgbClr val="003B4F"/>
                </a:solidFill>
                <a:latin typeface="Courier"/>
              </a:rPr>
              <a:t> (i </a:t>
            </a:r>
            <a:r>
              <a:rPr b="1">
                <a:solidFill>
                  <a:srgbClr val="003B4F"/>
                </a:solidFill>
                <a:latin typeface="Courier"/>
              </a:rPr>
              <a:t>in</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 {</a:t>
            </a:r>
            <a:br/>
            <a:r>
              <a:rPr>
                <a:solidFill>
                  <a:srgbClr val="003B4F"/>
                </a:solidFill>
                <a:latin typeface="Courier"/>
              </a:rPr>
              <a:t>    anaemia[i] </a:t>
            </a:r>
            <a:r>
              <a:rPr>
                <a:solidFill>
                  <a:srgbClr val="5E5E5E"/>
                </a:solidFill>
                <a:latin typeface="Courier"/>
              </a:rPr>
              <a:t>~</a:t>
            </a:r>
            <a:r>
              <a:rPr>
                <a:solidFill>
                  <a:srgbClr val="003B4F"/>
                </a:solidFill>
                <a:latin typeface="Courier"/>
              </a:rPr>
              <a:t> </a:t>
            </a:r>
            <a:r>
              <a:rPr>
                <a:solidFill>
                  <a:srgbClr val="4758AB"/>
                </a:solidFill>
                <a:latin typeface="Courier"/>
              </a:rPr>
              <a:t>dbern</a:t>
            </a:r>
            <a:r>
              <a:rPr>
                <a:solidFill>
                  <a:srgbClr val="003B4F"/>
                </a:solidFill>
                <a:latin typeface="Courier"/>
              </a:rPr>
              <a:t>(p[i])</a:t>
            </a:r>
            <a:br/>
            <a:r>
              <a:rPr>
                <a:solidFill>
                  <a:srgbClr val="003B4F"/>
                </a:solidFill>
                <a:latin typeface="Courier"/>
              </a:rPr>
              <a:t>    </a:t>
            </a:r>
            <a:r>
              <a:rPr>
                <a:solidFill>
                  <a:srgbClr val="4758AB"/>
                </a:solidFill>
                <a:latin typeface="Courier"/>
              </a:rPr>
              <a:t>logit</a:t>
            </a:r>
            <a:r>
              <a:rPr>
                <a:solidFill>
                  <a:srgbClr val="003B4F"/>
                </a:solidFill>
                <a:latin typeface="Courier"/>
              </a:rPr>
              <a:t>(p[i]) &lt;- b0 </a:t>
            </a:r>
            <a:r>
              <a:rPr>
                <a:solidFill>
                  <a:srgbClr val="5E5E5E"/>
                </a:solidFill>
                <a:latin typeface="Courier"/>
              </a:rPr>
              <a:t>+</a:t>
            </a:r>
            <a:r>
              <a:rPr>
                <a:solidFill>
                  <a:srgbClr val="003B4F"/>
                </a:solidFill>
                <a:latin typeface="Courier"/>
              </a:rPr>
              <a:t> b_age </a:t>
            </a:r>
            <a:r>
              <a:rPr>
                <a:solidFill>
                  <a:srgbClr val="5E5E5E"/>
                </a:solidFill>
                <a:latin typeface="Courier"/>
              </a:rPr>
              <a:t>*</a:t>
            </a:r>
            <a:r>
              <a:rPr>
                <a:solidFill>
                  <a:srgbClr val="003B4F"/>
                </a:solidFill>
                <a:latin typeface="Courier"/>
              </a:rPr>
              <a:t> age_c[i] </a:t>
            </a:r>
            <a:r>
              <a:rPr>
                <a:solidFill>
                  <a:srgbClr val="5E5E5E"/>
                </a:solidFill>
                <a:latin typeface="Courier"/>
              </a:rPr>
              <a:t>+</a:t>
            </a:r>
            <a:r>
              <a:rPr>
                <a:solidFill>
                  <a:srgbClr val="003B4F"/>
                </a:solidFill>
                <a:latin typeface="Courier"/>
              </a:rPr>
              <a:t> b_net </a:t>
            </a:r>
            <a:r>
              <a:rPr>
                <a:solidFill>
                  <a:srgbClr val="5E5E5E"/>
                </a:solidFill>
                <a:latin typeface="Courier"/>
              </a:rPr>
              <a:t>*</a:t>
            </a:r>
            <a:r>
              <a:rPr>
                <a:solidFill>
                  <a:srgbClr val="003B4F"/>
                </a:solidFill>
                <a:latin typeface="Courier"/>
              </a:rPr>
              <a:t> net[i]</a:t>
            </a:r>
            <a:br/>
            <a:r>
              <a:rPr>
                <a:solidFill>
                  <a:srgbClr val="003B4F"/>
                </a:solidFill>
                <a:latin typeface="Courier"/>
              </a:rPr>
              <a:t>  }</a:t>
            </a:r>
            <a:br/>
            <a:r>
              <a:rPr>
                <a:solidFill>
                  <a:srgbClr val="003B4F"/>
                </a:solidFill>
                <a:latin typeface="Courier"/>
              </a:rPr>
              <a:t>  b0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003B4F"/>
                </a:solidFill>
                <a:latin typeface="Courier"/>
              </a:rPr>
              <a:t>  b_age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b_net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Fitting the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logit_fit &lt;- </a:t>
            </a:r>
            <a:r>
              <a:rPr>
                <a:solidFill>
                  <a:srgbClr val="4758AB"/>
                </a:solidFill>
                <a:latin typeface="Courier"/>
              </a:rPr>
              <a:t>nimbleMCMC</a:t>
            </a:r>
            <a:r>
              <a:rPr>
                <a:solidFill>
                  <a:srgbClr val="003B4F"/>
                </a:solidFill>
                <a:latin typeface="Courier"/>
              </a:rPr>
              <a:t>(</a:t>
            </a:r>
            <a:br/>
            <a:r>
              <a:rPr>
                <a:solidFill>
                  <a:srgbClr val="003B4F"/>
                </a:solidFill>
                <a:latin typeface="Courier"/>
              </a:rPr>
              <a:t>  </a:t>
            </a:r>
            <a:r>
              <a:rPr>
                <a:solidFill>
                  <a:srgbClr val="657422"/>
                </a:solidFill>
                <a:latin typeface="Courier"/>
              </a:rPr>
              <a:t>code =</a:t>
            </a:r>
            <a:r>
              <a:rPr>
                <a:solidFill>
                  <a:srgbClr val="003B4F"/>
                </a:solidFill>
                <a:latin typeface="Courier"/>
              </a:rPr>
              <a:t> logit_code,</a:t>
            </a:r>
            <a:br/>
            <a:r>
              <a:rPr>
                <a:solidFill>
                  <a:srgbClr val="003B4F"/>
                </a:solidFill>
                <a:latin typeface="Courier"/>
              </a:rPr>
              <a:t>  </a:t>
            </a:r>
            <a:r>
              <a:rPr>
                <a:solidFill>
                  <a:srgbClr val="657422"/>
                </a:solidFill>
                <a:latin typeface="Courier"/>
              </a:rPr>
              <a:t>constants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N =</a:t>
            </a:r>
            <a:r>
              <a:rPr>
                <a:solidFill>
                  <a:srgbClr val="003B4F"/>
                </a:solidFill>
                <a:latin typeface="Courier"/>
              </a:rPr>
              <a:t> N_c, </a:t>
            </a:r>
            <a:r>
              <a:rPr>
                <a:solidFill>
                  <a:srgbClr val="657422"/>
                </a:solidFill>
                <a:latin typeface="Courier"/>
              </a:rPr>
              <a:t>age_c =</a:t>
            </a:r>
            <a:r>
              <a:rPr>
                <a:solidFill>
                  <a:srgbClr val="003B4F"/>
                </a:solidFill>
                <a:latin typeface="Courier"/>
              </a:rPr>
              <a:t> anaemia_df</a:t>
            </a:r>
            <a:r>
              <a:rPr>
                <a:solidFill>
                  <a:srgbClr val="5E5E5E"/>
                </a:solidFill>
                <a:latin typeface="Courier"/>
              </a:rPr>
              <a:t>$</a:t>
            </a:r>
            <a:r>
              <a:rPr>
                <a:solidFill>
                  <a:srgbClr val="003B4F"/>
                </a:solidFill>
                <a:latin typeface="Courier"/>
              </a:rPr>
              <a:t>age_c, </a:t>
            </a:r>
            <a:r>
              <a:rPr>
                <a:solidFill>
                  <a:srgbClr val="657422"/>
                </a:solidFill>
                <a:latin typeface="Courier"/>
              </a:rPr>
              <a:t>net =</a:t>
            </a:r>
            <a:r>
              <a:rPr>
                <a:solidFill>
                  <a:srgbClr val="003B4F"/>
                </a:solidFill>
                <a:latin typeface="Courier"/>
              </a:rPr>
              <a:t> anaemia_df</a:t>
            </a:r>
            <a:r>
              <a:rPr>
                <a:solidFill>
                  <a:srgbClr val="5E5E5E"/>
                </a:solidFill>
                <a:latin typeface="Courier"/>
              </a:rPr>
              <a:t>$</a:t>
            </a:r>
            <a:r>
              <a:rPr>
                <a:solidFill>
                  <a:srgbClr val="003B4F"/>
                </a:solidFill>
                <a:latin typeface="Courier"/>
              </a:rPr>
              <a:t>net),</a:t>
            </a:r>
            <a:br/>
            <a:r>
              <a:rPr>
                <a:solidFill>
                  <a:srgbClr val="003B4F"/>
                </a:solidFill>
                <a:latin typeface="Courier"/>
              </a:rPr>
              <a:t>  </a:t>
            </a:r>
            <a:r>
              <a:rPr>
                <a:solidFill>
                  <a:srgbClr val="657422"/>
                </a:solidFill>
                <a:latin typeface="Courier"/>
              </a:rPr>
              <a:t>data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anaemia =</a:t>
            </a:r>
            <a:r>
              <a:rPr>
                <a:solidFill>
                  <a:srgbClr val="003B4F"/>
                </a:solidFill>
                <a:latin typeface="Courier"/>
              </a:rPr>
              <a:t> anaemia_df</a:t>
            </a:r>
            <a:r>
              <a:rPr>
                <a:solidFill>
                  <a:srgbClr val="5E5E5E"/>
                </a:solidFill>
                <a:latin typeface="Courier"/>
              </a:rPr>
              <a:t>$</a:t>
            </a:r>
            <a:r>
              <a:rPr>
                <a:solidFill>
                  <a:srgbClr val="003B4F"/>
                </a:solidFill>
                <a:latin typeface="Courier"/>
              </a:rPr>
              <a:t>anaemia),</a:t>
            </a:r>
            <a:br/>
            <a:r>
              <a:rPr>
                <a:solidFill>
                  <a:srgbClr val="003B4F"/>
                </a:solidFill>
                <a:latin typeface="Courier"/>
              </a:rPr>
              <a:t>  </a:t>
            </a:r>
            <a:r>
              <a:rPr>
                <a:solidFill>
                  <a:srgbClr val="657422"/>
                </a:solidFill>
                <a:latin typeface="Courier"/>
              </a:rPr>
              <a:t>inits =</a:t>
            </a:r>
            <a:r>
              <a:rPr>
                <a:solidFill>
                  <a:srgbClr val="003B4F"/>
                </a:solidFill>
                <a:latin typeface="Courier"/>
              </a:rPr>
              <a:t> </a:t>
            </a:r>
            <a:r>
              <a:rPr b="1">
                <a:solidFill>
                  <a:srgbClr val="003B4F"/>
                </a:solidFill>
                <a:latin typeface="Courier"/>
              </a:rPr>
              <a:t>function</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b0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657422"/>
                </a:solidFill>
                <a:latin typeface="Courier"/>
              </a:rPr>
              <a:t>b_age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b_net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r>
              <a:rPr>
                <a:solidFill>
                  <a:srgbClr val="657422"/>
                </a:solidFill>
                <a:latin typeface="Courier"/>
              </a:rPr>
              <a:t>monitors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"b0"</a:t>
            </a:r>
            <a:r>
              <a:rPr>
                <a:solidFill>
                  <a:srgbClr val="003B4F"/>
                </a:solidFill>
                <a:latin typeface="Courier"/>
              </a:rPr>
              <a:t>, </a:t>
            </a:r>
            <a:r>
              <a:rPr>
                <a:solidFill>
                  <a:srgbClr val="20794D"/>
                </a:solidFill>
                <a:latin typeface="Courier"/>
              </a:rPr>
              <a:t>"b_age"</a:t>
            </a:r>
            <a:r>
              <a:rPr>
                <a:solidFill>
                  <a:srgbClr val="003B4F"/>
                </a:solidFill>
                <a:latin typeface="Courier"/>
              </a:rPr>
              <a:t>, </a:t>
            </a:r>
            <a:r>
              <a:rPr>
                <a:solidFill>
                  <a:srgbClr val="20794D"/>
                </a:solidFill>
                <a:latin typeface="Courier"/>
              </a:rPr>
              <a:t>"b_net"</a:t>
            </a:r>
            <a:r>
              <a:rPr>
                <a:solidFill>
                  <a:srgbClr val="003B4F"/>
                </a:solidFill>
                <a:latin typeface="Courier"/>
              </a:rPr>
              <a:t>),</a:t>
            </a:r>
            <a:br/>
            <a:r>
              <a:rPr>
                <a:solidFill>
                  <a:srgbClr val="003B4F"/>
                </a:solidFill>
                <a:latin typeface="Courier"/>
              </a:rPr>
              <a:t>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niter =</a:t>
            </a:r>
            <a:r>
              <a:rPr>
                <a:solidFill>
                  <a:srgbClr val="003B4F"/>
                </a:solidFill>
                <a:latin typeface="Courier"/>
              </a:rPr>
              <a:t> </a:t>
            </a:r>
            <a:r>
              <a:rPr>
                <a:solidFill>
                  <a:srgbClr val="AD0000"/>
                </a:solidFill>
                <a:latin typeface="Courier"/>
              </a:rPr>
              <a:t>6000</a:t>
            </a:r>
            <a:r>
              <a:rPr>
                <a:solidFill>
                  <a:srgbClr val="003B4F"/>
                </a:solidFill>
                <a:latin typeface="Courier"/>
              </a:rPr>
              <a:t>, </a:t>
            </a:r>
            <a:r>
              <a:rPr>
                <a:solidFill>
                  <a:srgbClr val="657422"/>
                </a:solidFill>
                <a:latin typeface="Courier"/>
              </a:rPr>
              <a:t>nburnin =</a:t>
            </a:r>
            <a:r>
              <a:rPr>
                <a:solidFill>
                  <a:srgbClr val="003B4F"/>
                </a:solidFill>
                <a:latin typeface="Courier"/>
              </a:rPr>
              <a:t> </a:t>
            </a:r>
            <a:r>
              <a:rPr>
                <a:solidFill>
                  <a:srgbClr val="AD0000"/>
                </a:solidFill>
                <a:latin typeface="Courier"/>
              </a:rPr>
              <a:t>1000</a:t>
            </a:r>
            <a:r>
              <a:rPr>
                <a:solidFill>
                  <a:srgbClr val="003B4F"/>
                </a:solidFill>
                <a:latin typeface="Courier"/>
              </a:rPr>
              <a:t>, </a:t>
            </a:r>
            <a:r>
              <a:rPr>
                <a:solidFill>
                  <a:srgbClr val="657422"/>
                </a:solidFill>
                <a:latin typeface="Courier"/>
              </a:rPr>
              <a:t>setSeed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progressBar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samplesAsCodaMCMC =</a:t>
            </a:r>
            <a:r>
              <a:rPr>
                <a:solidFill>
                  <a:srgbClr val="003B4F"/>
                </a:solidFill>
                <a:latin typeface="Courier"/>
              </a:rPr>
              <a:t> </a:t>
            </a:r>
            <a:r>
              <a:rPr>
                <a:solidFill>
                  <a:srgbClr val="8F5902"/>
                </a:solidFill>
                <a:latin typeface="Courier"/>
              </a:rPr>
              <a:t>TRUE</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Fitting the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summarise_draws</a:t>
            </a:r>
            <a:r>
              <a:rPr>
                <a:solidFill>
                  <a:srgbClr val="003B4F"/>
                </a:solidFill>
                <a:latin typeface="Courier"/>
              </a:rPr>
              <a:t>(</a:t>
            </a:r>
            <a:r>
              <a:rPr>
                <a:solidFill>
                  <a:srgbClr val="4758AB"/>
                </a:solidFill>
                <a:latin typeface="Courier"/>
              </a:rPr>
              <a:t>as_draws</a:t>
            </a:r>
            <a:r>
              <a:rPr>
                <a:solidFill>
                  <a:srgbClr val="003B4F"/>
                </a:solidFill>
                <a:latin typeface="Courier"/>
              </a:rPr>
              <a:t>(logit_fit), </a:t>
            </a:r>
            <a:r>
              <a:rPr>
                <a:solidFill>
                  <a:srgbClr val="20794D"/>
                </a:solidFill>
                <a:latin typeface="Courier"/>
              </a:rPr>
              <a:t>"mean"</a:t>
            </a:r>
            <a:r>
              <a:rPr>
                <a:solidFill>
                  <a:srgbClr val="003B4F"/>
                </a:solidFill>
                <a:latin typeface="Courier"/>
              </a:rPr>
              <a:t>, </a:t>
            </a:r>
            <a:r>
              <a:rPr>
                <a:solidFill>
                  <a:srgbClr val="20794D"/>
                </a:solidFill>
                <a:latin typeface="Courier"/>
              </a:rPr>
              <a:t>"sd"</a:t>
            </a:r>
            <a:r>
              <a:rPr>
                <a:solidFill>
                  <a:srgbClr val="003B4F"/>
                </a:solidFill>
                <a:latin typeface="Courier"/>
              </a:rPr>
              <a:t>, </a:t>
            </a:r>
            <a:r>
              <a:rPr>
                <a:solidFill>
                  <a:srgbClr val="5E5E5E"/>
                </a:solidFill>
                <a:latin typeface="Courier"/>
              </a:rPr>
              <a:t>~</a:t>
            </a:r>
            <a:r>
              <a:rPr>
                <a:solidFill>
                  <a:srgbClr val="4758AB"/>
                </a:solidFill>
                <a:latin typeface="Courier"/>
              </a:rPr>
              <a:t>quantile</a:t>
            </a:r>
            <a:r>
              <a:rPr>
                <a:solidFill>
                  <a:srgbClr val="003B4F"/>
                </a:solidFill>
                <a:latin typeface="Courier"/>
              </a:rPr>
              <a:t>(.x, </a:t>
            </a:r>
            <a:r>
              <a:rPr>
                <a:solidFill>
                  <a:srgbClr val="4758AB"/>
                </a:solidFill>
                <a:latin typeface="Courier"/>
              </a:rPr>
              <a:t>c</a:t>
            </a:r>
            <a:r>
              <a:rPr>
                <a:solidFill>
                  <a:srgbClr val="003B4F"/>
                </a:solidFill>
                <a:latin typeface="Courier"/>
              </a:rPr>
              <a:t>(</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 </a:t>
            </a:r>
            <a:r>
              <a:rPr>
                <a:solidFill>
                  <a:srgbClr val="20794D"/>
                </a:solidFill>
                <a:latin typeface="Courier"/>
              </a:rPr>
              <a:t>"ess_tail"</a:t>
            </a:r>
            <a:r>
              <a:rPr>
                <a:solidFill>
                  <a:srgbClr val="003B4F"/>
                </a:solidFill>
                <a:latin typeface="Courier"/>
              </a:rPr>
              <a:t>)</a:t>
            </a:r>
          </a:p>
          <a:p>
            <a:pPr lvl="0" indent="0">
              <a:buNone/>
            </a:pPr>
            <a:r>
              <a:rPr>
                <a:latin typeface="Courier"/>
              </a:rPr>
              <a:t># A tibble: 3 × 8
  variable   mean     sd `2.5%` `97.5%`  rhat ess_bulk ess_tail
  &lt;chr&gt;     &lt;dbl&gt;  &lt;dbl&gt;  &lt;dbl&gt;   &lt;dbl&gt; &lt;dbl&gt;    &lt;dbl&gt;    &lt;dbl&gt;
1 b0       -0.370 0.181  -0.729 -0.0212  1.00    1517.    2864.
2 b_age    -0.319 0.0958 -0.507 -0.133   1.00    4682.    4410.
3 b_net    -0.659 0.245  -1.13  -0.160   1.00    1537.    2763.</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Answering questions on interpretable scales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From the draws, any quantity is one line away: the odds ratio for bed nets, the probability that nets are protective, and the risk difference at a given age.</a:t>
            </a:r>
          </a:p>
          <a:p>
            <a:pPr lvl="0" indent="0">
              <a:buNone/>
            </a:pPr>
            <a:r>
              <a:rPr>
                <a:solidFill>
                  <a:srgbClr val="003B4F"/>
                </a:solidFill>
                <a:latin typeface="Courier"/>
              </a:rPr>
              <a:t>dr &lt;- </a:t>
            </a:r>
            <a:r>
              <a:rPr>
                <a:solidFill>
                  <a:srgbClr val="4758AB"/>
                </a:solidFill>
                <a:latin typeface="Courier"/>
              </a:rPr>
              <a:t>as.matrix</a:t>
            </a:r>
            <a:r>
              <a:rPr>
                <a:solidFill>
                  <a:srgbClr val="003B4F"/>
                </a:solidFill>
                <a:latin typeface="Courier"/>
              </a:rPr>
              <a:t>(logit_fit)</a:t>
            </a:r>
            <a:br/>
            <a:r>
              <a:rPr>
                <a:solidFill>
                  <a:srgbClr val="003B4F"/>
                </a:solidFill>
                <a:latin typeface="Courier"/>
              </a:rPr>
              <a:t>or_net &lt;- </a:t>
            </a:r>
            <a:r>
              <a:rPr>
                <a:solidFill>
                  <a:srgbClr val="4758AB"/>
                </a:solidFill>
                <a:latin typeface="Courier"/>
              </a:rPr>
              <a:t>exp</a:t>
            </a:r>
            <a:r>
              <a:rPr>
                <a:solidFill>
                  <a:srgbClr val="003B4F"/>
                </a:solidFill>
                <a:latin typeface="Courier"/>
              </a:rPr>
              <a:t>(dr[, </a:t>
            </a:r>
            <a:r>
              <a:rPr>
                <a:solidFill>
                  <a:srgbClr val="20794D"/>
                </a:solidFill>
                <a:latin typeface="Courier"/>
              </a:rPr>
              <a:t>"b_net"</a:t>
            </a:r>
            <a:r>
              <a:rPr>
                <a:solidFill>
                  <a:srgbClr val="003B4F"/>
                </a:solidFill>
                <a:latin typeface="Courier"/>
              </a:rPr>
              <a:t>])</a:t>
            </a:r>
            <a:br/>
            <a:br/>
            <a:r>
              <a:rPr>
                <a:solidFill>
                  <a:srgbClr val="003B4F"/>
                </a:solidFill>
                <a:latin typeface="Courier"/>
              </a:rPr>
              <a:t>age_ref &lt;-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(anaemia_df</a:t>
            </a:r>
            <a:r>
              <a:rPr>
                <a:solidFill>
                  <a:srgbClr val="5E5E5E"/>
                </a:solidFill>
                <a:latin typeface="Courier"/>
              </a:rPr>
              <a:t>$</a:t>
            </a:r>
            <a:r>
              <a:rPr>
                <a:solidFill>
                  <a:srgbClr val="003B4F"/>
                </a:solidFill>
                <a:latin typeface="Courier"/>
              </a:rPr>
              <a:t>age)                        </a:t>
            </a:r>
            <a:r>
              <a:rPr>
                <a:solidFill>
                  <a:srgbClr val="5E5E5E"/>
                </a:solidFill>
                <a:latin typeface="Courier"/>
              </a:rPr>
              <a:t># a 2-year-old</a:t>
            </a:r>
            <a:br/>
            <a:r>
              <a:rPr>
                <a:solidFill>
                  <a:srgbClr val="003B4F"/>
                </a:solidFill>
                <a:latin typeface="Courier"/>
              </a:rPr>
              <a:t>p_no_net &lt;- </a:t>
            </a:r>
            <a:r>
              <a:rPr>
                <a:solidFill>
                  <a:srgbClr val="4758AB"/>
                </a:solidFill>
                <a:latin typeface="Courier"/>
              </a:rPr>
              <a:t>plogis</a:t>
            </a:r>
            <a:r>
              <a:rPr>
                <a:solidFill>
                  <a:srgbClr val="003B4F"/>
                </a:solidFill>
                <a:latin typeface="Courier"/>
              </a:rPr>
              <a:t>(dr[, </a:t>
            </a:r>
            <a:r>
              <a:rPr>
                <a:solidFill>
                  <a:srgbClr val="20794D"/>
                </a:solidFill>
                <a:latin typeface="Courier"/>
              </a:rPr>
              <a:t>"b0"</a:t>
            </a:r>
            <a:r>
              <a:rPr>
                <a:solidFill>
                  <a:srgbClr val="003B4F"/>
                </a:solidFill>
                <a:latin typeface="Courier"/>
              </a:rPr>
              <a:t>] </a:t>
            </a:r>
            <a:r>
              <a:rPr>
                <a:solidFill>
                  <a:srgbClr val="5E5E5E"/>
                </a:solidFill>
                <a:latin typeface="Courier"/>
              </a:rPr>
              <a:t>+</a:t>
            </a:r>
            <a:r>
              <a:rPr>
                <a:solidFill>
                  <a:srgbClr val="003B4F"/>
                </a:solidFill>
                <a:latin typeface="Courier"/>
              </a:rPr>
              <a:t> dr[, </a:t>
            </a:r>
            <a:r>
              <a:rPr>
                <a:solidFill>
                  <a:srgbClr val="20794D"/>
                </a:solidFill>
                <a:latin typeface="Courier"/>
              </a:rPr>
              <a:t>"b_age"</a:t>
            </a:r>
            <a:r>
              <a:rPr>
                <a:solidFill>
                  <a:srgbClr val="003B4F"/>
                </a:solidFill>
                <a:latin typeface="Courier"/>
              </a:rPr>
              <a:t>] </a:t>
            </a:r>
            <a:r>
              <a:rPr>
                <a:solidFill>
                  <a:srgbClr val="5E5E5E"/>
                </a:solidFill>
                <a:latin typeface="Courier"/>
              </a:rPr>
              <a:t>*</a:t>
            </a:r>
            <a:r>
              <a:rPr>
                <a:solidFill>
                  <a:srgbClr val="003B4F"/>
                </a:solidFill>
                <a:latin typeface="Courier"/>
              </a:rPr>
              <a:t> age_ref)</a:t>
            </a:r>
            <a:br/>
            <a:r>
              <a:rPr>
                <a:solidFill>
                  <a:srgbClr val="003B4F"/>
                </a:solidFill>
                <a:latin typeface="Courier"/>
              </a:rPr>
              <a:t>p_net    &lt;- </a:t>
            </a:r>
            <a:r>
              <a:rPr>
                <a:solidFill>
                  <a:srgbClr val="4758AB"/>
                </a:solidFill>
                <a:latin typeface="Courier"/>
              </a:rPr>
              <a:t>plogis</a:t>
            </a:r>
            <a:r>
              <a:rPr>
                <a:solidFill>
                  <a:srgbClr val="003B4F"/>
                </a:solidFill>
                <a:latin typeface="Courier"/>
              </a:rPr>
              <a:t>(dr[, </a:t>
            </a:r>
            <a:r>
              <a:rPr>
                <a:solidFill>
                  <a:srgbClr val="20794D"/>
                </a:solidFill>
                <a:latin typeface="Courier"/>
              </a:rPr>
              <a:t>"b0"</a:t>
            </a:r>
            <a:r>
              <a:rPr>
                <a:solidFill>
                  <a:srgbClr val="003B4F"/>
                </a:solidFill>
                <a:latin typeface="Courier"/>
              </a:rPr>
              <a:t>] </a:t>
            </a:r>
            <a:r>
              <a:rPr>
                <a:solidFill>
                  <a:srgbClr val="5E5E5E"/>
                </a:solidFill>
                <a:latin typeface="Courier"/>
              </a:rPr>
              <a:t>+</a:t>
            </a:r>
            <a:r>
              <a:rPr>
                <a:solidFill>
                  <a:srgbClr val="003B4F"/>
                </a:solidFill>
                <a:latin typeface="Courier"/>
              </a:rPr>
              <a:t> dr[, </a:t>
            </a:r>
            <a:r>
              <a:rPr>
                <a:solidFill>
                  <a:srgbClr val="20794D"/>
                </a:solidFill>
                <a:latin typeface="Courier"/>
              </a:rPr>
              <a:t>"b_age"</a:t>
            </a:r>
            <a:r>
              <a:rPr>
                <a:solidFill>
                  <a:srgbClr val="003B4F"/>
                </a:solidFill>
                <a:latin typeface="Courier"/>
              </a:rPr>
              <a:t>] </a:t>
            </a:r>
            <a:r>
              <a:rPr>
                <a:solidFill>
                  <a:srgbClr val="5E5E5E"/>
                </a:solidFill>
                <a:latin typeface="Courier"/>
              </a:rPr>
              <a:t>*</a:t>
            </a:r>
            <a:r>
              <a:rPr>
                <a:solidFill>
                  <a:srgbClr val="003B4F"/>
                </a:solidFill>
                <a:latin typeface="Courier"/>
              </a:rPr>
              <a:t> age_ref </a:t>
            </a:r>
            <a:r>
              <a:rPr>
                <a:solidFill>
                  <a:srgbClr val="5E5E5E"/>
                </a:solidFill>
                <a:latin typeface="Courier"/>
              </a:rPr>
              <a:t>+</a:t>
            </a:r>
            <a:r>
              <a:rPr>
                <a:solidFill>
                  <a:srgbClr val="003B4F"/>
                </a:solidFill>
                <a:latin typeface="Courier"/>
              </a:rPr>
              <a:t> dr[, </a:t>
            </a:r>
            <a:r>
              <a:rPr>
                <a:solidFill>
                  <a:srgbClr val="20794D"/>
                </a:solidFill>
                <a:latin typeface="Courier"/>
              </a:rPr>
              <a:t>"b_net"</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Answering questions on interpretable scales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rbind</a:t>
            </a:r>
            <a:r>
              <a:rPr>
                <a:solidFill>
                  <a:srgbClr val="003B4F"/>
                </a:solidFill>
                <a:latin typeface="Courier"/>
              </a:rPr>
              <a:t>(</a:t>
            </a:r>
            <a:r>
              <a:rPr>
                <a:solidFill>
                  <a:srgbClr val="20794D"/>
                </a:solidFill>
                <a:latin typeface="Courier"/>
              </a:rPr>
              <a:t>`</a:t>
            </a:r>
            <a:r>
              <a:rPr>
                <a:solidFill>
                  <a:srgbClr val="657422"/>
                </a:solidFill>
                <a:latin typeface="Courier"/>
              </a:rPr>
              <a:t>odds ratio (net)</a:t>
            </a:r>
            <a:r>
              <a:rPr>
                <a:solidFill>
                  <a:srgbClr val="20794D"/>
                </a:solidFill>
                <a:latin typeface="Courier"/>
              </a:rPr>
              <a:t>`</a:t>
            </a:r>
            <a:r>
              <a:rPr>
                <a:solidFill>
                  <a:srgbClr val="003B4F"/>
                </a:solidFill>
                <a:latin typeface="Courier"/>
              </a:rPr>
              <a:t>             = </a:t>
            </a:r>
            <a:r>
              <a:rPr>
                <a:solidFill>
                  <a:srgbClr val="4758AB"/>
                </a:solidFill>
                <a:latin typeface="Courier"/>
              </a:rPr>
              <a:t>quantile</a:t>
            </a:r>
            <a:r>
              <a:rPr>
                <a:solidFill>
                  <a:srgbClr val="003B4F"/>
                </a:solidFill>
                <a:latin typeface="Courier"/>
              </a:rPr>
              <a:t>(or_net, </a:t>
            </a:r>
            <a:r>
              <a:rPr>
                <a:solidFill>
                  <a:srgbClr val="4758AB"/>
                </a:solidFill>
                <a:latin typeface="Courier"/>
              </a:rPr>
              <a:t>c</a:t>
            </a:r>
            <a:r>
              <a:rPr>
                <a:solidFill>
                  <a:srgbClr val="003B4F"/>
                </a:solidFill>
                <a:latin typeface="Courier"/>
              </a:rPr>
              <a:t>(</a:t>
            </a:r>
            <a:r>
              <a:rPr>
                <a:solidFill>
                  <a:srgbClr val="AD0000"/>
                </a:solidFill>
                <a:latin typeface="Courier"/>
              </a:rPr>
              <a:t>0.5</a:t>
            </a:r>
            <a:r>
              <a:rPr>
                <a:solidFill>
                  <a:srgbClr val="003B4F"/>
                </a:solidFill>
                <a:latin typeface="Courier"/>
              </a:rPr>
              <a:t>, </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risk difference, age 2 (pp)</a:t>
            </a:r>
            <a:r>
              <a:rPr>
                <a:solidFill>
                  <a:srgbClr val="20794D"/>
                </a:solidFill>
                <a:latin typeface="Courier"/>
              </a:rPr>
              <a:t>`</a:t>
            </a:r>
            <a:r>
              <a:rPr>
                <a:solidFill>
                  <a:srgbClr val="003B4F"/>
                </a:solidFill>
                <a:latin typeface="Courier"/>
              </a:rPr>
              <a:t>  = </a:t>
            </a:r>
            <a:r>
              <a:rPr>
                <a:solidFill>
                  <a:srgbClr val="AD0000"/>
                </a:solidFill>
                <a:latin typeface="Courier"/>
              </a:rPr>
              <a:t>100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quantile</a:t>
            </a:r>
            <a:r>
              <a:rPr>
                <a:solidFill>
                  <a:srgbClr val="003B4F"/>
                </a:solidFill>
                <a:latin typeface="Courier"/>
              </a:rPr>
              <a:t>(p_no_net </a:t>
            </a:r>
            <a:r>
              <a:rPr>
                <a:solidFill>
                  <a:srgbClr val="5E5E5E"/>
                </a:solidFill>
                <a:latin typeface="Courier"/>
              </a:rPr>
              <a:t>-</a:t>
            </a:r>
            <a:r>
              <a:rPr>
                <a:solidFill>
                  <a:srgbClr val="003B4F"/>
                </a:solidFill>
                <a:latin typeface="Courier"/>
              </a:rPr>
              <a:t> p_net, </a:t>
            </a:r>
            <a:r>
              <a:rPr>
                <a:solidFill>
                  <a:srgbClr val="4758AB"/>
                </a:solidFill>
                <a:latin typeface="Courier"/>
              </a:rPr>
              <a:t>c</a:t>
            </a:r>
            <a:r>
              <a:rPr>
                <a:solidFill>
                  <a:srgbClr val="003B4F"/>
                </a:solidFill>
                <a:latin typeface="Courier"/>
              </a:rPr>
              <a:t>(</a:t>
            </a:r>
            <a:r>
              <a:rPr>
                <a:solidFill>
                  <a:srgbClr val="AD0000"/>
                </a:solidFill>
                <a:latin typeface="Courier"/>
              </a:rPr>
              <a:t>0.5</a:t>
            </a:r>
            <a:r>
              <a:rPr>
                <a:solidFill>
                  <a:srgbClr val="003B4F"/>
                </a:solidFill>
                <a:latin typeface="Courier"/>
              </a:rPr>
              <a:t>, </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a:t>
            </a:r>
          </a:p>
          <a:p>
            <a:pPr lvl="0" indent="0">
              <a:buNone/>
            </a:pPr>
            <a:r>
              <a:rPr>
                <a:latin typeface="Courier"/>
              </a:rPr>
              <a:t>                                   50%      2.5%      97.5%
odds ratio (net)             0.5164705 0.3224355  0.8525431
risk difference, age 2 (pp) 15.5575111 3.7939897 26.3455871</a:t>
            </a:r>
          </a:p>
          <a:p>
            <a:pPr lvl="0" indent="0">
              <a:buNone/>
            </a:pPr>
            <a:r>
              <a:rPr>
                <a:solidFill>
                  <a:srgbClr val="4758AB"/>
                </a:solidFill>
                <a:latin typeface="Courier"/>
              </a:rPr>
              <a:t>c</a:t>
            </a:r>
            <a:r>
              <a:rPr>
                <a:solidFill>
                  <a:srgbClr val="003B4F"/>
                </a:solidFill>
                <a:latin typeface="Courier"/>
              </a:rPr>
              <a:t>(</a:t>
            </a:r>
            <a:r>
              <a:rPr>
                <a:solidFill>
                  <a:srgbClr val="20794D"/>
                </a:solidFill>
                <a:latin typeface="Courier"/>
              </a:rPr>
              <a:t>`</a:t>
            </a:r>
            <a:r>
              <a:rPr>
                <a:solidFill>
                  <a:srgbClr val="657422"/>
                </a:solidFill>
                <a:latin typeface="Courier"/>
              </a:rPr>
              <a:t>P(OR &lt; 1 | data)</a:t>
            </a:r>
            <a:r>
              <a:rPr>
                <a:solidFill>
                  <a:srgbClr val="20794D"/>
                </a:solidFill>
                <a:latin typeface="Courier"/>
              </a:rPr>
              <a:t>`</a:t>
            </a:r>
            <a:r>
              <a:rPr>
                <a:solidFill>
                  <a:srgbClr val="003B4F"/>
                </a:solidFill>
                <a:latin typeface="Courier"/>
              </a:rPr>
              <a:t> = </a:t>
            </a:r>
            <a:r>
              <a:rPr>
                <a:solidFill>
                  <a:srgbClr val="4758AB"/>
                </a:solidFill>
                <a:latin typeface="Courier"/>
              </a:rPr>
              <a:t>mean</a:t>
            </a:r>
            <a:r>
              <a:rPr>
                <a:solidFill>
                  <a:srgbClr val="003B4F"/>
                </a:solidFill>
                <a:latin typeface="Courier"/>
              </a:rPr>
              <a:t>(or_net </a:t>
            </a:r>
            <a:r>
              <a:rPr>
                <a:solidFill>
                  <a:srgbClr val="5E5E5E"/>
                </a:solidFill>
                <a:latin typeface="Courier"/>
              </a:rPr>
              <a:t>&lt;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P(risk difference &gt; 10 pp | data)</a:t>
            </a:r>
            <a:r>
              <a:rPr>
                <a:solidFill>
                  <a:srgbClr val="20794D"/>
                </a:solidFill>
                <a:latin typeface="Courier"/>
              </a:rPr>
              <a:t>`</a:t>
            </a:r>
            <a:r>
              <a:rPr>
                <a:solidFill>
                  <a:srgbClr val="003B4F"/>
                </a:solidFill>
                <a:latin typeface="Courier"/>
              </a:rPr>
              <a:t> = </a:t>
            </a:r>
            <a:r>
              <a:rPr>
                <a:solidFill>
                  <a:srgbClr val="4758AB"/>
                </a:solidFill>
                <a:latin typeface="Courier"/>
              </a:rPr>
              <a:t>mean</a:t>
            </a:r>
            <a:r>
              <a:rPr>
                <a:solidFill>
                  <a:srgbClr val="003B4F"/>
                </a:solidFill>
                <a:latin typeface="Courier"/>
              </a:rPr>
              <a:t>(p_no_net </a:t>
            </a:r>
            <a:r>
              <a:rPr>
                <a:solidFill>
                  <a:srgbClr val="5E5E5E"/>
                </a:solidFill>
                <a:latin typeface="Courier"/>
              </a:rPr>
              <a:t>-</a:t>
            </a:r>
            <a:r>
              <a:rPr>
                <a:solidFill>
                  <a:srgbClr val="003B4F"/>
                </a:solidFill>
                <a:latin typeface="Courier"/>
              </a:rPr>
              <a:t> p_net </a:t>
            </a:r>
            <a:r>
              <a:rPr>
                <a:solidFill>
                  <a:srgbClr val="5E5E5E"/>
                </a:solidFill>
                <a:latin typeface="Courier"/>
              </a:rPr>
              <a:t>&gt;</a:t>
            </a:r>
            <a:r>
              <a:rPr>
                <a:solidFill>
                  <a:srgbClr val="003B4F"/>
                </a:solidFill>
                <a:latin typeface="Courier"/>
              </a:rPr>
              <a:t> </a:t>
            </a:r>
            <a:r>
              <a:rPr>
                <a:solidFill>
                  <a:srgbClr val="AD0000"/>
                </a:solidFill>
                <a:latin typeface="Courier"/>
              </a:rPr>
              <a:t>0.10</a:t>
            </a:r>
            <a:r>
              <a:rPr>
                <a:solidFill>
                  <a:srgbClr val="003B4F"/>
                </a:solidFill>
                <a:latin typeface="Courier"/>
              </a:rPr>
              <a:t>))</a:t>
            </a:r>
          </a:p>
          <a:p>
            <a:pPr lvl="0" indent="0">
              <a:buNone/>
            </a:pPr>
            <a:r>
              <a:rPr>
                <a:latin typeface="Courier"/>
              </a:rPr>
              <a:t>                 P(OR &lt; 1 | data) P(risk difference &gt; 10 pp | data) 
                          0.99625                           0.83510 </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Answering questions on interpretable scales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Predicted prevalence by age, with 95% credible bands:</a:t>
            </a:r>
          </a:p>
          <a:p>
            <a:pPr lvl="0" indent="0">
              <a:buNone/>
            </a:pPr>
            <a:r>
              <a:rPr>
                <a:solidFill>
                  <a:srgbClr val="003B4F"/>
                </a:solidFill>
                <a:latin typeface="Courier"/>
              </a:rPr>
              <a:t>pred &lt;- </a:t>
            </a:r>
            <a:r>
              <a:rPr>
                <a:solidFill>
                  <a:srgbClr val="4758AB"/>
                </a:solidFill>
                <a:latin typeface="Courier"/>
              </a:rPr>
              <a:t>expand_grid</a:t>
            </a:r>
            <a:r>
              <a:rPr>
                <a:solidFill>
                  <a:srgbClr val="003B4F"/>
                </a:solidFill>
                <a:latin typeface="Courier"/>
              </a:rPr>
              <a:t>(</a:t>
            </a:r>
            <a:r>
              <a:rPr>
                <a:solidFill>
                  <a:srgbClr val="657422"/>
                </a:solidFill>
                <a:latin typeface="Courier"/>
              </a:rPr>
              <a:t>age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AD0000"/>
                </a:solidFill>
                <a:latin typeface="Courier"/>
              </a:rPr>
              <a:t>0.5</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657422"/>
                </a:solidFill>
                <a:latin typeface="Courier"/>
              </a:rPr>
              <a:t>by =</a:t>
            </a:r>
            <a:r>
              <a:rPr>
                <a:solidFill>
                  <a:srgbClr val="003B4F"/>
                </a:solidFill>
                <a:latin typeface="Courier"/>
              </a:rPr>
              <a:t> </a:t>
            </a:r>
            <a:r>
              <a:rPr>
                <a:solidFill>
                  <a:srgbClr val="AD0000"/>
                </a:solidFill>
                <a:latin typeface="Courier"/>
              </a:rPr>
              <a:t>0.1</a:t>
            </a:r>
            <a:r>
              <a:rPr>
                <a:solidFill>
                  <a:srgbClr val="003B4F"/>
                </a:solidFill>
                <a:latin typeface="Courier"/>
              </a:rPr>
              <a:t>), </a:t>
            </a:r>
            <a:r>
              <a:rPr>
                <a:solidFill>
                  <a:srgbClr val="657422"/>
                </a:solidFill>
                <a:latin typeface="Courier"/>
              </a:rPr>
              <a:t>net =</a:t>
            </a:r>
            <a:r>
              <a:rPr>
                <a:solidFill>
                  <a:srgbClr val="003B4F"/>
                </a:solidFill>
                <a:latin typeface="Courier"/>
              </a:rPr>
              <a:t> </a:t>
            </a:r>
            <a:r>
              <a:rPr>
                <a:solidFill>
                  <a:srgbClr val="AD0000"/>
                </a:solidFill>
                <a:latin typeface="Courier"/>
              </a:rPr>
              <a:t>0</a:t>
            </a:r>
            <a:r>
              <a:rPr>
                <a:solidFill>
                  <a:srgbClr val="5E5E5E"/>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draws =</a:t>
            </a:r>
            <a:r>
              <a:rPr>
                <a:solidFill>
                  <a:srgbClr val="003B4F"/>
                </a:solidFill>
                <a:latin typeface="Courier"/>
              </a:rPr>
              <a:t> </a:t>
            </a:r>
            <a:r>
              <a:rPr>
                <a:solidFill>
                  <a:srgbClr val="4758AB"/>
                </a:solidFill>
                <a:latin typeface="Courier"/>
              </a:rPr>
              <a:t>map2</a:t>
            </a:r>
            <a:r>
              <a:rPr>
                <a:solidFill>
                  <a:srgbClr val="003B4F"/>
                </a:solidFill>
                <a:latin typeface="Courier"/>
              </a:rPr>
              <a:t>(age, net, </a:t>
            </a:r>
            <a:r>
              <a:rPr>
                <a:solidFill>
                  <a:srgbClr val="5E5E5E"/>
                </a:solidFill>
                <a:latin typeface="Courier"/>
              </a:rPr>
              <a:t>~</a:t>
            </a:r>
            <a:r>
              <a:rPr>
                <a:solidFill>
                  <a:srgbClr val="003B4F"/>
                </a:solidFill>
                <a:latin typeface="Courier"/>
              </a:rPr>
              <a:t> </a:t>
            </a:r>
            <a:r>
              <a:rPr>
                <a:solidFill>
                  <a:srgbClr val="4758AB"/>
                </a:solidFill>
                <a:latin typeface="Courier"/>
              </a:rPr>
              <a:t>plogis</a:t>
            </a:r>
            <a:r>
              <a:rPr>
                <a:solidFill>
                  <a:srgbClr val="003B4F"/>
                </a:solidFill>
                <a:latin typeface="Courier"/>
              </a:rPr>
              <a:t>(dr[, </a:t>
            </a:r>
            <a:r>
              <a:rPr>
                <a:solidFill>
                  <a:srgbClr val="20794D"/>
                </a:solidFill>
                <a:latin typeface="Courier"/>
              </a:rPr>
              <a:t>"b0"</a:t>
            </a:r>
            <a:r>
              <a:rPr>
                <a:solidFill>
                  <a:srgbClr val="003B4F"/>
                </a:solidFill>
                <a:latin typeface="Courier"/>
              </a:rPr>
              <a:t>] </a:t>
            </a:r>
            <a:r>
              <a:rPr>
                <a:solidFill>
                  <a:srgbClr val="5E5E5E"/>
                </a:solidFill>
                <a:latin typeface="Courier"/>
              </a:rPr>
              <a:t>+</a:t>
            </a:r>
            <a:r>
              <a:rPr>
                <a:solidFill>
                  <a:srgbClr val="003B4F"/>
                </a:solidFill>
                <a:latin typeface="Courier"/>
              </a:rPr>
              <a:t> dr[, </a:t>
            </a:r>
            <a:r>
              <a:rPr>
                <a:solidFill>
                  <a:srgbClr val="20794D"/>
                </a:solidFill>
                <a:latin typeface="Courier"/>
              </a:rPr>
              <a:t>"b_age"</a:t>
            </a:r>
            <a:r>
              <a:rPr>
                <a:solidFill>
                  <a:srgbClr val="003B4F"/>
                </a:solidFill>
                <a:latin typeface="Courier"/>
              </a:rPr>
              <a:t>] </a:t>
            </a:r>
            <a:r>
              <a:rPr>
                <a:solidFill>
                  <a:srgbClr val="5E5E5E"/>
                </a:solidFill>
                <a:latin typeface="Courier"/>
              </a:rPr>
              <a:t>*</a:t>
            </a:r>
            <a:r>
              <a:rPr>
                <a:solidFill>
                  <a:srgbClr val="003B4F"/>
                </a:solidFill>
                <a:latin typeface="Courier"/>
              </a:rPr>
              <a:t> (.x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(anaemia_df</a:t>
            </a:r>
            <a:r>
              <a:rPr>
                <a:solidFill>
                  <a:srgbClr val="5E5E5E"/>
                </a:solidFill>
                <a:latin typeface="Courier"/>
              </a:rPr>
              <a:t>$</a:t>
            </a:r>
            <a:r>
              <a:rPr>
                <a:solidFill>
                  <a:srgbClr val="003B4F"/>
                </a:solidFill>
                <a:latin typeface="Courier"/>
              </a:rPr>
              <a:t>age)) </a:t>
            </a:r>
            <a:r>
              <a:rPr>
                <a:solidFill>
                  <a:srgbClr val="5E5E5E"/>
                </a:solidFill>
                <a:latin typeface="Courier"/>
              </a:rPr>
              <a:t>+</a:t>
            </a:r>
            <a:br/>
            <a:r>
              <a:rPr>
                <a:solidFill>
                  <a:srgbClr val="003B4F"/>
                </a:solidFill>
                <a:latin typeface="Courier"/>
              </a:rPr>
              <a:t>                                           dr[, </a:t>
            </a:r>
            <a:r>
              <a:rPr>
                <a:solidFill>
                  <a:srgbClr val="20794D"/>
                </a:solidFill>
                <a:latin typeface="Courier"/>
              </a:rPr>
              <a:t>"b_net"</a:t>
            </a:r>
            <a:r>
              <a:rPr>
                <a:solidFill>
                  <a:srgbClr val="003B4F"/>
                </a:solidFill>
                <a:latin typeface="Courier"/>
              </a:rPr>
              <a:t>] </a:t>
            </a:r>
            <a:r>
              <a:rPr>
                <a:solidFill>
                  <a:srgbClr val="5E5E5E"/>
                </a:solidFill>
                <a:latin typeface="Courier"/>
              </a:rPr>
              <a:t>*</a:t>
            </a:r>
            <a:r>
              <a:rPr>
                <a:solidFill>
                  <a:srgbClr val="003B4F"/>
                </a:solidFill>
                <a:latin typeface="Courier"/>
              </a:rPr>
              <a:t> .y)),</a:t>
            </a:r>
            <a:br/>
            <a:r>
              <a:rPr>
                <a:solidFill>
                  <a:srgbClr val="003B4F"/>
                </a:solidFill>
                <a:latin typeface="Courier"/>
              </a:rPr>
              <a:t>         </a:t>
            </a:r>
            <a:r>
              <a:rPr>
                <a:solidFill>
                  <a:srgbClr val="657422"/>
                </a:solidFill>
                <a:latin typeface="Courier"/>
              </a:rPr>
              <a:t>mean =</a:t>
            </a:r>
            <a:r>
              <a:rPr>
                <a:solidFill>
                  <a:srgbClr val="003B4F"/>
                </a:solidFill>
                <a:latin typeface="Courier"/>
              </a:rPr>
              <a:t> </a:t>
            </a:r>
            <a:r>
              <a:rPr>
                <a:solidFill>
                  <a:srgbClr val="4758AB"/>
                </a:solidFill>
                <a:latin typeface="Courier"/>
              </a:rPr>
              <a:t>map_dbl</a:t>
            </a:r>
            <a:r>
              <a:rPr>
                <a:solidFill>
                  <a:srgbClr val="003B4F"/>
                </a:solidFill>
                <a:latin typeface="Courier"/>
              </a:rPr>
              <a:t>(draws, mean),</a:t>
            </a:r>
            <a:br/>
            <a:r>
              <a:rPr>
                <a:solidFill>
                  <a:srgbClr val="003B4F"/>
                </a:solidFill>
                <a:latin typeface="Courier"/>
              </a:rPr>
              <a:t>         </a:t>
            </a:r>
            <a:r>
              <a:rPr>
                <a:solidFill>
                  <a:srgbClr val="657422"/>
                </a:solidFill>
                <a:latin typeface="Courier"/>
              </a:rPr>
              <a:t>lo   =</a:t>
            </a:r>
            <a:r>
              <a:rPr>
                <a:solidFill>
                  <a:srgbClr val="003B4F"/>
                </a:solidFill>
                <a:latin typeface="Courier"/>
              </a:rPr>
              <a:t> </a:t>
            </a:r>
            <a:r>
              <a:rPr>
                <a:solidFill>
                  <a:srgbClr val="4758AB"/>
                </a:solidFill>
                <a:latin typeface="Courier"/>
              </a:rPr>
              <a:t>map_dbl</a:t>
            </a:r>
            <a:r>
              <a:rPr>
                <a:solidFill>
                  <a:srgbClr val="003B4F"/>
                </a:solidFill>
                <a:latin typeface="Courier"/>
              </a:rPr>
              <a:t>(draws, </a:t>
            </a:r>
            <a:r>
              <a:rPr>
                <a:solidFill>
                  <a:srgbClr val="5E5E5E"/>
                </a:solidFill>
                <a:latin typeface="Courier"/>
              </a:rPr>
              <a:t>~</a:t>
            </a:r>
            <a:r>
              <a:rPr>
                <a:solidFill>
                  <a:srgbClr val="003B4F"/>
                </a:solidFill>
                <a:latin typeface="Courier"/>
              </a:rPr>
              <a:t> </a:t>
            </a:r>
            <a:r>
              <a:rPr>
                <a:solidFill>
                  <a:srgbClr val="4758AB"/>
                </a:solidFill>
                <a:latin typeface="Courier"/>
              </a:rPr>
              <a:t>quantile</a:t>
            </a:r>
            <a:r>
              <a:rPr>
                <a:solidFill>
                  <a:srgbClr val="003B4F"/>
                </a:solidFill>
                <a:latin typeface="Courier"/>
              </a:rPr>
              <a:t>(.x, </a:t>
            </a:r>
            <a:r>
              <a:rPr>
                <a:solidFill>
                  <a:srgbClr val="AD0000"/>
                </a:solidFill>
                <a:latin typeface="Courier"/>
              </a:rPr>
              <a:t>0.025</a:t>
            </a:r>
            <a:r>
              <a:rPr>
                <a:solidFill>
                  <a:srgbClr val="003B4F"/>
                </a:solidFill>
                <a:latin typeface="Courier"/>
              </a:rPr>
              <a:t>)),</a:t>
            </a:r>
            <a:br/>
            <a:r>
              <a:rPr>
                <a:solidFill>
                  <a:srgbClr val="003B4F"/>
                </a:solidFill>
                <a:latin typeface="Courier"/>
              </a:rPr>
              <a:t>         </a:t>
            </a:r>
            <a:r>
              <a:rPr>
                <a:solidFill>
                  <a:srgbClr val="657422"/>
                </a:solidFill>
                <a:latin typeface="Courier"/>
              </a:rPr>
              <a:t>hi   =</a:t>
            </a:r>
            <a:r>
              <a:rPr>
                <a:solidFill>
                  <a:srgbClr val="003B4F"/>
                </a:solidFill>
                <a:latin typeface="Courier"/>
              </a:rPr>
              <a:t> </a:t>
            </a:r>
            <a:r>
              <a:rPr>
                <a:solidFill>
                  <a:srgbClr val="4758AB"/>
                </a:solidFill>
                <a:latin typeface="Courier"/>
              </a:rPr>
              <a:t>map_dbl</a:t>
            </a:r>
            <a:r>
              <a:rPr>
                <a:solidFill>
                  <a:srgbClr val="003B4F"/>
                </a:solidFill>
                <a:latin typeface="Courier"/>
              </a:rPr>
              <a:t>(draws, </a:t>
            </a:r>
            <a:r>
              <a:rPr>
                <a:solidFill>
                  <a:srgbClr val="5E5E5E"/>
                </a:solidFill>
                <a:latin typeface="Courier"/>
              </a:rPr>
              <a:t>~</a:t>
            </a:r>
            <a:r>
              <a:rPr>
                <a:solidFill>
                  <a:srgbClr val="003B4F"/>
                </a:solidFill>
                <a:latin typeface="Courier"/>
              </a:rPr>
              <a:t> </a:t>
            </a:r>
            <a:r>
              <a:rPr>
                <a:solidFill>
                  <a:srgbClr val="4758AB"/>
                </a:solidFill>
                <a:latin typeface="Courier"/>
              </a:rPr>
              <a:t>quantile</a:t>
            </a:r>
            <a:r>
              <a:rPr>
                <a:solidFill>
                  <a:srgbClr val="003B4F"/>
                </a:solidFill>
                <a:latin typeface="Courier"/>
              </a:rPr>
              <a:t>(.x, </a:t>
            </a:r>
            <a:r>
              <a:rPr>
                <a:solidFill>
                  <a:srgbClr val="AD0000"/>
                </a:solidFill>
                <a:latin typeface="Courier"/>
              </a:rPr>
              <a:t>0.975</a:t>
            </a:r>
            <a:r>
              <a:rPr>
                <a:solidFill>
                  <a:srgbClr val="003B4F"/>
                </a:solidFill>
                <a:latin typeface="Courier"/>
              </a:rPr>
              <a:t>)),</a:t>
            </a:r>
            <a:br/>
            <a:r>
              <a:rPr>
                <a:solidFill>
                  <a:srgbClr val="003B4F"/>
                </a:solidFill>
                <a:latin typeface="Courier"/>
              </a:rPr>
              <a:t>         </a:t>
            </a:r>
            <a:r>
              <a:rPr>
                <a:solidFill>
                  <a:srgbClr val="657422"/>
                </a:solidFill>
                <a:latin typeface="Courier"/>
              </a:rPr>
              <a:t>net  =</a:t>
            </a:r>
            <a:r>
              <a:rPr>
                <a:solidFill>
                  <a:srgbClr val="003B4F"/>
                </a:solidFill>
                <a:latin typeface="Courier"/>
              </a:rPr>
              <a:t> </a:t>
            </a:r>
            <a:r>
              <a:rPr>
                <a:solidFill>
                  <a:srgbClr val="4758AB"/>
                </a:solidFill>
                <a:latin typeface="Courier"/>
              </a:rPr>
              <a:t>factor</a:t>
            </a:r>
            <a:r>
              <a:rPr>
                <a:solidFill>
                  <a:srgbClr val="003B4F"/>
                </a:solidFill>
                <a:latin typeface="Courier"/>
              </a:rPr>
              <a:t>(net,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 net"</a:t>
            </a:r>
            <a:r>
              <a:rPr>
                <a:solidFill>
                  <a:srgbClr val="003B4F"/>
                </a:solidFill>
                <a:latin typeface="Courier"/>
              </a:rPr>
              <a:t>, </a:t>
            </a:r>
            <a:r>
              <a:rPr>
                <a:solidFill>
                  <a:srgbClr val="20794D"/>
                </a:solidFill>
                <a:latin typeface="Courier"/>
              </a:rPr>
              <a:t>"net"</a:t>
            </a:r>
            <a:r>
              <a:rPr>
                <a:solidFill>
                  <a:srgbClr val="003B4F"/>
                </a:solidFill>
                <a:latin typeface="Courier"/>
              </a:rPr>
              <a:t>)))</a:t>
            </a:r>
            <a:br/>
            <a:br/>
            <a:r>
              <a:rPr>
                <a:solidFill>
                  <a:srgbClr val="4758AB"/>
                </a:solidFill>
                <a:latin typeface="Courier"/>
              </a:rPr>
              <a:t>ggplot</a:t>
            </a:r>
            <a:r>
              <a:rPr>
                <a:solidFill>
                  <a:srgbClr val="003B4F"/>
                </a:solidFill>
                <a:latin typeface="Courier"/>
              </a:rPr>
              <a:t>(pred, </a:t>
            </a:r>
            <a:r>
              <a:rPr>
                <a:solidFill>
                  <a:srgbClr val="4758AB"/>
                </a:solidFill>
                <a:latin typeface="Courier"/>
              </a:rPr>
              <a:t>aes</a:t>
            </a:r>
            <a:r>
              <a:rPr>
                <a:solidFill>
                  <a:srgbClr val="003B4F"/>
                </a:solidFill>
                <a:latin typeface="Courier"/>
              </a:rPr>
              <a:t>(age, mean, </a:t>
            </a:r>
            <a:r>
              <a:rPr>
                <a:solidFill>
                  <a:srgbClr val="657422"/>
                </a:solidFill>
                <a:latin typeface="Courier"/>
              </a:rPr>
              <a:t>colour =</a:t>
            </a:r>
            <a:r>
              <a:rPr>
                <a:solidFill>
                  <a:srgbClr val="003B4F"/>
                </a:solidFill>
                <a:latin typeface="Courier"/>
              </a:rPr>
              <a:t> net, </a:t>
            </a:r>
            <a:r>
              <a:rPr>
                <a:solidFill>
                  <a:srgbClr val="657422"/>
                </a:solidFill>
                <a:latin typeface="Courier"/>
              </a:rPr>
              <a:t>fill =</a:t>
            </a:r>
            <a:r>
              <a:rPr>
                <a:solidFill>
                  <a:srgbClr val="003B4F"/>
                </a:solidFill>
                <a:latin typeface="Courier"/>
              </a:rPr>
              <a:t> net)) </a:t>
            </a:r>
            <a:r>
              <a:rPr>
                <a:solidFill>
                  <a:srgbClr val="5E5E5E"/>
                </a:solidFill>
                <a:latin typeface="Courier"/>
              </a:rPr>
              <a:t>+</a:t>
            </a:r>
            <a:br/>
            <a:r>
              <a:rPr>
                <a:solidFill>
                  <a:srgbClr val="003B4F"/>
                </a:solidFill>
                <a:latin typeface="Courier"/>
              </a:rPr>
              <a:t>  </a:t>
            </a:r>
            <a:r>
              <a:rPr>
                <a:solidFill>
                  <a:srgbClr val="4758AB"/>
                </a:solidFill>
                <a:latin typeface="Courier"/>
              </a:rPr>
              <a:t>geom_ribbon</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ymin =</a:t>
            </a:r>
            <a:r>
              <a:rPr>
                <a:solidFill>
                  <a:srgbClr val="003B4F"/>
                </a:solidFill>
                <a:latin typeface="Courier"/>
              </a:rPr>
              <a:t> lo, </a:t>
            </a:r>
            <a:r>
              <a:rPr>
                <a:solidFill>
                  <a:srgbClr val="657422"/>
                </a:solidFill>
                <a:latin typeface="Courier"/>
              </a:rPr>
              <a:t>ymax =</a:t>
            </a:r>
            <a:r>
              <a:rPr>
                <a:solidFill>
                  <a:srgbClr val="003B4F"/>
                </a:solidFill>
                <a:latin typeface="Courier"/>
              </a:rPr>
              <a:t> hi), </a:t>
            </a:r>
            <a:r>
              <a:rPr>
                <a:solidFill>
                  <a:srgbClr val="657422"/>
                </a:solidFill>
                <a:latin typeface="Courier"/>
              </a:rPr>
              <a:t>alpha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"age (years)"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"predicted prevalence of anaemia"</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8F5902"/>
                </a:solidFill>
                <a:latin typeface="Courier"/>
              </a:rPr>
              <a:t>NULL</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8F5902"/>
                </a:solidFill>
                <a:latin typeface="Courier"/>
              </a:rPr>
              <a:t>NULL</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Answering questions on interpretable scales</a:t>
            </a:r>
          </a:p>
        </p:txBody>
      </p:sp>
      <p:pic>
        <p:nvPicPr>
          <p:cNvPr descr="Chanco_STA623_BDA_2026_Henrion_Session5_files/figure-pptx/unnamed-chunk-11-1.png" id="0" name="Picture 1"/>
          <p:cNvPicPr>
            <a:picLocks noGrp="1" noChangeAspect="1"/>
          </p:cNvPicPr>
          <p:nvPr/>
        </p:nvPicPr>
        <p:blipFill>
          <a:blip r:embed="rId2"/>
          <a:stretch>
            <a:fillRect/>
          </a:stretch>
        </p:blipFill>
        <p:spPr bwMode="auto">
          <a:xfrm>
            <a:off x="838200" y="2146300"/>
            <a:ext cx="10515600" cy="40005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A model can fit perfectly in the MCMC sense (great </a:t>
                </a:r>
                <a14:m>
                  <m:oMath xmlns:m="http://schemas.openxmlformats.org/officeDocument/2006/math">
                    <m:acc>
                      <m:accPr>
                        <m:chr m:val="̂"/>
                      </m:accPr>
                      <m:e>
                        <m:r>
                          <m:t>R</m:t>
                        </m:r>
                      </m:e>
                    </m:acc>
                  </m:oMath>
                </a14:m>
                <a:r>
                  <a:rPr/>
                  <a:t>, great ESS) and still be a poor description of the data.</a:t>
                </a:r>
              </a:p>
              <a:p>
                <a:pPr lvl="0" indent="0" marL="0">
                  <a:buNone/>
                </a:pPr>
                <a14:m>
                  <m:oMathPara xmlns:m="http://schemas.openxmlformats.org/officeDocument/2006/math">
                    <m:oMathParaPr>
                      <m:jc m:val="center"/>
                    </m:oMathParaPr>
                    <m:oMath>
                      <m:r>
                        <m:t> </m:t>
                      </m:r>
                    </m:oMath>
                  </m:oMathPara>
                </a14:m>
              </a:p>
              <a:p>
                <a:pPr lvl="0" indent="0" marL="0">
                  <a:buNone/>
                </a:pPr>
                <a:r>
                  <a:rPr b="1"/>
                  <a:t>Posterior predictive checks</a:t>
                </a:r>
                <a:r>
                  <a:rPr/>
                  <a:t> compare the observed data with data </a:t>
                </a:r>
                <a:r>
                  <a:rPr i="1"/>
                  <a:t>replicated</a:t>
                </a:r>
                <a:r>
                  <a:rPr/>
                  <a:t> from the fitted model.</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457200" marL="457200">
                  <a:buAutoNum type="arabicPeriod"/>
                </a:pPr>
                <a:r>
                  <a:rPr/>
                  <a:t>For </a:t>
                </a:r>
                <a14:m>
                  <m:oMath xmlns:m="http://schemas.openxmlformats.org/officeDocument/2006/math">
                    <m:r>
                      <m:t>s</m:t>
                    </m:r>
                    <m:r>
                      <m:rPr>
                        <m:sty m:val="p"/>
                      </m:rPr>
                      <m:t>=</m:t>
                    </m:r>
                    <m:r>
                      <m:t>1</m:t>
                    </m:r>
                    <m:r>
                      <m:rPr>
                        <m:sty m:val="p"/>
                      </m:rPr>
                      <m:t>,</m:t>
                    </m:r>
                    <m:r>
                      <m:rPr>
                        <m:sty m:val="p"/>
                      </m:rPr>
                      <m:t>…</m:t>
                    </m:r>
                    <m:r>
                      <m:rPr>
                        <m:sty m:val="p"/>
                      </m:rPr>
                      <m:t>,</m:t>
                    </m:r>
                    <m:r>
                      <m:t>S</m:t>
                    </m:r>
                  </m:oMath>
                </a14:m>
                <a:r>
                  <a:rPr/>
                  <a:t>: take a posterior draw </a:t>
                </a:r>
                <a14:m>
                  <m:oMath xmlns:m="http://schemas.openxmlformats.org/officeDocument/2006/math">
                    <m:sSup>
                      <m:e>
                        <m:r>
                          <m:t>θ</m:t>
                        </m:r>
                      </m:e>
                      <m:sup>
                        <m:r>
                          <m:rPr>
                            <m:sty m:val="p"/>
                          </m:rPr>
                          <m:t>(</m:t>
                        </m:r>
                        <m:r>
                          <m:t>s</m:t>
                        </m:r>
                        <m:r>
                          <m:rPr>
                            <m:sty m:val="p"/>
                          </m:rPr>
                          <m:t>)</m:t>
                        </m:r>
                      </m:sup>
                    </m:sSup>
                  </m:oMath>
                </a14:m>
                <a:r>
                  <a:rPr/>
                  <a:t> and simulate a full replicated dataset </a:t>
                </a:r>
                <a14:m>
                  <m:oMath xmlns:m="http://schemas.openxmlformats.org/officeDocument/2006/math">
                    <m:sSup>
                      <m:e>
                        <m:r>
                          <m:rPr>
                            <m:sty m:val="bi"/>
                          </m:rPr>
                          <m:t>y</m:t>
                        </m:r>
                      </m:e>
                      <m:sup>
                        <m:r>
                          <m:rPr>
                            <m:nor/>
                            <m:sty m:val="p"/>
                          </m:rPr>
                          <m:t>rep</m:t>
                        </m:r>
                        <m:r>
                          <m:rPr>
                            <m:sty m:val="p"/>
                          </m:rPr>
                          <m:t>(</m:t>
                        </m:r>
                        <m:r>
                          <m:t>s</m:t>
                        </m:r>
                        <m:r>
                          <m:rPr>
                            <m:sty m:val="p"/>
                          </m:rPr>
                          <m:t>)</m:t>
                        </m:r>
                      </m:sup>
                    </m:sSup>
                    <m:r>
                      <m:rPr>
                        <m:sty m:val="p"/>
                      </m:rPr>
                      <m:t>∼</m:t>
                    </m:r>
                    <m:r>
                      <m:t>p</m:t>
                    </m:r>
                    <m:r>
                      <m:rPr>
                        <m:sty m:val="p"/>
                      </m:rPr>
                      <m:t>(</m:t>
                    </m:r>
                    <m:r>
                      <m:rPr>
                        <m:sty m:val="bi"/>
                      </m:rPr>
                      <m:t>y</m:t>
                    </m:r>
                    <m:r>
                      <m:rPr>
                        <m:sty m:val="p"/>
                      </m:rPr>
                      <m:t>∣</m:t>
                    </m:r>
                    <m:sSup>
                      <m:e>
                        <m:r>
                          <m:t>θ</m:t>
                        </m:r>
                      </m:e>
                      <m:sup>
                        <m:r>
                          <m:rPr>
                            <m:sty m:val="p"/>
                          </m:rPr>
                          <m:t>(</m:t>
                        </m:r>
                        <m:r>
                          <m:t>s</m:t>
                        </m:r>
                        <m:r>
                          <m:rPr>
                            <m:sty m:val="p"/>
                          </m:rPr>
                          <m:t>)</m:t>
                        </m:r>
                      </m:sup>
                    </m:sSup>
                    <m:r>
                      <m:rPr>
                        <m:sty m:val="p"/>
                      </m:rPr>
                      <m:t>)</m:t>
                    </m:r>
                  </m:oMath>
                </a14:m>
                <a:r>
                  <a:rPr/>
                  <a:t> of the same size and covariates as the observed data.</a:t>
                </a:r>
              </a:p>
              <a:p>
                <a:pPr lvl="0" indent="-457200" marL="457200">
                  <a:buAutoNum type="arabicPeriod"/>
                </a:pPr>
                <a:r>
                  <a:rPr/>
                  <a:t>Choose test statistics </a:t>
                </a:r>
                <a14:m>
                  <m:oMath xmlns:m="http://schemas.openxmlformats.org/officeDocument/2006/math">
                    <m:r>
                      <m:t>T</m:t>
                    </m:r>
                    <m:r>
                      <m:rPr>
                        <m:sty m:val="p"/>
                      </m:rPr>
                      <m:t>(</m:t>
                    </m:r>
                    <m:r>
                      <m:rPr>
                        <m:sty m:val="bi"/>
                      </m:rPr>
                      <m:t>y</m:t>
                    </m:r>
                    <m:r>
                      <m:rPr>
                        <m:sty m:val="p"/>
                      </m:rPr>
                      <m:t>)</m:t>
                    </m:r>
                  </m:oMath>
                </a14:m>
                <a:r>
                  <a:rPr/>
                  <a:t> that capture features the model </a:t>
                </a:r>
                <a:r>
                  <a:rPr i="1"/>
                  <a:t>should</a:t>
                </a:r>
                <a:r>
                  <a:rPr/>
                  <a:t> reproduce and that matter for the question (proportion of zeros, variance, maximum, number of runs, group differences…).</a:t>
                </a:r>
              </a:p>
              <a:p>
                <a:pPr lvl="0" indent="-457200" marL="457200">
                  <a:buAutoNum type="arabicPeriod"/>
                </a:pPr>
                <a:r>
                  <a:rPr/>
                  <a:t>Compare </a:t>
                </a:r>
                <a14:m>
                  <m:oMath xmlns:m="http://schemas.openxmlformats.org/officeDocument/2006/math">
                    <m:r>
                      <m:t>T</m:t>
                    </m:r>
                    <m:r>
                      <m:rPr>
                        <m:sty m:val="p"/>
                      </m:rPr>
                      <m:t>(</m:t>
                    </m:r>
                    <m:r>
                      <m:rPr>
                        <m:sty m:val="bi"/>
                      </m:rPr>
                      <m:t>y</m:t>
                    </m:r>
                    <m:r>
                      <m:rPr>
                        <m:sty m:val="p"/>
                      </m:rPr>
                      <m:t>)</m:t>
                    </m:r>
                  </m:oMath>
                </a14:m>
                <a:r>
                  <a:rPr/>
                  <a:t> with the distribution of </a:t>
                </a:r>
                <a14:m>
                  <m:oMath xmlns:m="http://schemas.openxmlformats.org/officeDocument/2006/math">
                    <m:r>
                      <m:t>T</m:t>
                    </m:r>
                    <m:r>
                      <m:rPr>
                        <m:sty m:val="p"/>
                      </m:rPr>
                      <m:t>(</m:t>
                    </m:r>
                    <m:sSup>
                      <m:e>
                        <m:r>
                          <m:rPr>
                            <m:sty m:val="bi"/>
                          </m:rPr>
                          <m:t>y</m:t>
                        </m:r>
                      </m:e>
                      <m:sup>
                        <m:r>
                          <m:rPr>
                            <m:nor/>
                            <m:sty m:val="p"/>
                          </m:rPr>
                          <m:t>rep</m:t>
                        </m:r>
                        <m:r>
                          <m:rPr>
                            <m:sty m:val="p"/>
                          </m:rPr>
                          <m:t>(</m:t>
                        </m:r>
                        <m:r>
                          <m:t>s</m:t>
                        </m:r>
                        <m:r>
                          <m:rPr>
                            <m:sty m:val="p"/>
                          </m:rPr>
                          <m:t>)</m:t>
                        </m:r>
                      </m:sup>
                    </m:sSup>
                    <m:r>
                      <m:rPr>
                        <m:sty m:val="p"/>
                      </m:rPr>
                      <m:t>)</m:t>
                    </m:r>
                  </m:oMath>
                </a14:m>
                <a:r>
                  <a:rPr/>
                  <a:t>. The </a:t>
                </a:r>
                <a:r>
                  <a:rPr b="1"/>
                  <a:t>posterior predictive p-value</a:t>
                </a:r>
                <a:r>
                  <a:rPr/>
                  <a:t> </a:t>
                </a:r>
                <a14:m>
                  <m:oMath xmlns:m="http://schemas.openxmlformats.org/officeDocument/2006/math">
                    <m:r>
                      <m:t>P</m:t>
                    </m:r>
                    <m:d>
                      <m:dPr>
                        <m:begChr m:val="("/>
                        <m:sepChr m:val=""/>
                        <m:endChr m:val=")"/>
                        <m:grow/>
                      </m:dPr>
                      <m:e>
                        <m:r>
                          <m:t>T</m:t>
                        </m:r>
                        <m:r>
                          <m:rPr>
                            <m:sty m:val="p"/>
                          </m:rPr>
                          <m:t>(</m:t>
                        </m:r>
                        <m:sSup>
                          <m:e>
                            <m:r>
                              <m:rPr>
                                <m:sty m:val="bi"/>
                              </m:rPr>
                              <m:t>y</m:t>
                            </m:r>
                          </m:e>
                          <m:sup>
                            <m:r>
                              <m:rPr>
                                <m:nor/>
                                <m:sty m:val="p"/>
                              </m:rPr>
                              <m:t>rep</m:t>
                            </m:r>
                          </m:sup>
                        </m:sSup>
                        <m:r>
                          <m:rPr>
                            <m:sty m:val="p"/>
                          </m:rPr>
                          <m:t>)</m:t>
                        </m:r>
                        <m:r>
                          <m:rPr>
                            <m:sty m:val="p"/>
                          </m:rPr>
                          <m:t>≥</m:t>
                        </m:r>
                        <m:r>
                          <m:t>T</m:t>
                        </m:r>
                        <m:r>
                          <m:rPr>
                            <m:sty m:val="p"/>
                          </m:rPr>
                          <m:t>(</m:t>
                        </m:r>
                        <m:r>
                          <m:rPr>
                            <m:sty m:val="bi"/>
                          </m:rPr>
                          <m:t>y</m:t>
                        </m:r>
                        <m:r>
                          <m:rPr>
                            <m:sty m:val="p"/>
                          </m:rPr>
                          <m:t>)</m:t>
                        </m:r>
                        <m:r>
                          <m:rPr>
                            <m:sty m:val="p"/>
                          </m:rPr>
                          <m:t>∣</m:t>
                        </m:r>
                        <m:r>
                          <m:rPr>
                            <m:sty m:val="bi"/>
                          </m:rPr>
                          <m:t>y</m:t>
                        </m:r>
                      </m:e>
                    </m:d>
                  </m:oMath>
                </a14:m>
                <a:r>
                  <a:rPr/>
                  <a:t> close to 0 or 1 flags a misfit.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t> </m:t>
                      </m:r>
                    </m:oMath>
                  </m:oMathPara>
                </a14:m>
              </a:p>
              <a:p>
                <a:pPr lvl="0" indent="0" marL="0">
                  <a:buNone/>
                </a:pPr>
                <a:r>
                  <a:rPr/>
                  <a:t>Step 1 must use a </a:t>
                </a:r>
                <a:r>
                  <a:rPr b="1"/>
                  <a:t>different parameter draw for each replicated dataset</a:t>
                </a:r>
                <a:r>
                  <a:rPr/>
                  <a:t>.</a:t>
                </a:r>
              </a:p>
              <a:p>
                <a:pPr lvl="0" indent="0" marL="0">
                  <a:buNone/>
                </a:pPr>
                <a:r>
                  <a:rPr/>
                  <a:t>Simulating all replicates from a single point estimate (e.g. the posterior mean) ignores parameter uncertainty and makes the check too severe.</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Over-dispersed counts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Example (simulated)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Malaria episodes per child in one year, for 200 children, by whether their household has an insecticide-treated net (ITN) (simulated data):</a:t>
            </a:r>
          </a:p>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7</a:t>
            </a:r>
            <a:r>
              <a:rPr>
                <a:solidFill>
                  <a:srgbClr val="003B4F"/>
                </a:solidFill>
                <a:latin typeface="Courier"/>
              </a:rPr>
              <a:t>)</a:t>
            </a:r>
            <a:br/>
            <a:r>
              <a:rPr>
                <a:solidFill>
                  <a:srgbClr val="003B4F"/>
                </a:solidFill>
                <a:latin typeface="Courier"/>
              </a:rPr>
              <a:t>N_k &lt;- </a:t>
            </a:r>
            <a:r>
              <a:rPr>
                <a:solidFill>
                  <a:srgbClr val="AD0000"/>
                </a:solidFill>
                <a:latin typeface="Courier"/>
              </a:rPr>
              <a:t>200</a:t>
            </a:r>
            <a:br/>
            <a:r>
              <a:rPr>
                <a:solidFill>
                  <a:srgbClr val="003B4F"/>
                </a:solidFill>
                <a:latin typeface="Courier"/>
              </a:rPr>
              <a:t>malaria_df &lt;- </a:t>
            </a:r>
            <a:r>
              <a:rPr>
                <a:solidFill>
                  <a:srgbClr val="4758AB"/>
                </a:solidFill>
                <a:latin typeface="Courier"/>
              </a:rPr>
              <a:t>tibble</a:t>
            </a:r>
            <a:r>
              <a:rPr>
                <a:solidFill>
                  <a:srgbClr val="003B4F"/>
                </a:solidFill>
                <a:latin typeface="Courier"/>
              </a:rPr>
              <a:t>(</a:t>
            </a:r>
            <a:r>
              <a:rPr>
                <a:solidFill>
                  <a:srgbClr val="657422"/>
                </a:solidFill>
                <a:latin typeface="Courier"/>
              </a:rPr>
              <a:t>itn =</a:t>
            </a:r>
            <a:r>
              <a:rPr>
                <a:solidFill>
                  <a:srgbClr val="003B4F"/>
                </a:solidFill>
                <a:latin typeface="Courier"/>
              </a:rPr>
              <a:t> </a:t>
            </a:r>
            <a:r>
              <a:rPr>
                <a:solidFill>
                  <a:srgbClr val="4758AB"/>
                </a:solidFill>
                <a:latin typeface="Courier"/>
              </a:rPr>
              <a:t>rbinom</a:t>
            </a:r>
            <a:r>
              <a:rPr>
                <a:solidFill>
                  <a:srgbClr val="003B4F"/>
                </a:solidFill>
                <a:latin typeface="Courier"/>
              </a:rPr>
              <a:t>(N_k, </a:t>
            </a:r>
            <a:r>
              <a:rPr>
                <a:solidFill>
                  <a:srgbClr val="AD0000"/>
                </a:solidFill>
                <a:latin typeface="Courier"/>
              </a:rPr>
              <a:t>1</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episodes =</a:t>
            </a:r>
            <a:r>
              <a:rPr>
                <a:solidFill>
                  <a:srgbClr val="003B4F"/>
                </a:solidFill>
                <a:latin typeface="Courier"/>
              </a:rPr>
              <a:t> </a:t>
            </a:r>
            <a:r>
              <a:rPr>
                <a:solidFill>
                  <a:srgbClr val="4758AB"/>
                </a:solidFill>
                <a:latin typeface="Courier"/>
              </a:rPr>
              <a:t>rnbinom</a:t>
            </a:r>
            <a:r>
              <a:rPr>
                <a:solidFill>
                  <a:srgbClr val="003B4F"/>
                </a:solidFill>
                <a:latin typeface="Courier"/>
              </a:rPr>
              <a:t>(N_k, </a:t>
            </a:r>
            <a:r>
              <a:rPr>
                <a:solidFill>
                  <a:srgbClr val="657422"/>
                </a:solidFill>
                <a:latin typeface="Courier"/>
              </a:rPr>
              <a:t>size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657422"/>
                </a:solidFill>
                <a:latin typeface="Courier"/>
              </a:rPr>
              <a:t>mu =</a:t>
            </a:r>
            <a:r>
              <a:rPr>
                <a:solidFill>
                  <a:srgbClr val="003B4F"/>
                </a:solidFill>
                <a:latin typeface="Courier"/>
              </a:rPr>
              <a:t> </a:t>
            </a:r>
            <a:r>
              <a:rPr>
                <a:solidFill>
                  <a:srgbClr val="4758AB"/>
                </a:solidFill>
                <a:latin typeface="Courier"/>
              </a:rPr>
              <a:t>exp</a:t>
            </a:r>
            <a:r>
              <a:rPr>
                <a:solidFill>
                  <a:srgbClr val="003B4F"/>
                </a:solidFill>
                <a:latin typeface="Courier"/>
              </a:rPr>
              <a:t>(</a:t>
            </a:r>
            <a:r>
              <a:rPr>
                <a:solidFill>
                  <a:srgbClr val="AD0000"/>
                </a:solidFill>
                <a:latin typeface="Courier"/>
              </a:rPr>
              <a:t>0.6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r>
              <a:rPr>
                <a:solidFill>
                  <a:srgbClr val="003B4F"/>
                </a:solidFill>
                <a:latin typeface="Courier"/>
              </a:rPr>
              <a:t> itn)))</a:t>
            </a:r>
            <a:br/>
            <a:br/>
            <a:r>
              <a:rPr>
                <a:solidFill>
                  <a:srgbClr val="003B4F"/>
                </a:solidFill>
                <a:latin typeface="Courier"/>
              </a:rPr>
              <a:t>malaria_df </a:t>
            </a:r>
            <a:r>
              <a:rPr>
                <a:solidFill>
                  <a:srgbClr val="5E5E5E"/>
                </a:solidFill>
                <a:latin typeface="Courier"/>
              </a:rPr>
              <a:t>|&gt;</a:t>
            </a:r>
            <a:r>
              <a:rPr>
                <a:solidFill>
                  <a:srgbClr val="003B4F"/>
                </a:solidFill>
                <a:latin typeface="Courier"/>
              </a:rPr>
              <a:t> </a:t>
            </a:r>
            <a:r>
              <a:rPr>
                <a:solidFill>
                  <a:srgbClr val="4758AB"/>
                </a:solidFill>
                <a:latin typeface="Courier"/>
              </a:rPr>
              <a:t>group_by</a:t>
            </a:r>
            <a:r>
              <a:rPr>
                <a:solidFill>
                  <a:srgbClr val="003B4F"/>
                </a:solidFill>
                <a:latin typeface="Courier"/>
              </a:rPr>
              <a:t>(itn)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 </a:t>
            </a:r>
            <a:r>
              <a:rPr>
                <a:solidFill>
                  <a:srgbClr val="657422"/>
                </a:solidFill>
                <a:latin typeface="Courier"/>
              </a:rPr>
              <a:t>mean =</a:t>
            </a:r>
            <a:r>
              <a:rPr>
                <a:solidFill>
                  <a:srgbClr val="003B4F"/>
                </a:solidFill>
                <a:latin typeface="Courier"/>
              </a:rPr>
              <a:t> </a:t>
            </a:r>
            <a:r>
              <a:rPr>
                <a:solidFill>
                  <a:srgbClr val="4758AB"/>
                </a:solidFill>
                <a:latin typeface="Courier"/>
              </a:rPr>
              <a:t>mean</a:t>
            </a:r>
            <a:r>
              <a:rPr>
                <a:solidFill>
                  <a:srgbClr val="003B4F"/>
                </a:solidFill>
                <a:latin typeface="Courier"/>
              </a:rPr>
              <a:t>(episodes), </a:t>
            </a:r>
            <a:r>
              <a:rPr>
                <a:solidFill>
                  <a:srgbClr val="657422"/>
                </a:solidFill>
                <a:latin typeface="Courier"/>
              </a:rPr>
              <a:t>variance =</a:t>
            </a:r>
            <a:r>
              <a:rPr>
                <a:solidFill>
                  <a:srgbClr val="003B4F"/>
                </a:solidFill>
                <a:latin typeface="Courier"/>
              </a:rPr>
              <a:t> </a:t>
            </a:r>
            <a:r>
              <a:rPr>
                <a:solidFill>
                  <a:srgbClr val="4758AB"/>
                </a:solidFill>
                <a:latin typeface="Courier"/>
              </a:rPr>
              <a:t>var</a:t>
            </a:r>
            <a:r>
              <a:rPr>
                <a:solidFill>
                  <a:srgbClr val="003B4F"/>
                </a:solidFill>
                <a:latin typeface="Courier"/>
              </a:rPr>
              <a:t>(episodes), </a:t>
            </a:r>
            <a:r>
              <a:rPr>
                <a:solidFill>
                  <a:srgbClr val="657422"/>
                </a:solidFill>
                <a:latin typeface="Courier"/>
              </a:rPr>
              <a:t>zeros =</a:t>
            </a:r>
            <a:r>
              <a:rPr>
                <a:solidFill>
                  <a:srgbClr val="003B4F"/>
                </a:solidFill>
                <a:latin typeface="Courier"/>
              </a:rPr>
              <a:t> </a:t>
            </a:r>
            <a:r>
              <a:rPr>
                <a:solidFill>
                  <a:srgbClr val="4758AB"/>
                </a:solidFill>
                <a:latin typeface="Courier"/>
              </a:rPr>
              <a:t>mean</a:t>
            </a:r>
            <a:r>
              <a:rPr>
                <a:solidFill>
                  <a:srgbClr val="003B4F"/>
                </a:solidFill>
                <a:latin typeface="Courier"/>
              </a:rPr>
              <a:t>(episodes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a:t>
            </a:r>
          </a:p>
          <a:p>
            <a:pPr lvl="0" indent="0">
              <a:buNone/>
            </a:pPr>
            <a:r>
              <a:rPr>
                <a:latin typeface="Courier"/>
              </a:rPr>
              <a:t># A tibble: 2 × 5
    itn     n  mean variance zeros
  &lt;int&gt; &lt;int&gt; &lt;dbl&gt;    &lt;dbl&gt; &lt;dbl&gt;
1     0    95  1.8      6.84 0.4  
2     1   105  1.12     2.11 0.457</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We fit a Poisson regression and a negative binomial regression.</a:t>
                </a:r>
              </a:p>
              <a:p>
                <a:pPr lvl="0" indent="0" marL="0">
                  <a:buNone/>
                </a:pPr>
                <a14:m>
                  <m:oMathPara xmlns:m="http://schemas.openxmlformats.org/officeDocument/2006/math">
                    <m:oMathParaPr>
                      <m:jc m:val="center"/>
                    </m:oMathParaPr>
                    <m:oMath>
                      <m:r>
                        <m:t> </m:t>
                      </m:r>
                    </m:oMath>
                  </m:oMathPara>
                </a14:m>
              </a:p>
              <a:p>
                <a:pPr lvl="0" indent="0" marL="0">
                  <a:buNone/>
                </a:pPr>
                <a:r>
                  <a:rPr/>
                  <a:t>The negative binomial has an extra dispersion parameter </a:t>
                </a:r>
                <a14:m>
                  <m:oMath xmlns:m="http://schemas.openxmlformats.org/officeDocument/2006/math">
                    <m:r>
                      <m:t>ϕ</m:t>
                    </m:r>
                  </m:oMath>
                </a14:m>
                <a:r>
                  <a:rPr/>
                  <a:t> with </a:t>
                </a:r>
                <a14:m>
                  <m:oMath xmlns:m="http://schemas.openxmlformats.org/officeDocument/2006/math">
                    <m:r>
                      <m:rPr>
                        <m:nor/>
                        <m:sty m:val="p"/>
                      </m:rPr>
                      <m:t>Var</m:t>
                    </m:r>
                    <m:r>
                      <m:rPr>
                        <m:sty m:val="p"/>
                      </m:rPr>
                      <m:t>(</m:t>
                    </m:r>
                    <m:r>
                      <m:t>Y</m:t>
                    </m:r>
                    <m:r>
                      <m:rPr>
                        <m:sty m:val="p"/>
                      </m:rPr>
                      <m:t>)</m:t>
                    </m:r>
                    <m:r>
                      <m:rPr>
                        <m:sty m:val="p"/>
                      </m:rPr>
                      <m:t>=</m:t>
                    </m:r>
                    <m:r>
                      <m:t>μ</m:t>
                    </m:r>
                    <m:r>
                      <m:rPr>
                        <m:sty m:val="p"/>
                      </m:rPr>
                      <m:t>+</m:t>
                    </m:r>
                    <m:r>
                      <m:t>ϕ</m:t>
                    </m:r>
                    <m:sSup>
                      <m:e>
                        <m:r>
                          <m:t>μ</m:t>
                        </m:r>
                      </m:e>
                      <m:sup>
                        <m:r>
                          <m:t>2</m:t>
                        </m:r>
                      </m:sup>
                    </m:sSup>
                  </m:oMath>
                </a14:m>
                <a:r>
                  <a:rPr/>
                  <a:t>; </a:t>
                </a:r>
                <a14:m>
                  <m:oMath xmlns:m="http://schemas.openxmlformats.org/officeDocument/2006/math">
                    <m:r>
                      <m:t>ϕ</m:t>
                    </m:r>
                    <m:r>
                      <m:rPr>
                        <m:sty m:val="p"/>
                      </m:rPr>
                      <m:t>→</m:t>
                    </m:r>
                    <m:r>
                      <m:t>0</m:t>
                    </m:r>
                  </m:oMath>
                </a14:m>
                <a:r>
                  <a:rPr/>
                  <a:t> recovers the Poisson.</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Models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pois_reg_code &lt;- </a:t>
            </a:r>
            <a:r>
              <a:rPr>
                <a:solidFill>
                  <a:srgbClr val="4758AB"/>
                </a:solidFill>
                <a:latin typeface="Courier"/>
              </a:rPr>
              <a:t>nimbleCode</a:t>
            </a:r>
            <a:r>
              <a:rPr>
                <a:solidFill>
                  <a:srgbClr val="003B4F"/>
                </a:solidFill>
                <a:latin typeface="Courier"/>
              </a:rPr>
              <a:t>({</a:t>
            </a:r>
            <a:br/>
            <a:r>
              <a:rPr>
                <a:solidFill>
                  <a:srgbClr val="003B4F"/>
                </a:solidFill>
                <a:latin typeface="Courier"/>
              </a:rPr>
              <a:t>  </a:t>
            </a:r>
            <a:r>
              <a:rPr b="1">
                <a:solidFill>
                  <a:srgbClr val="003B4F"/>
                </a:solidFill>
                <a:latin typeface="Courier"/>
              </a:rPr>
              <a:t>for</a:t>
            </a:r>
            <a:r>
              <a:rPr>
                <a:solidFill>
                  <a:srgbClr val="003B4F"/>
                </a:solidFill>
                <a:latin typeface="Courier"/>
              </a:rPr>
              <a:t> (i </a:t>
            </a:r>
            <a:r>
              <a:rPr b="1">
                <a:solidFill>
                  <a:srgbClr val="003B4F"/>
                </a:solidFill>
                <a:latin typeface="Courier"/>
              </a:rPr>
              <a:t>in</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 {</a:t>
            </a:r>
            <a:br/>
            <a:r>
              <a:rPr>
                <a:solidFill>
                  <a:srgbClr val="003B4F"/>
                </a:solidFill>
                <a:latin typeface="Courier"/>
              </a:rPr>
              <a:t>    y[i] </a:t>
            </a:r>
            <a:r>
              <a:rPr>
                <a:solidFill>
                  <a:srgbClr val="5E5E5E"/>
                </a:solidFill>
                <a:latin typeface="Courier"/>
              </a:rPr>
              <a:t>~</a:t>
            </a:r>
            <a:r>
              <a:rPr>
                <a:solidFill>
                  <a:srgbClr val="003B4F"/>
                </a:solidFill>
                <a:latin typeface="Courier"/>
              </a:rPr>
              <a:t> </a:t>
            </a:r>
            <a:r>
              <a:rPr>
                <a:solidFill>
                  <a:srgbClr val="4758AB"/>
                </a:solidFill>
                <a:latin typeface="Courier"/>
              </a:rPr>
              <a:t>dpois</a:t>
            </a:r>
            <a:r>
              <a:rPr>
                <a:solidFill>
                  <a:srgbClr val="003B4F"/>
                </a:solidFill>
                <a:latin typeface="Courier"/>
              </a:rPr>
              <a:t>(mu[i])</a:t>
            </a:r>
            <a:br/>
            <a:r>
              <a:rPr>
                <a:solidFill>
                  <a:srgbClr val="003B4F"/>
                </a:solidFill>
                <a:latin typeface="Courier"/>
              </a:rPr>
              <a:t>    </a:t>
            </a:r>
            <a:r>
              <a:rPr>
                <a:solidFill>
                  <a:srgbClr val="4758AB"/>
                </a:solidFill>
                <a:latin typeface="Courier"/>
              </a:rPr>
              <a:t>log</a:t>
            </a:r>
            <a:r>
              <a:rPr>
                <a:solidFill>
                  <a:srgbClr val="003B4F"/>
                </a:solidFill>
                <a:latin typeface="Courier"/>
              </a:rPr>
              <a:t>(mu[i]) &lt;- a0 </a:t>
            </a:r>
            <a:r>
              <a:rPr>
                <a:solidFill>
                  <a:srgbClr val="5E5E5E"/>
                </a:solidFill>
                <a:latin typeface="Courier"/>
              </a:rPr>
              <a:t>+</a:t>
            </a:r>
            <a:r>
              <a:rPr>
                <a:solidFill>
                  <a:srgbClr val="003B4F"/>
                </a:solidFill>
                <a:latin typeface="Courier"/>
              </a:rPr>
              <a:t> a1 </a:t>
            </a:r>
            <a:r>
              <a:rPr>
                <a:solidFill>
                  <a:srgbClr val="5E5E5E"/>
                </a:solidFill>
                <a:latin typeface="Courier"/>
              </a:rPr>
              <a:t>*</a:t>
            </a:r>
            <a:r>
              <a:rPr>
                <a:solidFill>
                  <a:srgbClr val="003B4F"/>
                </a:solidFill>
                <a:latin typeface="Courier"/>
              </a:rPr>
              <a:t> itn[i]</a:t>
            </a:r>
            <a:br/>
            <a:r>
              <a:rPr>
                <a:solidFill>
                  <a:srgbClr val="003B4F"/>
                </a:solidFill>
                <a:latin typeface="Courier"/>
              </a:rPr>
              <a:t>  }</a:t>
            </a:r>
            <a:br/>
            <a:r>
              <a:rPr>
                <a:solidFill>
                  <a:srgbClr val="003B4F"/>
                </a:solidFill>
                <a:latin typeface="Courier"/>
              </a:rPr>
              <a:t>  a0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003B4F"/>
                </a:solidFill>
                <a:latin typeface="Courier"/>
              </a:rPr>
              <a:t>  a1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a:t>
            </a:r>
            <a:br/>
            <a:br/>
            <a:r>
              <a:rPr>
                <a:solidFill>
                  <a:srgbClr val="003B4F"/>
                </a:solidFill>
                <a:latin typeface="Courier"/>
              </a:rPr>
              <a:t>nb_reg_code &lt;- </a:t>
            </a:r>
            <a:r>
              <a:rPr>
                <a:solidFill>
                  <a:srgbClr val="4758AB"/>
                </a:solidFill>
                <a:latin typeface="Courier"/>
              </a:rPr>
              <a:t>nimbleCode</a:t>
            </a:r>
            <a:r>
              <a:rPr>
                <a:solidFill>
                  <a:srgbClr val="003B4F"/>
                </a:solidFill>
                <a:latin typeface="Courier"/>
              </a:rPr>
              <a:t>({</a:t>
            </a:r>
            <a:br/>
            <a:r>
              <a:rPr>
                <a:solidFill>
                  <a:srgbClr val="003B4F"/>
                </a:solidFill>
                <a:latin typeface="Courier"/>
              </a:rPr>
              <a:t>  </a:t>
            </a:r>
            <a:r>
              <a:rPr b="1">
                <a:solidFill>
                  <a:srgbClr val="003B4F"/>
                </a:solidFill>
                <a:latin typeface="Courier"/>
              </a:rPr>
              <a:t>for</a:t>
            </a:r>
            <a:r>
              <a:rPr>
                <a:solidFill>
                  <a:srgbClr val="003B4F"/>
                </a:solidFill>
                <a:latin typeface="Courier"/>
              </a:rPr>
              <a:t> (i </a:t>
            </a:r>
            <a:r>
              <a:rPr b="1">
                <a:solidFill>
                  <a:srgbClr val="003B4F"/>
                </a:solidFill>
                <a:latin typeface="Courier"/>
              </a:rPr>
              <a:t>in</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 {</a:t>
            </a:r>
            <a:br/>
            <a:r>
              <a:rPr>
                <a:solidFill>
                  <a:srgbClr val="003B4F"/>
                </a:solidFill>
                <a:latin typeface="Courier"/>
              </a:rPr>
              <a:t>    y[i] </a:t>
            </a:r>
            <a:r>
              <a:rPr>
                <a:solidFill>
                  <a:srgbClr val="5E5E5E"/>
                </a:solidFill>
                <a:latin typeface="Courier"/>
              </a:rPr>
              <a:t>~</a:t>
            </a:r>
            <a:r>
              <a:rPr>
                <a:solidFill>
                  <a:srgbClr val="003B4F"/>
                </a:solidFill>
                <a:latin typeface="Courier"/>
              </a:rPr>
              <a:t> </a:t>
            </a:r>
            <a:r>
              <a:rPr>
                <a:solidFill>
                  <a:srgbClr val="4758AB"/>
                </a:solidFill>
                <a:latin typeface="Courier"/>
              </a:rPr>
              <a:t>dnegbin</a:t>
            </a:r>
            <a:r>
              <a:rPr>
                <a:solidFill>
                  <a:srgbClr val="003B4F"/>
                </a:solidFill>
                <a:latin typeface="Courier"/>
              </a:rPr>
              <a:t>(prob[i], r)    </a:t>
            </a:r>
            <a:r>
              <a:rPr>
                <a:solidFill>
                  <a:srgbClr val="5E5E5E"/>
                </a:solidFill>
                <a:latin typeface="Courier"/>
              </a:rPr>
              <a:t># NIMBLE/BUGS order: probability first, then size</a:t>
            </a:r>
            <a:br/>
            <a:r>
              <a:rPr>
                <a:solidFill>
                  <a:srgbClr val="003B4F"/>
                </a:solidFill>
                <a:latin typeface="Courier"/>
              </a:rPr>
              <a:t>    prob[i] &lt;- r </a:t>
            </a:r>
            <a:r>
              <a:rPr>
                <a:solidFill>
                  <a:srgbClr val="5E5E5E"/>
                </a:solidFill>
                <a:latin typeface="Courier"/>
              </a:rPr>
              <a:t>/</a:t>
            </a:r>
            <a:r>
              <a:rPr>
                <a:solidFill>
                  <a:srgbClr val="003B4F"/>
                </a:solidFill>
                <a:latin typeface="Courier"/>
              </a:rPr>
              <a:t> (r </a:t>
            </a:r>
            <a:r>
              <a:rPr>
                <a:solidFill>
                  <a:srgbClr val="5E5E5E"/>
                </a:solidFill>
                <a:latin typeface="Courier"/>
              </a:rPr>
              <a:t>+</a:t>
            </a:r>
            <a:r>
              <a:rPr>
                <a:solidFill>
                  <a:srgbClr val="003B4F"/>
                </a:solidFill>
                <a:latin typeface="Courier"/>
              </a:rPr>
              <a:t> mu[i])</a:t>
            </a:r>
            <a:br/>
            <a:r>
              <a:rPr>
                <a:solidFill>
                  <a:srgbClr val="003B4F"/>
                </a:solidFill>
                <a:latin typeface="Courier"/>
              </a:rPr>
              <a:t>    </a:t>
            </a:r>
            <a:r>
              <a:rPr>
                <a:solidFill>
                  <a:srgbClr val="4758AB"/>
                </a:solidFill>
                <a:latin typeface="Courier"/>
              </a:rPr>
              <a:t>log</a:t>
            </a:r>
            <a:r>
              <a:rPr>
                <a:solidFill>
                  <a:srgbClr val="003B4F"/>
                </a:solidFill>
                <a:latin typeface="Courier"/>
              </a:rPr>
              <a:t>(mu[i]) &lt;- a0 </a:t>
            </a:r>
            <a:r>
              <a:rPr>
                <a:solidFill>
                  <a:srgbClr val="5E5E5E"/>
                </a:solidFill>
                <a:latin typeface="Courier"/>
              </a:rPr>
              <a:t>+</a:t>
            </a:r>
            <a:r>
              <a:rPr>
                <a:solidFill>
                  <a:srgbClr val="003B4F"/>
                </a:solidFill>
                <a:latin typeface="Courier"/>
              </a:rPr>
              <a:t> a1 </a:t>
            </a:r>
            <a:r>
              <a:rPr>
                <a:solidFill>
                  <a:srgbClr val="5E5E5E"/>
                </a:solidFill>
                <a:latin typeface="Courier"/>
              </a:rPr>
              <a:t>*</a:t>
            </a:r>
            <a:r>
              <a:rPr>
                <a:solidFill>
                  <a:srgbClr val="003B4F"/>
                </a:solidFill>
                <a:latin typeface="Courier"/>
              </a:rPr>
              <a:t> itn[i]</a:t>
            </a:r>
            <a:br/>
            <a:r>
              <a:rPr>
                <a:solidFill>
                  <a:srgbClr val="003B4F"/>
                </a:solidFill>
                <a:latin typeface="Courier"/>
              </a:rPr>
              <a:t>  }</a:t>
            </a:r>
            <a:br/>
            <a:r>
              <a:rPr>
                <a:solidFill>
                  <a:srgbClr val="003B4F"/>
                </a:solidFill>
                <a:latin typeface="Courier"/>
              </a:rPr>
              <a:t>  a0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003B4F"/>
                </a:solidFill>
                <a:latin typeface="Courier"/>
              </a:rPr>
              <a:t>  a1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phi </a:t>
            </a:r>
            <a:r>
              <a:rPr>
                <a:solidFill>
                  <a:srgbClr val="5E5E5E"/>
                </a:solidFill>
                <a:latin typeface="Courier"/>
              </a:rPr>
              <a:t>~</a:t>
            </a:r>
            <a:r>
              <a:rPr>
                <a:solidFill>
                  <a:srgbClr val="003B4F"/>
                </a:solidFill>
                <a:latin typeface="Courier"/>
              </a:rPr>
              <a:t> </a:t>
            </a:r>
            <a:r>
              <a:rPr>
                <a:solidFill>
                  <a:srgbClr val="4758AB"/>
                </a:solidFill>
                <a:latin typeface="Courier"/>
              </a:rPr>
              <a:t>dexp</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 over-dispersion; phi -&gt; 0 is the Poisson model</a:t>
            </a:r>
            <a:br/>
            <a:r>
              <a:rPr>
                <a:solidFill>
                  <a:srgbClr val="003B4F"/>
                </a:solidFill>
                <a:latin typeface="Courier"/>
              </a:rPr>
              <a:t>  r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phi</a:t>
            </a:r>
            <a:b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Nimble MCMC fitting</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count_consts &lt;- </a:t>
            </a:r>
            <a:r>
              <a:rPr>
                <a:solidFill>
                  <a:srgbClr val="4758AB"/>
                </a:solidFill>
                <a:latin typeface="Courier"/>
              </a:rPr>
              <a:t>list</a:t>
            </a:r>
            <a:r>
              <a:rPr>
                <a:solidFill>
                  <a:srgbClr val="003B4F"/>
                </a:solidFill>
                <a:latin typeface="Courier"/>
              </a:rPr>
              <a:t>(</a:t>
            </a:r>
            <a:r>
              <a:rPr>
                <a:solidFill>
                  <a:srgbClr val="657422"/>
                </a:solidFill>
                <a:latin typeface="Courier"/>
              </a:rPr>
              <a:t>N =</a:t>
            </a:r>
            <a:r>
              <a:rPr>
                <a:solidFill>
                  <a:srgbClr val="003B4F"/>
                </a:solidFill>
                <a:latin typeface="Courier"/>
              </a:rPr>
              <a:t> N_k, </a:t>
            </a:r>
            <a:r>
              <a:rPr>
                <a:solidFill>
                  <a:srgbClr val="657422"/>
                </a:solidFill>
                <a:latin typeface="Courier"/>
              </a:rPr>
              <a:t>itn =</a:t>
            </a:r>
            <a:r>
              <a:rPr>
                <a:solidFill>
                  <a:srgbClr val="003B4F"/>
                </a:solidFill>
                <a:latin typeface="Courier"/>
              </a:rPr>
              <a:t> malaria_df</a:t>
            </a:r>
            <a:r>
              <a:rPr>
                <a:solidFill>
                  <a:srgbClr val="5E5E5E"/>
                </a:solidFill>
                <a:latin typeface="Courier"/>
              </a:rPr>
              <a:t>$</a:t>
            </a:r>
            <a:r>
              <a:rPr>
                <a:solidFill>
                  <a:srgbClr val="003B4F"/>
                </a:solidFill>
                <a:latin typeface="Courier"/>
              </a:rPr>
              <a:t>itn)</a:t>
            </a:r>
            <a:br/>
            <a:r>
              <a:rPr>
                <a:solidFill>
                  <a:srgbClr val="003B4F"/>
                </a:solidFill>
                <a:latin typeface="Courier"/>
              </a:rPr>
              <a:t>count_data   &lt;- </a:t>
            </a:r>
            <a:r>
              <a:rPr>
                <a:solidFill>
                  <a:srgbClr val="4758AB"/>
                </a:solidFill>
                <a:latin typeface="Courier"/>
              </a:rPr>
              <a:t>list</a:t>
            </a:r>
            <a:r>
              <a:rPr>
                <a:solidFill>
                  <a:srgbClr val="003B4F"/>
                </a:solidFill>
                <a:latin typeface="Courier"/>
              </a:rPr>
              <a:t>(</a:t>
            </a:r>
            <a:r>
              <a:rPr>
                <a:solidFill>
                  <a:srgbClr val="657422"/>
                </a:solidFill>
                <a:latin typeface="Courier"/>
              </a:rPr>
              <a:t>y =</a:t>
            </a:r>
            <a:r>
              <a:rPr>
                <a:solidFill>
                  <a:srgbClr val="003B4F"/>
                </a:solidFill>
                <a:latin typeface="Courier"/>
              </a:rPr>
              <a:t> malaria_df</a:t>
            </a:r>
            <a:r>
              <a:rPr>
                <a:solidFill>
                  <a:srgbClr val="5E5E5E"/>
                </a:solidFill>
                <a:latin typeface="Courier"/>
              </a:rPr>
              <a:t>$</a:t>
            </a:r>
            <a:r>
              <a:rPr>
                <a:solidFill>
                  <a:srgbClr val="003B4F"/>
                </a:solidFill>
                <a:latin typeface="Courier"/>
              </a:rPr>
              <a:t>episodes)</a:t>
            </a:r>
            <a:br/>
            <a:br/>
            <a:r>
              <a:rPr>
                <a:solidFill>
                  <a:srgbClr val="003B4F"/>
                </a:solidFill>
                <a:latin typeface="Courier"/>
              </a:rPr>
              <a:t>pois_reg_fit &lt;- </a:t>
            </a:r>
            <a:r>
              <a:rPr>
                <a:solidFill>
                  <a:srgbClr val="4758AB"/>
                </a:solidFill>
                <a:latin typeface="Courier"/>
              </a:rPr>
              <a:t>nimbleMCMC</a:t>
            </a:r>
            <a:r>
              <a:rPr>
                <a:solidFill>
                  <a:srgbClr val="003B4F"/>
                </a:solidFill>
                <a:latin typeface="Courier"/>
              </a:rPr>
              <a:t>(pois_reg_code, </a:t>
            </a:r>
            <a:r>
              <a:rPr>
                <a:solidFill>
                  <a:srgbClr val="657422"/>
                </a:solidFill>
                <a:latin typeface="Courier"/>
              </a:rPr>
              <a:t>constants =</a:t>
            </a:r>
            <a:r>
              <a:rPr>
                <a:solidFill>
                  <a:srgbClr val="003B4F"/>
                </a:solidFill>
                <a:latin typeface="Courier"/>
              </a:rPr>
              <a:t> count_consts, </a:t>
            </a:r>
            <a:r>
              <a:rPr>
                <a:solidFill>
                  <a:srgbClr val="657422"/>
                </a:solidFill>
                <a:latin typeface="Courier"/>
              </a:rPr>
              <a:t>data =</a:t>
            </a:r>
            <a:r>
              <a:rPr>
                <a:solidFill>
                  <a:srgbClr val="003B4F"/>
                </a:solidFill>
                <a:latin typeface="Courier"/>
              </a:rPr>
              <a:t> count_data,</a:t>
            </a:r>
            <a:br/>
            <a:r>
              <a:rPr>
                <a:solidFill>
                  <a:srgbClr val="003B4F"/>
                </a:solidFill>
                <a:latin typeface="Courier"/>
              </a:rPr>
              <a:t>  </a:t>
            </a:r>
            <a:r>
              <a:rPr>
                <a:solidFill>
                  <a:srgbClr val="657422"/>
                </a:solidFill>
                <a:latin typeface="Courier"/>
              </a:rPr>
              <a:t>inits =</a:t>
            </a:r>
            <a:r>
              <a:rPr>
                <a:solidFill>
                  <a:srgbClr val="003B4F"/>
                </a:solidFill>
                <a:latin typeface="Courier"/>
              </a:rPr>
              <a:t> </a:t>
            </a:r>
            <a:r>
              <a:rPr b="1">
                <a:solidFill>
                  <a:srgbClr val="003B4F"/>
                </a:solidFill>
                <a:latin typeface="Courier"/>
              </a:rPr>
              <a:t>function</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a0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a1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r>
              <a:rPr>
                <a:solidFill>
                  <a:srgbClr val="657422"/>
                </a:solidFill>
                <a:latin typeface="Courier"/>
              </a:rPr>
              <a:t>monitors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"a0"</a:t>
            </a:r>
            <a:r>
              <a:rPr>
                <a:solidFill>
                  <a:srgbClr val="003B4F"/>
                </a:solidFill>
                <a:latin typeface="Courier"/>
              </a:rPr>
              <a:t>, </a:t>
            </a:r>
            <a:r>
              <a:rPr>
                <a:solidFill>
                  <a:srgbClr val="20794D"/>
                </a:solidFill>
                <a:latin typeface="Courier"/>
              </a:rPr>
              <a:t>"a1"</a:t>
            </a:r>
            <a:r>
              <a:rPr>
                <a:solidFill>
                  <a:srgbClr val="003B4F"/>
                </a:solidFill>
                <a:latin typeface="Courier"/>
              </a:rPr>
              <a:t>),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niter =</a:t>
            </a:r>
            <a:r>
              <a:rPr>
                <a:solidFill>
                  <a:srgbClr val="003B4F"/>
                </a:solidFill>
                <a:latin typeface="Courier"/>
              </a:rPr>
              <a:t> </a:t>
            </a:r>
            <a:r>
              <a:rPr>
                <a:solidFill>
                  <a:srgbClr val="AD0000"/>
                </a:solidFill>
                <a:latin typeface="Courier"/>
              </a:rPr>
              <a:t>6000</a:t>
            </a:r>
            <a:r>
              <a:rPr>
                <a:solidFill>
                  <a:srgbClr val="003B4F"/>
                </a:solidFill>
                <a:latin typeface="Courier"/>
              </a:rPr>
              <a:t>, </a:t>
            </a:r>
            <a:r>
              <a:rPr>
                <a:solidFill>
                  <a:srgbClr val="657422"/>
                </a:solidFill>
                <a:latin typeface="Courier"/>
              </a:rPr>
              <a:t>nburnin =</a:t>
            </a:r>
            <a:r>
              <a:rPr>
                <a:solidFill>
                  <a:srgbClr val="003B4F"/>
                </a:solidFill>
                <a:latin typeface="Courier"/>
              </a:rPr>
              <a:t> </a:t>
            </a:r>
            <a:r>
              <a:rPr>
                <a:solidFill>
                  <a:srgbClr val="AD0000"/>
                </a:solidFill>
                <a:latin typeface="Courier"/>
              </a:rPr>
              <a:t>1000</a:t>
            </a:r>
            <a:r>
              <a:rPr>
                <a:solidFill>
                  <a:srgbClr val="003B4F"/>
                </a:solidFill>
                <a:latin typeface="Courier"/>
              </a:rPr>
              <a:t>,</a:t>
            </a:r>
            <a:br/>
            <a:r>
              <a:rPr>
                <a:solidFill>
                  <a:srgbClr val="003B4F"/>
                </a:solidFill>
                <a:latin typeface="Courier"/>
              </a:rPr>
              <a:t>  </a:t>
            </a:r>
            <a:r>
              <a:rPr>
                <a:solidFill>
                  <a:srgbClr val="657422"/>
                </a:solidFill>
                <a:latin typeface="Courier"/>
              </a:rPr>
              <a:t>setSeed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657422"/>
                </a:solidFill>
                <a:latin typeface="Courier"/>
              </a:rPr>
              <a:t>progressBar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samplesAsCodaMCMC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003B4F"/>
                </a:solidFill>
                <a:latin typeface="Courier"/>
              </a:rPr>
              <a:t>nb_reg_fit &lt;- </a:t>
            </a:r>
            <a:r>
              <a:rPr>
                <a:solidFill>
                  <a:srgbClr val="4758AB"/>
                </a:solidFill>
                <a:latin typeface="Courier"/>
              </a:rPr>
              <a:t>nimbleMCMC</a:t>
            </a:r>
            <a:r>
              <a:rPr>
                <a:solidFill>
                  <a:srgbClr val="003B4F"/>
                </a:solidFill>
                <a:latin typeface="Courier"/>
              </a:rPr>
              <a:t>(nb_reg_code, </a:t>
            </a:r>
            <a:r>
              <a:rPr>
                <a:solidFill>
                  <a:srgbClr val="657422"/>
                </a:solidFill>
                <a:latin typeface="Courier"/>
              </a:rPr>
              <a:t>constants =</a:t>
            </a:r>
            <a:r>
              <a:rPr>
                <a:solidFill>
                  <a:srgbClr val="003B4F"/>
                </a:solidFill>
                <a:latin typeface="Courier"/>
              </a:rPr>
              <a:t> count_consts, </a:t>
            </a:r>
            <a:r>
              <a:rPr>
                <a:solidFill>
                  <a:srgbClr val="657422"/>
                </a:solidFill>
                <a:latin typeface="Courier"/>
              </a:rPr>
              <a:t>data =</a:t>
            </a:r>
            <a:r>
              <a:rPr>
                <a:solidFill>
                  <a:srgbClr val="003B4F"/>
                </a:solidFill>
                <a:latin typeface="Courier"/>
              </a:rPr>
              <a:t> count_data,</a:t>
            </a:r>
            <a:br/>
            <a:r>
              <a:rPr>
                <a:solidFill>
                  <a:srgbClr val="003B4F"/>
                </a:solidFill>
                <a:latin typeface="Courier"/>
              </a:rPr>
              <a:t>  </a:t>
            </a:r>
            <a:r>
              <a:rPr>
                <a:solidFill>
                  <a:srgbClr val="657422"/>
                </a:solidFill>
                <a:latin typeface="Courier"/>
              </a:rPr>
              <a:t>inits =</a:t>
            </a:r>
            <a:r>
              <a:rPr>
                <a:solidFill>
                  <a:srgbClr val="003B4F"/>
                </a:solidFill>
                <a:latin typeface="Courier"/>
              </a:rPr>
              <a:t> </a:t>
            </a:r>
            <a:r>
              <a:rPr b="1">
                <a:solidFill>
                  <a:srgbClr val="003B4F"/>
                </a:solidFill>
                <a:latin typeface="Courier"/>
              </a:rPr>
              <a:t>function</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a0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a1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phi =</a:t>
            </a:r>
            <a:r>
              <a:rPr>
                <a:solidFill>
                  <a:srgbClr val="003B4F"/>
                </a:solidFill>
                <a:latin typeface="Courier"/>
              </a:rPr>
              <a:t> </a:t>
            </a:r>
            <a:r>
              <a:rPr>
                <a:solidFill>
                  <a:srgbClr val="4758AB"/>
                </a:solidFill>
                <a:latin typeface="Courier"/>
              </a:rPr>
              <a:t>runif</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monitors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"a0"</a:t>
            </a:r>
            <a:r>
              <a:rPr>
                <a:solidFill>
                  <a:srgbClr val="003B4F"/>
                </a:solidFill>
                <a:latin typeface="Courier"/>
              </a:rPr>
              <a:t>, </a:t>
            </a:r>
            <a:r>
              <a:rPr>
                <a:solidFill>
                  <a:srgbClr val="20794D"/>
                </a:solidFill>
                <a:latin typeface="Courier"/>
              </a:rPr>
              <a:t>"a1"</a:t>
            </a:r>
            <a:r>
              <a:rPr>
                <a:solidFill>
                  <a:srgbClr val="003B4F"/>
                </a:solidFill>
                <a:latin typeface="Courier"/>
              </a:rPr>
              <a:t>, </a:t>
            </a:r>
            <a:r>
              <a:rPr>
                <a:solidFill>
                  <a:srgbClr val="20794D"/>
                </a:solidFill>
                <a:latin typeface="Courier"/>
              </a:rPr>
              <a:t>"phi"</a:t>
            </a:r>
            <a:r>
              <a:rPr>
                <a:solidFill>
                  <a:srgbClr val="003B4F"/>
                </a:solidFill>
                <a:latin typeface="Courier"/>
              </a:rPr>
              <a:t>),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niter =</a:t>
            </a:r>
            <a:r>
              <a:rPr>
                <a:solidFill>
                  <a:srgbClr val="003B4F"/>
                </a:solidFill>
                <a:latin typeface="Courier"/>
              </a:rPr>
              <a:t> </a:t>
            </a:r>
            <a:r>
              <a:rPr>
                <a:solidFill>
                  <a:srgbClr val="AD0000"/>
                </a:solidFill>
                <a:latin typeface="Courier"/>
              </a:rPr>
              <a:t>6000</a:t>
            </a:r>
            <a:r>
              <a:rPr>
                <a:solidFill>
                  <a:srgbClr val="003B4F"/>
                </a:solidFill>
                <a:latin typeface="Courier"/>
              </a:rPr>
              <a:t>, </a:t>
            </a:r>
            <a:r>
              <a:rPr>
                <a:solidFill>
                  <a:srgbClr val="657422"/>
                </a:solidFill>
                <a:latin typeface="Courier"/>
              </a:rPr>
              <a:t>nburnin =</a:t>
            </a:r>
            <a:r>
              <a:rPr>
                <a:solidFill>
                  <a:srgbClr val="003B4F"/>
                </a:solidFill>
                <a:latin typeface="Courier"/>
              </a:rPr>
              <a:t> </a:t>
            </a:r>
            <a:r>
              <a:rPr>
                <a:solidFill>
                  <a:srgbClr val="AD0000"/>
                </a:solidFill>
                <a:latin typeface="Courier"/>
              </a:rPr>
              <a:t>1000</a:t>
            </a:r>
            <a:r>
              <a:rPr>
                <a:solidFill>
                  <a:srgbClr val="003B4F"/>
                </a:solidFill>
                <a:latin typeface="Courier"/>
              </a:rPr>
              <a:t>,</a:t>
            </a:r>
            <a:br/>
            <a:r>
              <a:rPr>
                <a:solidFill>
                  <a:srgbClr val="003B4F"/>
                </a:solidFill>
                <a:latin typeface="Courier"/>
              </a:rPr>
              <a:t>  </a:t>
            </a:r>
            <a:r>
              <a:rPr>
                <a:solidFill>
                  <a:srgbClr val="657422"/>
                </a:solidFill>
                <a:latin typeface="Courier"/>
              </a:rPr>
              <a:t>setSeed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657422"/>
                </a:solidFill>
                <a:latin typeface="Courier"/>
              </a:rPr>
              <a:t>progressBar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samplesAsCodaMCMC =</a:t>
            </a:r>
            <a:r>
              <a:rPr>
                <a:solidFill>
                  <a:srgbClr val="003B4F"/>
                </a:solidFill>
                <a:latin typeface="Courier"/>
              </a:rPr>
              <a:t> </a:t>
            </a:r>
            <a:r>
              <a:rPr>
                <a:solidFill>
                  <a:srgbClr val="8F5902"/>
                </a:solidFill>
                <a:latin typeface="Courier"/>
              </a:rPr>
              <a:t>TRUE</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Nimble MCMC fitting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summarise_draws</a:t>
                </a:r>
                <a:r>
                  <a:rPr>
                    <a:solidFill>
                      <a:srgbClr val="003B4F"/>
                    </a:solidFill>
                    <a:latin typeface="Courier"/>
                  </a:rPr>
                  <a:t>(</a:t>
                </a:r>
                <a:r>
                  <a:rPr>
                    <a:solidFill>
                      <a:srgbClr val="4758AB"/>
                    </a:solidFill>
                    <a:latin typeface="Courier"/>
                  </a:rPr>
                  <a:t>as_draws</a:t>
                </a:r>
                <a:r>
                  <a:rPr>
                    <a:solidFill>
                      <a:srgbClr val="003B4F"/>
                    </a:solidFill>
                    <a:latin typeface="Courier"/>
                  </a:rPr>
                  <a:t>(pois_reg_fit), </a:t>
                </a:r>
                <a:r>
                  <a:rPr>
                    <a:solidFill>
                      <a:srgbClr val="20794D"/>
                    </a:solidFill>
                    <a:latin typeface="Courier"/>
                  </a:rPr>
                  <a:t>"mean"</a:t>
                </a:r>
                <a:r>
                  <a:rPr>
                    <a:solidFill>
                      <a:srgbClr val="003B4F"/>
                    </a:solidFill>
                    <a:latin typeface="Courier"/>
                  </a:rPr>
                  <a:t>, </a:t>
                </a:r>
                <a:r>
                  <a:rPr>
                    <a:solidFill>
                      <a:srgbClr val="20794D"/>
                    </a:solidFill>
                    <a:latin typeface="Courier"/>
                  </a:rPr>
                  <a:t>"sd"</a:t>
                </a:r>
                <a:r>
                  <a:rPr>
                    <a:solidFill>
                      <a:srgbClr val="003B4F"/>
                    </a:solidFill>
                    <a:latin typeface="Courier"/>
                  </a:rPr>
                  <a:t>, </a:t>
                </a:r>
                <a:r>
                  <a:rPr>
                    <a:solidFill>
                      <a:srgbClr val="5E5E5E"/>
                    </a:solidFill>
                    <a:latin typeface="Courier"/>
                  </a:rPr>
                  <a:t>~</a:t>
                </a:r>
                <a:r>
                  <a:rPr>
                    <a:solidFill>
                      <a:srgbClr val="4758AB"/>
                    </a:solidFill>
                    <a:latin typeface="Courier"/>
                  </a:rPr>
                  <a:t>quantile</a:t>
                </a:r>
                <a:r>
                  <a:rPr>
                    <a:solidFill>
                      <a:srgbClr val="003B4F"/>
                    </a:solidFill>
                    <a:latin typeface="Courier"/>
                  </a:rPr>
                  <a:t>(.x, </a:t>
                </a:r>
                <a:r>
                  <a:rPr>
                    <a:solidFill>
                      <a:srgbClr val="4758AB"/>
                    </a:solidFill>
                    <a:latin typeface="Courier"/>
                  </a:rPr>
                  <a:t>c</a:t>
                </a:r>
                <a:r>
                  <a:rPr>
                    <a:solidFill>
                      <a:srgbClr val="003B4F"/>
                    </a:solidFill>
                    <a:latin typeface="Courier"/>
                  </a:rPr>
                  <a:t>(</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a:t>
                </a:r>
              </a:p>
              <a:p>
                <a:pPr lvl="0" indent="0">
                  <a:buNone/>
                </a:pPr>
                <a:r>
                  <a:rPr>
                    <a:latin typeface="Courier"/>
                  </a:rPr>
                  <a:t># A tibble: 2 × 7
  variable   mean     sd `2.5%` `97.5%`  rhat ess_bulk
  &lt;chr&gt;     &lt;dbl&gt;  &lt;dbl&gt;  &lt;dbl&gt;   &lt;dbl&gt; &lt;dbl&gt;    &lt;dbl&gt;
1 a0        0.580 0.0761  0.426   0.725  1.00    1950.
2 a1       -0.465 0.117  -0.699  -0.236  1.00    1952.</a:t>
                </a:r>
              </a:p>
              <a:p>
                <a:pPr lvl="0" indent="0">
                  <a:buNone/>
                </a:pPr>
                <a:r>
                  <a:rPr>
                    <a:solidFill>
                      <a:srgbClr val="4758AB"/>
                    </a:solidFill>
                    <a:latin typeface="Courier"/>
                  </a:rPr>
                  <a:t>summarise_draws</a:t>
                </a:r>
                <a:r>
                  <a:rPr>
                    <a:solidFill>
                      <a:srgbClr val="003B4F"/>
                    </a:solidFill>
                    <a:latin typeface="Courier"/>
                  </a:rPr>
                  <a:t>(</a:t>
                </a:r>
                <a:r>
                  <a:rPr>
                    <a:solidFill>
                      <a:srgbClr val="4758AB"/>
                    </a:solidFill>
                    <a:latin typeface="Courier"/>
                  </a:rPr>
                  <a:t>as_draws</a:t>
                </a:r>
                <a:r>
                  <a:rPr>
                    <a:solidFill>
                      <a:srgbClr val="003B4F"/>
                    </a:solidFill>
                    <a:latin typeface="Courier"/>
                  </a:rPr>
                  <a:t>(nb_reg_fit),   </a:t>
                </a:r>
                <a:r>
                  <a:rPr>
                    <a:solidFill>
                      <a:srgbClr val="20794D"/>
                    </a:solidFill>
                    <a:latin typeface="Courier"/>
                  </a:rPr>
                  <a:t>"mean"</a:t>
                </a:r>
                <a:r>
                  <a:rPr>
                    <a:solidFill>
                      <a:srgbClr val="003B4F"/>
                    </a:solidFill>
                    <a:latin typeface="Courier"/>
                  </a:rPr>
                  <a:t>, </a:t>
                </a:r>
                <a:r>
                  <a:rPr>
                    <a:solidFill>
                      <a:srgbClr val="20794D"/>
                    </a:solidFill>
                    <a:latin typeface="Courier"/>
                  </a:rPr>
                  <a:t>"sd"</a:t>
                </a:r>
                <a:r>
                  <a:rPr>
                    <a:solidFill>
                      <a:srgbClr val="003B4F"/>
                    </a:solidFill>
                    <a:latin typeface="Courier"/>
                  </a:rPr>
                  <a:t>, </a:t>
                </a:r>
                <a:r>
                  <a:rPr>
                    <a:solidFill>
                      <a:srgbClr val="5E5E5E"/>
                    </a:solidFill>
                    <a:latin typeface="Courier"/>
                  </a:rPr>
                  <a:t>~</a:t>
                </a:r>
                <a:r>
                  <a:rPr>
                    <a:solidFill>
                      <a:srgbClr val="4758AB"/>
                    </a:solidFill>
                    <a:latin typeface="Courier"/>
                  </a:rPr>
                  <a:t>quantile</a:t>
                </a:r>
                <a:r>
                  <a:rPr>
                    <a:solidFill>
                      <a:srgbClr val="003B4F"/>
                    </a:solidFill>
                    <a:latin typeface="Courier"/>
                  </a:rPr>
                  <a:t>(.x, </a:t>
                </a:r>
                <a:r>
                  <a:rPr>
                    <a:solidFill>
                      <a:srgbClr val="4758AB"/>
                    </a:solidFill>
                    <a:latin typeface="Courier"/>
                  </a:rPr>
                  <a:t>c</a:t>
                </a:r>
                <a:r>
                  <a:rPr>
                    <a:solidFill>
                      <a:srgbClr val="003B4F"/>
                    </a:solidFill>
                    <a:latin typeface="Courier"/>
                  </a:rPr>
                  <a:t>(</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a:t>
                </a:r>
              </a:p>
              <a:p>
                <a:pPr lvl="0" indent="0">
                  <a:buNone/>
                </a:pPr>
                <a:r>
                  <a:rPr>
                    <a:latin typeface="Courier"/>
                  </a:rPr>
                  <a:t># A tibble: 3 × 7
  variable   mean    sd `2.5%` `97.5%`  rhat ess_bulk
  &lt;chr&gt;     &lt;dbl&gt; &lt;dbl&gt;  &lt;dbl&gt;   &lt;dbl&gt; &lt;dbl&gt;    &lt;dbl&gt;
1 a0        0.575 0.133  0.315  0.835   1.00    1676.
2 a1       -0.447 0.190 -0.817 -0.0750  1.00    1726.
3 phi       1.15  0.217  0.767  1.61    1.00    4677.</a:t>
                </a:r>
              </a:p>
              <a:p>
                <a:pPr lvl="0" indent="0" marL="0">
                  <a:buNone/>
                </a:pPr>
                <a:r>
                  <a:rPr/>
                  <a:t>Both models give similar point estimates of the ITN rate ratio </a:t>
                </a:r>
                <a14:m>
                  <m:oMath xmlns:m="http://schemas.openxmlformats.org/officeDocument/2006/math">
                    <m:sSup>
                      <m:e>
                        <m:r>
                          <m:t>e</m:t>
                        </m:r>
                      </m:e>
                      <m:sup>
                        <m:sSub>
                          <m:e>
                            <m:r>
                              <m:t>a</m:t>
                            </m:r>
                          </m:e>
                          <m:sub>
                            <m:r>
                              <m:t>1</m:t>
                            </m:r>
                          </m:sub>
                        </m:sSub>
                      </m:sup>
                    </m:sSup>
                  </m:oMath>
                </a14:m>
                <a:r>
                  <a:rPr/>
                  <a:t>, but the Poisson model’s credible interval is narrower. Is that extra certainty justified? A posterior posterior predictive check can tell us.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ppc_counts &lt;- </a:t>
            </a:r>
            <a:r>
              <a:rPr b="1">
                <a:solidFill>
                  <a:srgbClr val="003B4F"/>
                </a:solidFill>
                <a:latin typeface="Courier"/>
              </a:rPr>
              <a:t>function</a:t>
            </a:r>
            <a:r>
              <a:rPr>
                <a:solidFill>
                  <a:srgbClr val="003B4F"/>
                </a:solidFill>
                <a:latin typeface="Courier"/>
              </a:rPr>
              <a:t>(fit, model, </a:t>
            </a:r>
            <a:r>
              <a:rPr>
                <a:solidFill>
                  <a:srgbClr val="657422"/>
                </a:solidFill>
                <a:latin typeface="Courier"/>
              </a:rPr>
              <a:t>n_rep =</a:t>
            </a:r>
            <a:r>
              <a:rPr>
                <a:solidFill>
                  <a:srgbClr val="003B4F"/>
                </a:solidFill>
                <a:latin typeface="Courier"/>
              </a:rPr>
              <a:t> </a:t>
            </a:r>
            <a:r>
              <a:rPr>
                <a:solidFill>
                  <a:srgbClr val="AD0000"/>
                </a:solidFill>
                <a:latin typeface="Courier"/>
              </a:rPr>
              <a:t>1000</a:t>
            </a:r>
            <a:r>
              <a:rPr>
                <a:solidFill>
                  <a:srgbClr val="003B4F"/>
                </a:solidFill>
                <a:latin typeface="Courier"/>
              </a:rPr>
              <a:t>) {</a:t>
            </a:r>
            <a:br/>
            <a:r>
              <a:rPr>
                <a:solidFill>
                  <a:srgbClr val="003B4F"/>
                </a:solidFill>
                <a:latin typeface="Courier"/>
              </a:rPr>
              <a:t>  dr &lt;- </a:t>
            </a:r>
            <a:r>
              <a:rPr>
                <a:solidFill>
                  <a:srgbClr val="4758AB"/>
                </a:solidFill>
                <a:latin typeface="Courier"/>
              </a:rPr>
              <a:t>as.matrix</a:t>
            </a:r>
            <a:r>
              <a:rPr>
                <a:solidFill>
                  <a:srgbClr val="003B4F"/>
                </a:solidFill>
                <a:latin typeface="Courier"/>
              </a:rPr>
              <a:t>(fit)</a:t>
            </a:r>
            <a:br/>
            <a:r>
              <a:rPr>
                <a:solidFill>
                  <a:srgbClr val="003B4F"/>
                </a:solidFill>
                <a:latin typeface="Courier"/>
              </a:rPr>
              <a:t>  idx &lt;- </a:t>
            </a:r>
            <a:r>
              <a:rPr>
                <a:solidFill>
                  <a:srgbClr val="4758AB"/>
                </a:solidFill>
                <a:latin typeface="Courier"/>
              </a:rPr>
              <a:t>sample</a:t>
            </a:r>
            <a:r>
              <a:rPr>
                <a:solidFill>
                  <a:srgbClr val="003B4F"/>
                </a:solidFill>
                <a:latin typeface="Courier"/>
              </a:rPr>
              <a:t>(</a:t>
            </a:r>
            <a:r>
              <a:rPr>
                <a:solidFill>
                  <a:srgbClr val="4758AB"/>
                </a:solidFill>
                <a:latin typeface="Courier"/>
              </a:rPr>
              <a:t>nrow</a:t>
            </a:r>
            <a:r>
              <a:rPr>
                <a:solidFill>
                  <a:srgbClr val="003B4F"/>
                </a:solidFill>
                <a:latin typeface="Courier"/>
              </a:rPr>
              <a:t>(dr), n_rep)</a:t>
            </a:r>
            <a:br/>
            <a:r>
              <a:rPr>
                <a:solidFill>
                  <a:srgbClr val="003B4F"/>
                </a:solidFill>
                <a:latin typeface="Courier"/>
              </a:rPr>
              <a:t>  </a:t>
            </a:r>
            <a:r>
              <a:rPr>
                <a:solidFill>
                  <a:srgbClr val="4758AB"/>
                </a:solidFill>
                <a:latin typeface="Courier"/>
              </a:rPr>
              <a:t>map_dfr</a:t>
            </a:r>
            <a:r>
              <a:rPr>
                <a:solidFill>
                  <a:srgbClr val="003B4F"/>
                </a:solidFill>
                <a:latin typeface="Courier"/>
              </a:rPr>
              <a:t>(idx, </a:t>
            </a:r>
            <a:r>
              <a:rPr b="1">
                <a:solidFill>
                  <a:srgbClr val="003B4F"/>
                </a:solidFill>
                <a:latin typeface="Courier"/>
              </a:rPr>
              <a:t>function</a:t>
            </a:r>
            <a:r>
              <a:rPr>
                <a:solidFill>
                  <a:srgbClr val="003B4F"/>
                </a:solidFill>
                <a:latin typeface="Courier"/>
              </a:rPr>
              <a:t>(s) {                         </a:t>
            </a:r>
            <a:r>
              <a:rPr>
                <a:solidFill>
                  <a:srgbClr val="5E5E5E"/>
                </a:solidFill>
                <a:latin typeface="Courier"/>
              </a:rPr>
              <a:t># one posterior draw per replicate</a:t>
            </a:r>
            <a:br/>
            <a:r>
              <a:rPr>
                <a:solidFill>
                  <a:srgbClr val="003B4F"/>
                </a:solidFill>
                <a:latin typeface="Courier"/>
              </a:rPr>
              <a:t>    mu &lt;- </a:t>
            </a:r>
            <a:r>
              <a:rPr>
                <a:solidFill>
                  <a:srgbClr val="4758AB"/>
                </a:solidFill>
                <a:latin typeface="Courier"/>
              </a:rPr>
              <a:t>exp</a:t>
            </a:r>
            <a:r>
              <a:rPr>
                <a:solidFill>
                  <a:srgbClr val="003B4F"/>
                </a:solidFill>
                <a:latin typeface="Courier"/>
              </a:rPr>
              <a:t>(dr[s, </a:t>
            </a:r>
            <a:r>
              <a:rPr>
                <a:solidFill>
                  <a:srgbClr val="20794D"/>
                </a:solidFill>
                <a:latin typeface="Courier"/>
              </a:rPr>
              <a:t>"a0"</a:t>
            </a:r>
            <a:r>
              <a:rPr>
                <a:solidFill>
                  <a:srgbClr val="003B4F"/>
                </a:solidFill>
                <a:latin typeface="Courier"/>
              </a:rPr>
              <a:t>] </a:t>
            </a:r>
            <a:r>
              <a:rPr>
                <a:solidFill>
                  <a:srgbClr val="5E5E5E"/>
                </a:solidFill>
                <a:latin typeface="Courier"/>
              </a:rPr>
              <a:t>+</a:t>
            </a:r>
            <a:r>
              <a:rPr>
                <a:solidFill>
                  <a:srgbClr val="003B4F"/>
                </a:solidFill>
                <a:latin typeface="Courier"/>
              </a:rPr>
              <a:t> dr[s, </a:t>
            </a:r>
            <a:r>
              <a:rPr>
                <a:solidFill>
                  <a:srgbClr val="20794D"/>
                </a:solidFill>
                <a:latin typeface="Courier"/>
              </a:rPr>
              <a:t>"a1"</a:t>
            </a:r>
            <a:r>
              <a:rPr>
                <a:solidFill>
                  <a:srgbClr val="003B4F"/>
                </a:solidFill>
                <a:latin typeface="Courier"/>
              </a:rPr>
              <a:t>] </a:t>
            </a:r>
            <a:r>
              <a:rPr>
                <a:solidFill>
                  <a:srgbClr val="5E5E5E"/>
                </a:solidFill>
                <a:latin typeface="Courier"/>
              </a:rPr>
              <a:t>*</a:t>
            </a:r>
            <a:r>
              <a:rPr>
                <a:solidFill>
                  <a:srgbClr val="003B4F"/>
                </a:solidFill>
                <a:latin typeface="Courier"/>
              </a:rPr>
              <a:t> malaria_df</a:t>
            </a:r>
            <a:r>
              <a:rPr>
                <a:solidFill>
                  <a:srgbClr val="5E5E5E"/>
                </a:solidFill>
                <a:latin typeface="Courier"/>
              </a:rPr>
              <a:t>$</a:t>
            </a:r>
            <a:r>
              <a:rPr>
                <a:solidFill>
                  <a:srgbClr val="003B4F"/>
                </a:solidFill>
                <a:latin typeface="Courier"/>
              </a:rPr>
              <a:t>itn)</a:t>
            </a:r>
            <a:br/>
            <a:r>
              <a:rPr>
                <a:solidFill>
                  <a:srgbClr val="003B4F"/>
                </a:solidFill>
                <a:latin typeface="Courier"/>
              </a:rPr>
              <a:t>    y_rep &lt;- </a:t>
            </a:r>
            <a:r>
              <a:rPr b="1">
                <a:solidFill>
                  <a:srgbClr val="003B4F"/>
                </a:solidFill>
                <a:latin typeface="Courier"/>
              </a:rPr>
              <a:t>if</a:t>
            </a:r>
            <a:r>
              <a:rPr>
                <a:solidFill>
                  <a:srgbClr val="003B4F"/>
                </a:solidFill>
                <a:latin typeface="Courier"/>
              </a:rPr>
              <a:t> (model </a:t>
            </a:r>
            <a:r>
              <a:rPr>
                <a:solidFill>
                  <a:srgbClr val="5E5E5E"/>
                </a:solidFill>
                <a:latin typeface="Courier"/>
              </a:rPr>
              <a:t>==</a:t>
            </a:r>
            <a:r>
              <a:rPr>
                <a:solidFill>
                  <a:srgbClr val="003B4F"/>
                </a:solidFill>
                <a:latin typeface="Courier"/>
              </a:rPr>
              <a:t> </a:t>
            </a:r>
            <a:r>
              <a:rPr>
                <a:solidFill>
                  <a:srgbClr val="20794D"/>
                </a:solidFill>
                <a:latin typeface="Courier"/>
              </a:rPr>
              <a:t>"Poisson"</a:t>
            </a:r>
            <a:r>
              <a:rPr>
                <a:solidFill>
                  <a:srgbClr val="003B4F"/>
                </a:solidFill>
                <a:latin typeface="Courier"/>
              </a:rPr>
              <a:t>) </a:t>
            </a:r>
            <a:r>
              <a:rPr>
                <a:solidFill>
                  <a:srgbClr val="4758AB"/>
                </a:solidFill>
                <a:latin typeface="Courier"/>
              </a:rPr>
              <a:t>rpois</a:t>
            </a:r>
            <a:r>
              <a:rPr>
                <a:solidFill>
                  <a:srgbClr val="003B4F"/>
                </a:solidFill>
                <a:latin typeface="Courier"/>
              </a:rPr>
              <a:t>(N_k, mu) </a:t>
            </a:r>
            <a:r>
              <a:rPr b="1">
                <a:solidFill>
                  <a:srgbClr val="003B4F"/>
                </a:solidFill>
                <a:latin typeface="Courier"/>
              </a:rPr>
              <a:t>else</a:t>
            </a:r>
            <a:r>
              <a:rPr>
                <a:solidFill>
                  <a:srgbClr val="003B4F"/>
                </a:solidFill>
                <a:latin typeface="Courier"/>
              </a:rPr>
              <a:t> </a:t>
            </a:r>
            <a:r>
              <a:rPr>
                <a:solidFill>
                  <a:srgbClr val="4758AB"/>
                </a:solidFill>
                <a:latin typeface="Courier"/>
              </a:rPr>
              <a:t>rnbinom</a:t>
            </a:r>
            <a:r>
              <a:rPr>
                <a:solidFill>
                  <a:srgbClr val="003B4F"/>
                </a:solidFill>
                <a:latin typeface="Courier"/>
              </a:rPr>
              <a:t>(N_k,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dr[s, </a:t>
            </a:r>
            <a:r>
              <a:rPr>
                <a:solidFill>
                  <a:srgbClr val="20794D"/>
                </a:solidFill>
                <a:latin typeface="Courier"/>
              </a:rPr>
              <a:t>"phi"</a:t>
            </a:r>
            <a:r>
              <a:rPr>
                <a:solidFill>
                  <a:srgbClr val="003B4F"/>
                </a:solidFill>
                <a:latin typeface="Courier"/>
              </a:rPr>
              <a:t>], </a:t>
            </a:r>
            <a:r>
              <a:rPr>
                <a:solidFill>
                  <a:srgbClr val="657422"/>
                </a:solidFill>
                <a:latin typeface="Courier"/>
              </a:rPr>
              <a:t>mu =</a:t>
            </a:r>
            <a:r>
              <a:rPr>
                <a:solidFill>
                  <a:srgbClr val="003B4F"/>
                </a:solidFill>
                <a:latin typeface="Courier"/>
              </a:rPr>
              <a:t> mu)</a:t>
            </a:r>
            <a:br/>
            <a:r>
              <a:rPr>
                <a:solidFill>
                  <a:srgbClr val="003B4F"/>
                </a:solidFill>
                <a:latin typeface="Courier"/>
              </a:rPr>
              <a:t>    </a:t>
            </a:r>
            <a:r>
              <a:rPr>
                <a:solidFill>
                  <a:srgbClr val="4758AB"/>
                </a:solidFill>
                <a:latin typeface="Courier"/>
              </a:rPr>
              <a:t>tibble</a:t>
            </a:r>
            <a:r>
              <a:rPr>
                <a:solidFill>
                  <a:srgbClr val="003B4F"/>
                </a:solidFill>
                <a:latin typeface="Courier"/>
              </a:rPr>
              <a:t>(</a:t>
            </a:r>
            <a:r>
              <a:rPr>
                <a:solidFill>
                  <a:srgbClr val="20794D"/>
                </a:solidFill>
                <a:latin typeface="Courier"/>
              </a:rPr>
              <a:t>`</a:t>
            </a:r>
            <a:r>
              <a:rPr>
                <a:solidFill>
                  <a:srgbClr val="657422"/>
                </a:solidFill>
                <a:latin typeface="Courier"/>
              </a:rPr>
              <a:t>proportion of zeros</a:t>
            </a:r>
            <a:r>
              <a:rPr>
                <a:solidFill>
                  <a:srgbClr val="20794D"/>
                </a:solidFill>
                <a:latin typeface="Courier"/>
              </a:rPr>
              <a:t>`</a:t>
            </a:r>
            <a:r>
              <a:rPr>
                <a:solidFill>
                  <a:srgbClr val="003B4F"/>
                </a:solidFill>
                <a:latin typeface="Courier"/>
              </a:rPr>
              <a:t> = </a:t>
            </a:r>
            <a:r>
              <a:rPr>
                <a:solidFill>
                  <a:srgbClr val="4758AB"/>
                </a:solidFill>
                <a:latin typeface="Courier"/>
              </a:rPr>
              <a:t>mean</a:t>
            </a:r>
            <a:r>
              <a:rPr>
                <a:solidFill>
                  <a:srgbClr val="003B4F"/>
                </a:solidFill>
                <a:latin typeface="Courier"/>
              </a:rPr>
              <a:t>(y_rep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variance / mean</a:t>
            </a:r>
            <a:r>
              <a:rPr>
                <a:solidFill>
                  <a:srgbClr val="20794D"/>
                </a:solidFill>
                <a:latin typeface="Courier"/>
              </a:rPr>
              <a:t>`</a:t>
            </a:r>
            <a:r>
              <a:rPr>
                <a:solidFill>
                  <a:srgbClr val="003B4F"/>
                </a:solidFill>
                <a:latin typeface="Courier"/>
              </a:rPr>
              <a:t>     = </a:t>
            </a:r>
            <a:r>
              <a:rPr>
                <a:solidFill>
                  <a:srgbClr val="4758AB"/>
                </a:solidFill>
                <a:latin typeface="Courier"/>
              </a:rPr>
              <a:t>var</a:t>
            </a:r>
            <a:r>
              <a:rPr>
                <a:solidFill>
                  <a:srgbClr val="003B4F"/>
                </a:solidFill>
                <a:latin typeface="Courier"/>
              </a:rPr>
              <a:t>(y_rep)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(y_rep),</a:t>
            </a:r>
            <a:br/>
            <a:r>
              <a:rPr>
                <a:solidFill>
                  <a:srgbClr val="003B4F"/>
                </a:solidFill>
                <a:latin typeface="Courier"/>
              </a:rPr>
              <a:t>           </a:t>
            </a:r>
            <a:r>
              <a:rPr>
                <a:solidFill>
                  <a:srgbClr val="20794D"/>
                </a:solidFill>
                <a:latin typeface="Courier"/>
              </a:rPr>
              <a:t>`</a:t>
            </a:r>
            <a:r>
              <a:rPr>
                <a:solidFill>
                  <a:srgbClr val="657422"/>
                </a:solidFill>
                <a:latin typeface="Courier"/>
              </a:rPr>
              <a:t>maximum</a:t>
            </a:r>
            <a:r>
              <a:rPr>
                <a:solidFill>
                  <a:srgbClr val="20794D"/>
                </a:solidFill>
                <a:latin typeface="Courier"/>
              </a:rPr>
              <a:t>`</a:t>
            </a:r>
            <a:r>
              <a:rPr>
                <a:solidFill>
                  <a:srgbClr val="003B4F"/>
                </a:solidFill>
                <a:latin typeface="Courier"/>
              </a:rPr>
              <a:t>             = </a:t>
            </a:r>
            <a:r>
              <a:rPr>
                <a:solidFill>
                  <a:srgbClr val="4758AB"/>
                </a:solidFill>
                <a:latin typeface="Courier"/>
              </a:rPr>
              <a:t>max</a:t>
            </a:r>
            <a:r>
              <a:rPr>
                <a:solidFill>
                  <a:srgbClr val="003B4F"/>
                </a:solidFill>
                <a:latin typeface="Courier"/>
              </a:rPr>
              <a:t>(y_rep))</a:t>
            </a:r>
            <a:br/>
            <a:r>
              <a:rPr>
                <a:solidFill>
                  <a:srgbClr val="003B4F"/>
                </a:solidFill>
                <a:latin typeface="Courier"/>
              </a:rPr>
              <a:t>  }) </a:t>
            </a:r>
            <a:r>
              <a:rPr>
                <a:solidFill>
                  <a:srgbClr val="5E5E5E"/>
                </a:solidFill>
                <a:latin typeface="Courier"/>
              </a:rPr>
              <a:t>|&gt;</a:t>
            </a: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model =</a:t>
            </a:r>
            <a:r>
              <a:rPr>
                <a:solidFill>
                  <a:srgbClr val="003B4F"/>
                </a:solidFill>
                <a:latin typeface="Courier"/>
              </a:rPr>
              <a:t> model)</a:t>
            </a:r>
            <a:b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 (cont’d)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11</a:t>
            </a:r>
            <a:r>
              <a:rPr>
                <a:solidFill>
                  <a:srgbClr val="003B4F"/>
                </a:solidFill>
                <a:latin typeface="Courier"/>
              </a:rPr>
              <a:t>)</a:t>
            </a:r>
            <a:br/>
            <a:r>
              <a:rPr>
                <a:solidFill>
                  <a:srgbClr val="003B4F"/>
                </a:solidFill>
                <a:latin typeface="Courier"/>
              </a:rPr>
              <a:t>ppc &lt;- </a:t>
            </a:r>
            <a:r>
              <a:rPr>
                <a:solidFill>
                  <a:srgbClr val="4758AB"/>
                </a:solidFill>
                <a:latin typeface="Courier"/>
              </a:rPr>
              <a:t>bind_rows</a:t>
            </a:r>
            <a:r>
              <a:rPr>
                <a:solidFill>
                  <a:srgbClr val="003B4F"/>
                </a:solidFill>
                <a:latin typeface="Courier"/>
              </a:rPr>
              <a:t>(</a:t>
            </a:r>
            <a:r>
              <a:rPr>
                <a:solidFill>
                  <a:srgbClr val="4758AB"/>
                </a:solidFill>
                <a:latin typeface="Courier"/>
              </a:rPr>
              <a:t>ppc_counts</a:t>
            </a:r>
            <a:r>
              <a:rPr>
                <a:solidFill>
                  <a:srgbClr val="003B4F"/>
                </a:solidFill>
                <a:latin typeface="Courier"/>
              </a:rPr>
              <a:t>(pois_reg_fit, </a:t>
            </a:r>
            <a:r>
              <a:rPr>
                <a:solidFill>
                  <a:srgbClr val="20794D"/>
                </a:solidFill>
                <a:latin typeface="Courier"/>
              </a:rPr>
              <a:t>"Poisson"</a:t>
            </a:r>
            <a:r>
              <a:rPr>
                <a:solidFill>
                  <a:srgbClr val="003B4F"/>
                </a:solidFill>
                <a:latin typeface="Courier"/>
              </a:rPr>
              <a:t>), </a:t>
            </a:r>
            <a:r>
              <a:rPr>
                <a:solidFill>
                  <a:srgbClr val="4758AB"/>
                </a:solidFill>
                <a:latin typeface="Courier"/>
              </a:rPr>
              <a:t>ppc_counts</a:t>
            </a:r>
            <a:r>
              <a:rPr>
                <a:solidFill>
                  <a:srgbClr val="003B4F"/>
                </a:solidFill>
                <a:latin typeface="Courier"/>
              </a:rPr>
              <a:t>(nb_reg_fit, </a:t>
            </a:r>
            <a:r>
              <a:rPr>
                <a:solidFill>
                  <a:srgbClr val="20794D"/>
                </a:solidFill>
                <a:latin typeface="Courier"/>
              </a:rPr>
              <a:t>"Negative binomial"</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pivot_longer</a:t>
            </a:r>
            <a:r>
              <a:rPr>
                <a:solidFill>
                  <a:srgbClr val="003B4F"/>
                </a:solidFill>
                <a:latin typeface="Courier"/>
              </a:rPr>
              <a:t>(</a:t>
            </a:r>
            <a:r>
              <a:rPr>
                <a:solidFill>
                  <a:srgbClr val="5E5E5E"/>
                </a:solidFill>
                <a:latin typeface="Courier"/>
              </a:rPr>
              <a:t>-</a:t>
            </a:r>
            <a:r>
              <a:rPr>
                <a:solidFill>
                  <a:srgbClr val="003B4F"/>
                </a:solidFill>
                <a:latin typeface="Courier"/>
              </a:rPr>
              <a:t>model, </a:t>
            </a:r>
            <a:r>
              <a:rPr>
                <a:solidFill>
                  <a:srgbClr val="657422"/>
                </a:solidFill>
                <a:latin typeface="Courier"/>
              </a:rPr>
              <a:t>names_to =</a:t>
            </a:r>
            <a:r>
              <a:rPr>
                <a:solidFill>
                  <a:srgbClr val="003B4F"/>
                </a:solidFill>
                <a:latin typeface="Courier"/>
              </a:rPr>
              <a:t> </a:t>
            </a:r>
            <a:r>
              <a:rPr>
                <a:solidFill>
                  <a:srgbClr val="20794D"/>
                </a:solidFill>
                <a:latin typeface="Courier"/>
              </a:rPr>
              <a:t>"statistic"</a:t>
            </a:r>
            <a:r>
              <a:rPr>
                <a:solidFill>
                  <a:srgbClr val="003B4F"/>
                </a:solidFill>
                <a:latin typeface="Courier"/>
              </a:rPr>
              <a:t>)</a:t>
            </a:r>
            <a:br/>
            <a:br/>
            <a:r>
              <a:rPr>
                <a:solidFill>
                  <a:srgbClr val="003B4F"/>
                </a:solidFill>
                <a:latin typeface="Courier"/>
              </a:rPr>
              <a:t>observed &lt;- </a:t>
            </a:r>
            <a:r>
              <a:rPr>
                <a:solidFill>
                  <a:srgbClr val="4758AB"/>
                </a:solidFill>
                <a:latin typeface="Courier"/>
              </a:rPr>
              <a:t>tibble</a:t>
            </a:r>
            <a:r>
              <a:rPr>
                <a:solidFill>
                  <a:srgbClr val="003B4F"/>
                </a:solidFill>
                <a:latin typeface="Courier"/>
              </a:rPr>
              <a:t>(</a:t>
            </a:r>
            <a:r>
              <a:rPr>
                <a:solidFill>
                  <a:srgbClr val="20794D"/>
                </a:solidFill>
                <a:latin typeface="Courier"/>
              </a:rPr>
              <a:t>`</a:t>
            </a:r>
            <a:r>
              <a:rPr>
                <a:solidFill>
                  <a:srgbClr val="657422"/>
                </a:solidFill>
                <a:latin typeface="Courier"/>
              </a:rPr>
              <a:t>proportion of zeros</a:t>
            </a:r>
            <a:r>
              <a:rPr>
                <a:solidFill>
                  <a:srgbClr val="20794D"/>
                </a:solidFill>
                <a:latin typeface="Courier"/>
              </a:rPr>
              <a:t>`</a:t>
            </a:r>
            <a:r>
              <a:rPr>
                <a:solidFill>
                  <a:srgbClr val="003B4F"/>
                </a:solidFill>
                <a:latin typeface="Courier"/>
              </a:rPr>
              <a:t> = </a:t>
            </a:r>
            <a:r>
              <a:rPr>
                <a:solidFill>
                  <a:srgbClr val="4758AB"/>
                </a:solidFill>
                <a:latin typeface="Courier"/>
              </a:rPr>
              <a:t>mean</a:t>
            </a:r>
            <a:r>
              <a:rPr>
                <a:solidFill>
                  <a:srgbClr val="003B4F"/>
                </a:solidFill>
                <a:latin typeface="Courier"/>
              </a:rPr>
              <a:t>(malaria_df</a:t>
            </a:r>
            <a:r>
              <a:rPr>
                <a:solidFill>
                  <a:srgbClr val="5E5E5E"/>
                </a:solidFill>
                <a:latin typeface="Courier"/>
              </a:rPr>
              <a:t>$</a:t>
            </a:r>
            <a:r>
              <a:rPr>
                <a:solidFill>
                  <a:srgbClr val="003B4F"/>
                </a:solidFill>
                <a:latin typeface="Courier"/>
              </a:rPr>
              <a:t>episodes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variance / mean</a:t>
            </a:r>
            <a:r>
              <a:rPr>
                <a:solidFill>
                  <a:srgbClr val="20794D"/>
                </a:solidFill>
                <a:latin typeface="Courier"/>
              </a:rPr>
              <a:t>`</a:t>
            </a:r>
            <a:r>
              <a:rPr>
                <a:solidFill>
                  <a:srgbClr val="003B4F"/>
                </a:solidFill>
                <a:latin typeface="Courier"/>
              </a:rPr>
              <a:t>     = </a:t>
            </a:r>
            <a:r>
              <a:rPr>
                <a:solidFill>
                  <a:srgbClr val="4758AB"/>
                </a:solidFill>
                <a:latin typeface="Courier"/>
              </a:rPr>
              <a:t>var</a:t>
            </a:r>
            <a:r>
              <a:rPr>
                <a:solidFill>
                  <a:srgbClr val="003B4F"/>
                </a:solidFill>
                <a:latin typeface="Courier"/>
              </a:rPr>
              <a:t>(malaria_df</a:t>
            </a:r>
            <a:r>
              <a:rPr>
                <a:solidFill>
                  <a:srgbClr val="5E5E5E"/>
                </a:solidFill>
                <a:latin typeface="Courier"/>
              </a:rPr>
              <a:t>$</a:t>
            </a:r>
            <a:r>
              <a:rPr>
                <a:solidFill>
                  <a:srgbClr val="003B4F"/>
                </a:solidFill>
                <a:latin typeface="Courier"/>
              </a:rPr>
              <a:t>episodes)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(malaria_df</a:t>
            </a:r>
            <a:r>
              <a:rPr>
                <a:solidFill>
                  <a:srgbClr val="5E5E5E"/>
                </a:solidFill>
                <a:latin typeface="Courier"/>
              </a:rPr>
              <a:t>$</a:t>
            </a:r>
            <a:r>
              <a:rPr>
                <a:solidFill>
                  <a:srgbClr val="003B4F"/>
                </a:solidFill>
                <a:latin typeface="Courier"/>
              </a:rPr>
              <a:t>episodes),</a:t>
            </a:r>
            <a:br/>
            <a:r>
              <a:rPr>
                <a:solidFill>
                  <a:srgbClr val="003B4F"/>
                </a:solidFill>
                <a:latin typeface="Courier"/>
              </a:rPr>
              <a:t>                   </a:t>
            </a:r>
            <a:r>
              <a:rPr>
                <a:solidFill>
                  <a:srgbClr val="20794D"/>
                </a:solidFill>
                <a:latin typeface="Courier"/>
              </a:rPr>
              <a:t>`</a:t>
            </a:r>
            <a:r>
              <a:rPr>
                <a:solidFill>
                  <a:srgbClr val="657422"/>
                </a:solidFill>
                <a:latin typeface="Courier"/>
              </a:rPr>
              <a:t>maximum</a:t>
            </a:r>
            <a:r>
              <a:rPr>
                <a:solidFill>
                  <a:srgbClr val="20794D"/>
                </a:solidFill>
                <a:latin typeface="Courier"/>
              </a:rPr>
              <a:t>`</a:t>
            </a:r>
            <a:r>
              <a:rPr>
                <a:solidFill>
                  <a:srgbClr val="003B4F"/>
                </a:solidFill>
                <a:latin typeface="Courier"/>
              </a:rPr>
              <a:t>             = </a:t>
            </a:r>
            <a:r>
              <a:rPr>
                <a:solidFill>
                  <a:srgbClr val="4758AB"/>
                </a:solidFill>
                <a:latin typeface="Courier"/>
              </a:rPr>
              <a:t>max</a:t>
            </a:r>
            <a:r>
              <a:rPr>
                <a:solidFill>
                  <a:srgbClr val="003B4F"/>
                </a:solidFill>
                <a:latin typeface="Courier"/>
              </a:rPr>
              <a:t>(malaria_df</a:t>
            </a:r>
            <a:r>
              <a:rPr>
                <a:solidFill>
                  <a:srgbClr val="5E5E5E"/>
                </a:solidFill>
                <a:latin typeface="Courier"/>
              </a:rPr>
              <a:t>$</a:t>
            </a:r>
            <a:r>
              <a:rPr>
                <a:solidFill>
                  <a:srgbClr val="003B4F"/>
                </a:solidFill>
                <a:latin typeface="Courier"/>
              </a:rPr>
              <a:t>episodes)) </a:t>
            </a:r>
            <a:r>
              <a:rPr>
                <a:solidFill>
                  <a:srgbClr val="5E5E5E"/>
                </a:solidFill>
                <a:latin typeface="Courier"/>
              </a:rPr>
              <a:t>|&gt;</a:t>
            </a:r>
            <a:br/>
            <a:r>
              <a:rPr>
                <a:solidFill>
                  <a:srgbClr val="003B4F"/>
                </a:solidFill>
                <a:latin typeface="Courier"/>
              </a:rPr>
              <a:t>  </a:t>
            </a:r>
            <a:r>
              <a:rPr>
                <a:solidFill>
                  <a:srgbClr val="4758AB"/>
                </a:solidFill>
                <a:latin typeface="Courier"/>
              </a:rPr>
              <a:t>pivot_longer</a:t>
            </a:r>
            <a:r>
              <a:rPr>
                <a:solidFill>
                  <a:srgbClr val="003B4F"/>
                </a:solidFill>
                <a:latin typeface="Courier"/>
              </a:rPr>
              <a:t>(</a:t>
            </a:r>
            <a:r>
              <a:rPr>
                <a:solidFill>
                  <a:srgbClr val="4758AB"/>
                </a:solidFill>
                <a:latin typeface="Courier"/>
              </a:rPr>
              <a:t>everything</a:t>
            </a:r>
            <a:r>
              <a:rPr>
                <a:solidFill>
                  <a:srgbClr val="003B4F"/>
                </a:solidFill>
                <a:latin typeface="Courier"/>
              </a:rPr>
              <a:t>(), </a:t>
            </a:r>
            <a:r>
              <a:rPr>
                <a:solidFill>
                  <a:srgbClr val="657422"/>
                </a:solidFill>
                <a:latin typeface="Courier"/>
              </a:rPr>
              <a:t>names_to =</a:t>
            </a:r>
            <a:r>
              <a:rPr>
                <a:solidFill>
                  <a:srgbClr val="003B4F"/>
                </a:solidFill>
                <a:latin typeface="Courier"/>
              </a:rPr>
              <a:t> </a:t>
            </a:r>
            <a:r>
              <a:rPr>
                <a:solidFill>
                  <a:srgbClr val="20794D"/>
                </a:solidFill>
                <a:latin typeface="Courier"/>
              </a:rPr>
              <a:t>"statistic"</a:t>
            </a:r>
            <a:r>
              <a:rPr>
                <a:solidFill>
                  <a:srgbClr val="003B4F"/>
                </a:solidFill>
                <a:latin typeface="Courier"/>
              </a:rPr>
              <a:t>, </a:t>
            </a:r>
            <a:r>
              <a:rPr>
                <a:solidFill>
                  <a:srgbClr val="657422"/>
                </a:solidFill>
                <a:latin typeface="Courier"/>
              </a:rPr>
              <a:t>values_to =</a:t>
            </a:r>
            <a:r>
              <a:rPr>
                <a:solidFill>
                  <a:srgbClr val="003B4F"/>
                </a:solidFill>
                <a:latin typeface="Courier"/>
              </a:rPr>
              <a:t> </a:t>
            </a:r>
            <a:r>
              <a:rPr>
                <a:solidFill>
                  <a:srgbClr val="20794D"/>
                </a:solidFill>
                <a:latin typeface="Courier"/>
              </a:rPr>
              <a:t>"observed"</a:t>
            </a:r>
            <a:r>
              <a:rPr>
                <a:solidFill>
                  <a:srgbClr val="003B4F"/>
                </a:solidFill>
                <a:latin typeface="Courier"/>
              </a:rPr>
              <a:t>)</a:t>
            </a:r>
            <a:br/>
            <a:br/>
            <a:r>
              <a:rPr>
                <a:solidFill>
                  <a:srgbClr val="4758AB"/>
                </a:solidFill>
                <a:latin typeface="Courier"/>
              </a:rPr>
              <a:t>ggplot</a:t>
            </a:r>
            <a:r>
              <a:rPr>
                <a:solidFill>
                  <a:srgbClr val="003B4F"/>
                </a:solidFill>
                <a:latin typeface="Courier"/>
              </a:rPr>
              <a:t>(ppc, </a:t>
            </a:r>
            <a:r>
              <a:rPr>
                <a:solidFill>
                  <a:srgbClr val="4758AB"/>
                </a:solidFill>
                <a:latin typeface="Courier"/>
              </a:rPr>
              <a:t>aes</a:t>
            </a:r>
            <a:r>
              <a:rPr>
                <a:solidFill>
                  <a:srgbClr val="003B4F"/>
                </a:solidFill>
                <a:latin typeface="Courier"/>
              </a:rPr>
              <a:t>(value))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bins =</a:t>
            </a:r>
            <a:r>
              <a:rPr>
                <a:solidFill>
                  <a:srgbClr val="003B4F"/>
                </a:solidFill>
                <a:latin typeface="Courier"/>
              </a:rPr>
              <a:t> </a:t>
            </a:r>
            <a:r>
              <a:rPr>
                <a:solidFill>
                  <a:srgbClr val="AD0000"/>
                </a:solidFill>
                <a:latin typeface="Courier"/>
              </a:rPr>
              <a:t>30</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"grey70"</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"white"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data =</a:t>
            </a:r>
            <a:r>
              <a:rPr>
                <a:solidFill>
                  <a:srgbClr val="003B4F"/>
                </a:solidFill>
                <a:latin typeface="Courier"/>
              </a:rPr>
              <a:t> observed, </a:t>
            </a:r>
            <a:r>
              <a:rPr>
                <a:solidFill>
                  <a:srgbClr val="4758AB"/>
                </a:solidFill>
                <a:latin typeface="Courier"/>
              </a:rPr>
              <a:t>aes</a:t>
            </a:r>
            <a:r>
              <a:rPr>
                <a:solidFill>
                  <a:srgbClr val="003B4F"/>
                </a:solidFill>
                <a:latin typeface="Courier"/>
              </a:rPr>
              <a:t>(</a:t>
            </a:r>
            <a:r>
              <a:rPr>
                <a:solidFill>
                  <a:srgbClr val="657422"/>
                </a:solidFill>
                <a:latin typeface="Courier"/>
              </a:rPr>
              <a:t>xintercept =</a:t>
            </a:r>
            <a:r>
              <a:rPr>
                <a:solidFill>
                  <a:srgbClr val="003B4F"/>
                </a:solidFill>
                <a:latin typeface="Courier"/>
              </a:rPr>
              <a:t> observed), </a:t>
            </a:r>
            <a:r>
              <a:rPr>
                <a:solidFill>
                  <a:srgbClr val="657422"/>
                </a:solidFill>
                <a:latin typeface="Courier"/>
              </a:rPr>
              <a:t>colour =</a:t>
            </a:r>
            <a:r>
              <a:rPr>
                <a:solidFill>
                  <a:srgbClr val="003B4F"/>
                </a:solidFill>
                <a:latin typeface="Courier"/>
              </a:rPr>
              <a:t> </a:t>
            </a:r>
            <a:r>
              <a:rPr>
                <a:solidFill>
                  <a:srgbClr val="20794D"/>
                </a:solidFill>
                <a:latin typeface="Courier"/>
              </a:rPr>
              <a:t>"salmon"</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facet_grid</a:t>
            </a:r>
            <a:r>
              <a:rPr>
                <a:solidFill>
                  <a:srgbClr val="003B4F"/>
                </a:solidFill>
                <a:latin typeface="Courier"/>
              </a:rPr>
              <a:t>(model </a:t>
            </a:r>
            <a:r>
              <a:rPr>
                <a:solidFill>
                  <a:srgbClr val="5E5E5E"/>
                </a:solidFill>
                <a:latin typeface="Courier"/>
              </a:rPr>
              <a:t>~</a:t>
            </a:r>
            <a:r>
              <a:rPr>
                <a:solidFill>
                  <a:srgbClr val="003B4F"/>
                </a:solidFill>
                <a:latin typeface="Courier"/>
              </a:rPr>
              <a:t> statistic, </a:t>
            </a:r>
            <a:r>
              <a:rPr>
                <a:solidFill>
                  <a:srgbClr val="657422"/>
                </a:solidFill>
                <a:latin typeface="Courier"/>
              </a:rPr>
              <a:t>scales =</a:t>
            </a:r>
            <a:r>
              <a:rPr>
                <a:solidFill>
                  <a:srgbClr val="003B4F"/>
                </a:solidFill>
                <a:latin typeface="Courier"/>
              </a:rPr>
              <a:t> </a:t>
            </a:r>
            <a:r>
              <a:rPr>
                <a:solidFill>
                  <a:srgbClr val="20794D"/>
                </a:solidFill>
                <a:latin typeface="Courier"/>
              </a:rPr>
              <a:t>"free"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"test statistic in replicated datasets (grey) vs observed (red)"</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8F5902"/>
                </a:solidFill>
                <a:latin typeface="Courier"/>
              </a:rPr>
              <a:t>NULL</a:t>
            </a:r>
            <a:r>
              <a:rPr>
                <a:solidFill>
                  <a:srgbClr val="003B4F"/>
                </a:solidFill>
                <a:latin typeface="Courier"/>
              </a:rPr>
              <a:t>)</a:t>
            </a:r>
            <a:br/>
            <a:br/>
            <a:r>
              <a:rPr>
                <a:solidFill>
                  <a:srgbClr val="003B4F"/>
                </a:solidFill>
                <a:latin typeface="Courier"/>
              </a:rPr>
              <a:t>ppc </a:t>
            </a:r>
            <a:r>
              <a:rPr>
                <a:solidFill>
                  <a:srgbClr val="5E5E5E"/>
                </a:solidFill>
                <a:latin typeface="Courier"/>
              </a:rPr>
              <a:t>|&gt;</a:t>
            </a:r>
            <a:r>
              <a:rPr>
                <a:solidFill>
                  <a:srgbClr val="003B4F"/>
                </a:solidFill>
                <a:latin typeface="Courier"/>
              </a:rPr>
              <a:t> </a:t>
            </a:r>
            <a:r>
              <a:rPr>
                <a:solidFill>
                  <a:srgbClr val="4758AB"/>
                </a:solidFill>
                <a:latin typeface="Courier"/>
              </a:rPr>
              <a:t>left_join</a:t>
            </a:r>
            <a:r>
              <a:rPr>
                <a:solidFill>
                  <a:srgbClr val="003B4F"/>
                </a:solidFill>
                <a:latin typeface="Courier"/>
              </a:rPr>
              <a:t>(observed, </a:t>
            </a:r>
            <a:r>
              <a:rPr>
                <a:solidFill>
                  <a:srgbClr val="657422"/>
                </a:solidFill>
                <a:latin typeface="Courier"/>
              </a:rPr>
              <a:t>by =</a:t>
            </a:r>
            <a:r>
              <a:rPr>
                <a:solidFill>
                  <a:srgbClr val="003B4F"/>
                </a:solidFill>
                <a:latin typeface="Courier"/>
              </a:rPr>
              <a:t> </a:t>
            </a:r>
            <a:r>
              <a:rPr>
                <a:solidFill>
                  <a:srgbClr val="20794D"/>
                </a:solidFill>
                <a:latin typeface="Courier"/>
              </a:rPr>
              <a:t>"statistic"</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(model, statistic)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20794D"/>
                </a:solidFill>
                <a:latin typeface="Courier"/>
              </a:rPr>
              <a:t>`</a:t>
            </a:r>
            <a:r>
              <a:rPr>
                <a:solidFill>
                  <a:srgbClr val="657422"/>
                </a:solidFill>
                <a:latin typeface="Courier"/>
              </a:rPr>
              <a:t>posterior predictive p-value</a:t>
            </a:r>
            <a:r>
              <a:rPr>
                <a:solidFill>
                  <a:srgbClr val="20794D"/>
                </a:solidFill>
                <a:latin typeface="Courier"/>
              </a:rPr>
              <a:t>`</a:t>
            </a:r>
            <a:r>
              <a:rPr>
                <a:solidFill>
                  <a:srgbClr val="003B4F"/>
                </a:solidFill>
                <a:latin typeface="Courier"/>
              </a:rPr>
              <a:t> = </a:t>
            </a:r>
            <a:r>
              <a:rPr>
                <a:solidFill>
                  <a:srgbClr val="4758AB"/>
                </a:solidFill>
                <a:latin typeface="Courier"/>
              </a:rPr>
              <a:t>mean</a:t>
            </a:r>
            <a:r>
              <a:rPr>
                <a:solidFill>
                  <a:srgbClr val="003B4F"/>
                </a:solidFill>
                <a:latin typeface="Courier"/>
              </a:rPr>
              <a:t>(value </a:t>
            </a:r>
            <a:r>
              <a:rPr>
                <a:solidFill>
                  <a:srgbClr val="5E5E5E"/>
                </a:solidFill>
                <a:latin typeface="Courier"/>
              </a:rPr>
              <a:t>&gt;=</a:t>
            </a:r>
            <a:r>
              <a:rPr>
                <a:solidFill>
                  <a:srgbClr val="003B4F"/>
                </a:solidFill>
                <a:latin typeface="Courier"/>
              </a:rPr>
              <a:t> observed),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 (cont’d)</a:t>
            </a:r>
          </a:p>
        </p:txBody>
      </p:sp>
      <p:pic>
        <p:nvPicPr>
          <p:cNvPr descr="Chanco_STA623_BDA_2026_Henrion_Session5_files/figure-pptx/unnamed-chunk-18-1.png" id="0" name="Picture 1"/>
          <p:cNvPicPr>
            <a:picLocks noGrp="1" noChangeAspect="1"/>
          </p:cNvPicPr>
          <p:nvPr/>
        </p:nvPicPr>
        <p:blipFill>
          <a:blip r:embed="rId2"/>
          <a:stretch>
            <a:fillRect/>
          </a:stretch>
        </p:blipFill>
        <p:spPr bwMode="auto">
          <a:xfrm>
            <a:off x="2019300" y="1816100"/>
            <a:ext cx="8153400" cy="46609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latin typeface="Courier"/>
              </a:rPr>
              <a:t># A tibble: 6 × 3
  model             statistic           `posterior predictive p-value`
  &lt;chr&gt;             &lt;chr&gt;                                        &lt;dbl&gt;
1 Negative binomial maximum                                      0.211
2 Negative binomial proportion of zeros                          0.538
3 Negative binomial variance / mean                              0.29 
4 Poisson           maximum                                      0    
5 Poisson           proportion of zeros                          0    
6 Poisson           variance / mean                              0    </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Posterior predictive check (cont’d)</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The Poisson model cannot reproduce the number of children with no episodes, nor the spread of the data: its posterior predictive p-values are essentially 0. The negative binomial reproduces all three features.</a:t>
            </a:r>
          </a:p>
          <a:p>
            <a:pPr lvl="0" indent="0" marL="0">
              <a:buNone/>
            </a:pPr>
            <a:r>
              <a:rPr b="1"/>
              <a:t>Conclusion:</a:t>
            </a:r>
            <a:r>
              <a:rPr/>
              <a:t> the Poisson model is over-confident about the ITN effect, and the negative binomial model should be used.</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Choosing between adequate models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Comparing models by predictive accuracy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Posterior predictive checks tell us </a:t>
                </a:r>
                <a:r>
                  <a:rPr i="1"/>
                  <a:t>whether</a:t>
                </a:r>
                <a:r>
                  <a:rPr/>
                  <a:t> a model is inadequate and </a:t>
                </a:r>
                <a:r>
                  <a:rPr i="1"/>
                  <a:t>how</a:t>
                </a:r>
                <a:r>
                  <a:rPr/>
                  <a:t>. To choose between adequate models we ask which predicts </a:t>
                </a:r>
                <a:r>
                  <a:rPr b="1"/>
                  <a:t>new</a:t>
                </a:r>
                <a:r>
                  <a:rPr/>
                  <a:t> data best.</a:t>
                </a:r>
              </a:p>
              <a:p>
                <a:pPr lvl="0" indent="0" marL="0">
                  <a:buNone/>
                </a:pPr>
                <a:r>
                  <a:rPr/>
                  <a:t>The expected log predictive density for a new observation can be estimated by </a:t>
                </a:r>
                <a:r>
                  <a:rPr b="1"/>
                  <a:t>leave-one-out cross-validation (LOO)</a:t>
                </a:r>
                <a:r>
                  <a:rPr/>
                  <a:t>, without refitting the model </a:t>
                </a:r>
                <a14:m>
                  <m:oMath xmlns:m="http://schemas.openxmlformats.org/officeDocument/2006/math">
                    <m:r>
                      <m:t>n</m:t>
                    </m:r>
                  </m:oMath>
                </a14:m>
                <a:r>
                  <a:rPr/>
                  <a:t> times, using Pareto-smoothed importance sampling (Vehtari et al., 2017).</a:t>
                </a:r>
              </a:p>
              <a:p>
                <a:pPr lvl="0" indent="0" marL="0">
                  <a:buNone/>
                </a:pPr>
                <a:r>
                  <a:rPr b="1"/>
                  <a:t>WAIC</a:t>
                </a:r>
                <a:r>
                  <a:rPr/>
                  <a:t> is an asymptotically equivalent, slightly less robust alternative (</a:t>
                </a:r>
                <a:r>
                  <a:rPr>
                    <a:latin typeface="Courier"/>
                  </a:rPr>
                  <a:t>NIMBLE</a:t>
                </a:r>
                <a:r>
                  <a:rPr/>
                  <a:t> can compute it with </a:t>
                </a:r>
                <a:r>
                  <a:rPr>
                    <a:latin typeface="Courier"/>
                  </a:rPr>
                  <a:t>WAIC = TRUE</a:t>
                </a:r>
                <a:r>
                  <a:rPr/>
                  <a:t>).</a:t>
                </a:r>
              </a:p>
              <a:p>
                <a:pPr lvl="0" indent="0" marL="0">
                  <a:buNone/>
                </a:pPr>
                <a:r>
                  <a:rPr/>
                  <a:t>Both need the </a:t>
                </a:r>
                <a:r>
                  <a:rPr b="1"/>
                  <a:t>pointwise log-likelihood</a:t>
                </a:r>
                <a:r>
                  <a:rPr/>
                  <a:t> </a:t>
                </a:r>
                <a14:m>
                  <m:oMath xmlns:m="http://schemas.openxmlformats.org/officeDocument/2006/math">
                    <m:r>
                      <m:rPr>
                        <m:sty m:val="p"/>
                      </m:rPr>
                      <m:t>log</m:t>
                    </m:r>
                    <m:r>
                      <m:t>p</m:t>
                    </m:r>
                    <m:r>
                      <m:rPr>
                        <m:sty m:val="p"/>
                      </m:rPr>
                      <m:t>(</m:t>
                    </m:r>
                    <m:sSub>
                      <m:e>
                        <m:r>
                          <m:t>y</m:t>
                        </m:r>
                      </m:e>
                      <m:sub>
                        <m:r>
                          <m:t>i</m:t>
                        </m:r>
                      </m:sub>
                    </m:sSub>
                    <m:r>
                      <m:rPr>
                        <m:sty m:val="p"/>
                      </m:rPr>
                      <m:t>∣</m:t>
                    </m:r>
                    <m:sSup>
                      <m:e>
                        <m:r>
                          <m:t>θ</m:t>
                        </m:r>
                      </m:e>
                      <m:sup>
                        <m:r>
                          <m:rPr>
                            <m:sty m:val="p"/>
                          </m:rPr>
                          <m:t>(</m:t>
                        </m:r>
                        <m:r>
                          <m:t>s</m:t>
                        </m:r>
                        <m:r>
                          <m:rPr>
                            <m:sty m:val="p"/>
                          </m:rPr>
                          <m:t>)</m:t>
                        </m:r>
                      </m:sup>
                    </m:sSup>
                    <m:r>
                      <m:rPr>
                        <m:sty m:val="p"/>
                      </m:rPr>
                      <m:t>)</m:t>
                    </m:r>
                  </m:oMath>
                </a14:m>
                <a:r>
                  <a:rPr/>
                  <a:t> for every draw </a:t>
                </a:r>
                <a14:m>
                  <m:oMath xmlns:m="http://schemas.openxmlformats.org/officeDocument/2006/math">
                    <m:r>
                      <m:t>s</m:t>
                    </m:r>
                  </m:oMath>
                </a14:m>
                <a:r>
                  <a:rPr/>
                  <a:t> and observation </a:t>
                </a:r>
                <a14:m>
                  <m:oMath xmlns:m="http://schemas.openxmlformats.org/officeDocument/2006/math">
                    <m:r>
                      <m:t>i</m:t>
                    </m:r>
                  </m:oMath>
                </a14:m>
                <a:r>
                  <a:rPr/>
                  <a:t>, which is easy to compute from the draws.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Comparing models by predictive accuracy</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loglik_counts &lt;- </a:t>
            </a:r>
            <a:r>
              <a:rPr b="1">
                <a:solidFill>
                  <a:srgbClr val="003B4F"/>
                </a:solidFill>
                <a:latin typeface="Courier"/>
              </a:rPr>
              <a:t>function</a:t>
            </a:r>
            <a:r>
              <a:rPr>
                <a:solidFill>
                  <a:srgbClr val="003B4F"/>
                </a:solidFill>
                <a:latin typeface="Courier"/>
              </a:rPr>
              <a:t>(fit, model) {</a:t>
            </a:r>
            <a:br/>
            <a:r>
              <a:rPr>
                <a:solidFill>
                  <a:srgbClr val="003B4F"/>
                </a:solidFill>
                <a:latin typeface="Courier"/>
              </a:rPr>
              <a:t>  dr &lt;- </a:t>
            </a:r>
            <a:r>
              <a:rPr>
                <a:solidFill>
                  <a:srgbClr val="4758AB"/>
                </a:solidFill>
                <a:latin typeface="Courier"/>
              </a:rPr>
              <a:t>as.matrix</a:t>
            </a:r>
            <a:r>
              <a:rPr>
                <a:solidFill>
                  <a:srgbClr val="003B4F"/>
                </a:solidFill>
                <a:latin typeface="Courier"/>
              </a:rPr>
              <a:t>(fit)</a:t>
            </a:r>
            <a:br/>
            <a:r>
              <a:rPr>
                <a:solidFill>
                  <a:srgbClr val="003B4F"/>
                </a:solidFill>
                <a:latin typeface="Courier"/>
              </a:rPr>
              <a:t>  mu &lt;- </a:t>
            </a:r>
            <a:r>
              <a:rPr>
                <a:solidFill>
                  <a:srgbClr val="4758AB"/>
                </a:solidFill>
                <a:latin typeface="Courier"/>
              </a:rPr>
              <a:t>exp</a:t>
            </a:r>
            <a:r>
              <a:rPr>
                <a:solidFill>
                  <a:srgbClr val="003B4F"/>
                </a:solidFill>
                <a:latin typeface="Courier"/>
              </a:rPr>
              <a:t>(dr[, </a:t>
            </a:r>
            <a:r>
              <a:rPr>
                <a:solidFill>
                  <a:srgbClr val="20794D"/>
                </a:solidFill>
                <a:latin typeface="Courier"/>
              </a:rPr>
              <a:t>"a0"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outer</a:t>
            </a:r>
            <a:r>
              <a:rPr>
                <a:solidFill>
                  <a:srgbClr val="003B4F"/>
                </a:solidFill>
                <a:latin typeface="Courier"/>
              </a:rPr>
              <a:t>(dr[, </a:t>
            </a:r>
            <a:r>
              <a:rPr>
                <a:solidFill>
                  <a:srgbClr val="20794D"/>
                </a:solidFill>
                <a:latin typeface="Courier"/>
              </a:rPr>
              <a:t>"a1"</a:t>
            </a:r>
            <a:r>
              <a:rPr>
                <a:solidFill>
                  <a:srgbClr val="003B4F"/>
                </a:solidFill>
                <a:latin typeface="Courier"/>
              </a:rPr>
              <a:t>], malaria_df</a:t>
            </a:r>
            <a:r>
              <a:rPr>
                <a:solidFill>
                  <a:srgbClr val="5E5E5E"/>
                </a:solidFill>
                <a:latin typeface="Courier"/>
              </a:rPr>
              <a:t>$</a:t>
            </a:r>
            <a:r>
              <a:rPr>
                <a:solidFill>
                  <a:srgbClr val="003B4F"/>
                </a:solidFill>
                <a:latin typeface="Courier"/>
              </a:rPr>
              <a:t>itn))       </a:t>
            </a:r>
            <a:r>
              <a:rPr>
                <a:solidFill>
                  <a:srgbClr val="5E5E5E"/>
                </a:solidFill>
                <a:latin typeface="Courier"/>
              </a:rPr>
              <a:t># S x N matrix</a:t>
            </a:r>
            <a:br/>
            <a:r>
              <a:rPr>
                <a:solidFill>
                  <a:srgbClr val="003B4F"/>
                </a:solidFill>
                <a:latin typeface="Courier"/>
              </a:rPr>
              <a:t>  Y  &lt;- </a:t>
            </a:r>
            <a:r>
              <a:rPr>
                <a:solidFill>
                  <a:srgbClr val="4758AB"/>
                </a:solidFill>
                <a:latin typeface="Courier"/>
              </a:rPr>
              <a:t>matrix</a:t>
            </a:r>
            <a:r>
              <a:rPr>
                <a:solidFill>
                  <a:srgbClr val="003B4F"/>
                </a:solidFill>
                <a:latin typeface="Courier"/>
              </a:rPr>
              <a:t>(malaria_df</a:t>
            </a:r>
            <a:r>
              <a:rPr>
                <a:solidFill>
                  <a:srgbClr val="5E5E5E"/>
                </a:solidFill>
                <a:latin typeface="Courier"/>
              </a:rPr>
              <a:t>$</a:t>
            </a:r>
            <a:r>
              <a:rPr>
                <a:solidFill>
                  <a:srgbClr val="003B4F"/>
                </a:solidFill>
                <a:latin typeface="Courier"/>
              </a:rPr>
              <a:t>episodes, </a:t>
            </a:r>
            <a:r>
              <a:rPr>
                <a:solidFill>
                  <a:srgbClr val="657422"/>
                </a:solidFill>
                <a:latin typeface="Courier"/>
              </a:rPr>
              <a:t>nrow =</a:t>
            </a:r>
            <a:r>
              <a:rPr>
                <a:solidFill>
                  <a:srgbClr val="003B4F"/>
                </a:solidFill>
                <a:latin typeface="Courier"/>
              </a:rPr>
              <a:t> </a:t>
            </a:r>
            <a:r>
              <a:rPr>
                <a:solidFill>
                  <a:srgbClr val="4758AB"/>
                </a:solidFill>
                <a:latin typeface="Courier"/>
              </a:rPr>
              <a:t>nrow</a:t>
            </a:r>
            <a:r>
              <a:rPr>
                <a:solidFill>
                  <a:srgbClr val="003B4F"/>
                </a:solidFill>
                <a:latin typeface="Courier"/>
              </a:rPr>
              <a:t>(dr), </a:t>
            </a:r>
            <a:r>
              <a:rPr>
                <a:solidFill>
                  <a:srgbClr val="657422"/>
                </a:solidFill>
                <a:latin typeface="Courier"/>
              </a:rPr>
              <a:t>ncol =</a:t>
            </a:r>
            <a:r>
              <a:rPr>
                <a:solidFill>
                  <a:srgbClr val="003B4F"/>
                </a:solidFill>
                <a:latin typeface="Courier"/>
              </a:rPr>
              <a:t> N_k, </a:t>
            </a:r>
            <a:r>
              <a:rPr>
                <a:solidFill>
                  <a:srgbClr val="657422"/>
                </a:solidFill>
                <a:latin typeface="Courier"/>
              </a:rPr>
              <a:t>byrow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ll &lt;- </a:t>
            </a:r>
            <a:r>
              <a:rPr b="1">
                <a:solidFill>
                  <a:srgbClr val="003B4F"/>
                </a:solidFill>
                <a:latin typeface="Courier"/>
              </a:rPr>
              <a:t>if</a:t>
            </a:r>
            <a:r>
              <a:rPr>
                <a:solidFill>
                  <a:srgbClr val="003B4F"/>
                </a:solidFill>
                <a:latin typeface="Courier"/>
              </a:rPr>
              <a:t> (model </a:t>
            </a:r>
            <a:r>
              <a:rPr>
                <a:solidFill>
                  <a:srgbClr val="5E5E5E"/>
                </a:solidFill>
                <a:latin typeface="Courier"/>
              </a:rPr>
              <a:t>==</a:t>
            </a:r>
            <a:r>
              <a:rPr>
                <a:solidFill>
                  <a:srgbClr val="003B4F"/>
                </a:solidFill>
                <a:latin typeface="Courier"/>
              </a:rPr>
              <a:t> </a:t>
            </a:r>
            <a:r>
              <a:rPr>
                <a:solidFill>
                  <a:srgbClr val="20794D"/>
                </a:solidFill>
                <a:latin typeface="Courier"/>
              </a:rPr>
              <a:t>"Poisson"</a:t>
            </a:r>
            <a:r>
              <a:rPr>
                <a:solidFill>
                  <a:srgbClr val="003B4F"/>
                </a:solidFill>
                <a:latin typeface="Courier"/>
              </a:rPr>
              <a:t>) </a:t>
            </a:r>
            <a:r>
              <a:rPr>
                <a:solidFill>
                  <a:srgbClr val="4758AB"/>
                </a:solidFill>
                <a:latin typeface="Courier"/>
              </a:rPr>
              <a:t>dpois</a:t>
            </a:r>
            <a:r>
              <a:rPr>
                <a:solidFill>
                  <a:srgbClr val="003B4F"/>
                </a:solidFill>
                <a:latin typeface="Courier"/>
              </a:rPr>
              <a:t>(Y, mu, </a:t>
            </a:r>
            <a:r>
              <a:rPr>
                <a:solidFill>
                  <a:srgbClr val="657422"/>
                </a:solidFill>
                <a:latin typeface="Courier"/>
              </a:rPr>
              <a:t>log =</a:t>
            </a:r>
            <a:r>
              <a:rPr>
                <a:solidFill>
                  <a:srgbClr val="003B4F"/>
                </a:solidFill>
                <a:latin typeface="Courier"/>
              </a:rPr>
              <a:t> </a:t>
            </a:r>
            <a:r>
              <a:rPr>
                <a:solidFill>
                  <a:srgbClr val="8F5902"/>
                </a:solidFill>
                <a:latin typeface="Courier"/>
              </a:rPr>
              <a:t>TRUE</a:t>
            </a:r>
            <a:r>
              <a:rPr>
                <a:solidFill>
                  <a:srgbClr val="003B4F"/>
                </a:solidFill>
                <a:latin typeface="Courier"/>
              </a:rPr>
              <a:t>) </a:t>
            </a:r>
            <a:r>
              <a:rPr b="1">
                <a:solidFill>
                  <a:srgbClr val="003B4F"/>
                </a:solidFill>
                <a:latin typeface="Courier"/>
              </a:rPr>
              <a:t>else</a:t>
            </a:r>
            <a:br/>
            <a:r>
              <a:rPr>
                <a:solidFill>
                  <a:srgbClr val="003B4F"/>
                </a:solidFill>
                <a:latin typeface="Courier"/>
              </a:rPr>
              <a:t>          </a:t>
            </a:r>
            <a:r>
              <a:rPr>
                <a:solidFill>
                  <a:srgbClr val="4758AB"/>
                </a:solidFill>
                <a:latin typeface="Courier"/>
              </a:rPr>
              <a:t>dnbinom</a:t>
            </a:r>
            <a:r>
              <a:rPr>
                <a:solidFill>
                  <a:srgbClr val="003B4F"/>
                </a:solidFill>
                <a:latin typeface="Courier"/>
              </a:rPr>
              <a:t>(Y,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dr[, </a:t>
            </a:r>
            <a:r>
              <a:rPr>
                <a:solidFill>
                  <a:srgbClr val="20794D"/>
                </a:solidFill>
                <a:latin typeface="Courier"/>
              </a:rPr>
              <a:t>"phi"</a:t>
            </a:r>
            <a:r>
              <a:rPr>
                <a:solidFill>
                  <a:srgbClr val="003B4F"/>
                </a:solidFill>
                <a:latin typeface="Courier"/>
              </a:rPr>
              <a:t>], </a:t>
            </a:r>
            <a:r>
              <a:rPr>
                <a:solidFill>
                  <a:srgbClr val="657422"/>
                </a:solidFill>
                <a:latin typeface="Courier"/>
              </a:rPr>
              <a:t>mu =</a:t>
            </a:r>
            <a:r>
              <a:rPr>
                <a:solidFill>
                  <a:srgbClr val="003B4F"/>
                </a:solidFill>
                <a:latin typeface="Courier"/>
              </a:rPr>
              <a:t> mu, </a:t>
            </a:r>
            <a:r>
              <a:rPr>
                <a:solidFill>
                  <a:srgbClr val="657422"/>
                </a:solidFill>
                <a:latin typeface="Courier"/>
              </a:rPr>
              <a:t>log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4758AB"/>
                </a:solidFill>
                <a:latin typeface="Courier"/>
              </a:rPr>
              <a:t>matrix</a:t>
            </a:r>
            <a:r>
              <a:rPr>
                <a:solidFill>
                  <a:srgbClr val="003B4F"/>
                </a:solidFill>
                <a:latin typeface="Courier"/>
              </a:rPr>
              <a:t>(ll, </a:t>
            </a:r>
            <a:r>
              <a:rPr>
                <a:solidFill>
                  <a:srgbClr val="657422"/>
                </a:solidFill>
                <a:latin typeface="Courier"/>
              </a:rPr>
              <a:t>nrow =</a:t>
            </a:r>
            <a:r>
              <a:rPr>
                <a:solidFill>
                  <a:srgbClr val="003B4F"/>
                </a:solidFill>
                <a:latin typeface="Courier"/>
              </a:rPr>
              <a:t> </a:t>
            </a:r>
            <a:r>
              <a:rPr>
                <a:solidFill>
                  <a:srgbClr val="4758AB"/>
                </a:solidFill>
                <a:latin typeface="Courier"/>
              </a:rPr>
              <a:t>nrow</a:t>
            </a:r>
            <a:r>
              <a:rPr>
                <a:solidFill>
                  <a:srgbClr val="003B4F"/>
                </a:solidFill>
                <a:latin typeface="Courier"/>
              </a:rPr>
              <a:t>(dr))</a:t>
            </a:r>
            <a:br/>
            <a:r>
              <a:rPr>
                <a:solidFill>
                  <a:srgbClr val="003B4F"/>
                </a:solidFill>
                <a:latin typeface="Courier"/>
              </a:rPr>
              <a:t>}</a:t>
            </a:r>
            <a:br/>
            <a:br/>
            <a:r>
              <a:rPr>
                <a:solidFill>
                  <a:srgbClr val="003B4F"/>
                </a:solidFill>
                <a:latin typeface="Courier"/>
              </a:rPr>
              <a:t>loo_from_ll &lt;- </a:t>
            </a:r>
            <a:r>
              <a:rPr b="1">
                <a:solidFill>
                  <a:srgbClr val="003B4F"/>
                </a:solidFill>
                <a:latin typeface="Courier"/>
              </a:rPr>
              <a:t>function</a:t>
            </a:r>
            <a:r>
              <a:rPr>
                <a:solidFill>
                  <a:srgbClr val="003B4F"/>
                </a:solidFill>
                <a:latin typeface="Courier"/>
              </a:rPr>
              <a:t>(ll,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br/>
            <a:r>
              <a:rPr>
                <a:solidFill>
                  <a:srgbClr val="003B4F"/>
                </a:solidFill>
                <a:latin typeface="Courier"/>
              </a:rPr>
              <a:t>  chain_id &lt;- </a:t>
            </a:r>
            <a:r>
              <a:rPr>
                <a:solidFill>
                  <a:srgbClr val="4758AB"/>
                </a:solidFill>
                <a:latin typeface="Courier"/>
              </a:rPr>
              <a:t>rep</a:t>
            </a:r>
            <a:r>
              <a:rPr>
                <a:solidFill>
                  <a:srgbClr val="003B4F"/>
                </a:solidFill>
                <a:latin typeface="Courier"/>
              </a:rPr>
              <a:t>(</a:t>
            </a:r>
            <a:r>
              <a:rPr>
                <a:solidFill>
                  <a:srgbClr val="4758AB"/>
                </a:solidFill>
                <a:latin typeface="Courier"/>
              </a:rPr>
              <a:t>seq_len</a:t>
            </a:r>
            <a:r>
              <a:rPr>
                <a:solidFill>
                  <a:srgbClr val="003B4F"/>
                </a:solidFill>
                <a:latin typeface="Courier"/>
              </a:rPr>
              <a:t>(nchains), </a:t>
            </a:r>
            <a:r>
              <a:rPr>
                <a:solidFill>
                  <a:srgbClr val="657422"/>
                </a:solidFill>
                <a:latin typeface="Courier"/>
              </a:rPr>
              <a:t>each =</a:t>
            </a:r>
            <a:r>
              <a:rPr>
                <a:solidFill>
                  <a:srgbClr val="003B4F"/>
                </a:solidFill>
                <a:latin typeface="Courier"/>
              </a:rPr>
              <a:t> </a:t>
            </a:r>
            <a:r>
              <a:rPr>
                <a:solidFill>
                  <a:srgbClr val="4758AB"/>
                </a:solidFill>
                <a:latin typeface="Courier"/>
              </a:rPr>
              <a:t>nrow</a:t>
            </a:r>
            <a:r>
              <a:rPr>
                <a:solidFill>
                  <a:srgbClr val="003B4F"/>
                </a:solidFill>
                <a:latin typeface="Courier"/>
              </a:rPr>
              <a:t>(ll) </a:t>
            </a:r>
            <a:r>
              <a:rPr>
                <a:solidFill>
                  <a:srgbClr val="5E5E5E"/>
                </a:solidFill>
                <a:latin typeface="Courier"/>
              </a:rPr>
              <a:t>/</a:t>
            </a:r>
            <a:r>
              <a:rPr>
                <a:solidFill>
                  <a:srgbClr val="003B4F"/>
                </a:solidFill>
                <a:latin typeface="Courier"/>
              </a:rPr>
              <a:t> nchains)</a:t>
            </a:r>
            <a:br/>
            <a:r>
              <a:rPr>
                <a:solidFill>
                  <a:srgbClr val="003B4F"/>
                </a:solidFill>
                <a:latin typeface="Courier"/>
              </a:rPr>
              <a:t>  </a:t>
            </a:r>
            <a:r>
              <a:rPr>
                <a:solidFill>
                  <a:srgbClr val="4758AB"/>
                </a:solidFill>
                <a:latin typeface="Courier"/>
              </a:rPr>
              <a:t>loo</a:t>
            </a:r>
            <a:r>
              <a:rPr>
                <a:solidFill>
                  <a:srgbClr val="003B4F"/>
                </a:solidFill>
                <a:latin typeface="Courier"/>
              </a:rPr>
              <a:t>(ll, </a:t>
            </a:r>
            <a:r>
              <a:rPr>
                <a:solidFill>
                  <a:srgbClr val="657422"/>
                </a:solidFill>
                <a:latin typeface="Courier"/>
              </a:rPr>
              <a:t>r_eff =</a:t>
            </a:r>
            <a:r>
              <a:rPr>
                <a:solidFill>
                  <a:srgbClr val="003B4F"/>
                </a:solidFill>
                <a:latin typeface="Courier"/>
              </a:rPr>
              <a:t> </a:t>
            </a:r>
            <a:r>
              <a:rPr>
                <a:solidFill>
                  <a:srgbClr val="4758AB"/>
                </a:solidFill>
                <a:latin typeface="Courier"/>
              </a:rPr>
              <a:t>relative_eff</a:t>
            </a:r>
            <a:r>
              <a:rPr>
                <a:solidFill>
                  <a:srgbClr val="003B4F"/>
                </a:solidFill>
                <a:latin typeface="Courier"/>
              </a:rPr>
              <a:t>(</a:t>
            </a:r>
            <a:r>
              <a:rPr>
                <a:solidFill>
                  <a:srgbClr val="4758AB"/>
                </a:solidFill>
                <a:latin typeface="Courier"/>
              </a:rPr>
              <a:t>exp</a:t>
            </a:r>
            <a:r>
              <a:rPr>
                <a:solidFill>
                  <a:srgbClr val="003B4F"/>
                </a:solidFill>
                <a:latin typeface="Courier"/>
              </a:rPr>
              <a:t>(ll), </a:t>
            </a:r>
            <a:r>
              <a:rPr>
                <a:solidFill>
                  <a:srgbClr val="657422"/>
                </a:solidFill>
                <a:latin typeface="Courier"/>
              </a:rPr>
              <a:t>chain_id =</a:t>
            </a:r>
            <a:r>
              <a:rPr>
                <a:solidFill>
                  <a:srgbClr val="003B4F"/>
                </a:solidFill>
                <a:latin typeface="Courier"/>
              </a:rPr>
              <a:t> chain_id))</a:t>
            </a:r>
            <a:br/>
            <a:r>
              <a:rPr>
                <a:solidFill>
                  <a:srgbClr val="003B4F"/>
                </a:solidFill>
                <a:latin typeface="Courier"/>
              </a:rPr>
              <a:t>}</a:t>
            </a:r>
            <a:br/>
            <a:br/>
            <a:r>
              <a:rPr>
                <a:solidFill>
                  <a:srgbClr val="003B4F"/>
                </a:solidFill>
                <a:latin typeface="Courier"/>
              </a:rPr>
              <a:t>loo_pois &lt;- </a:t>
            </a:r>
            <a:r>
              <a:rPr>
                <a:solidFill>
                  <a:srgbClr val="4758AB"/>
                </a:solidFill>
                <a:latin typeface="Courier"/>
              </a:rPr>
              <a:t>loo_from_ll</a:t>
            </a:r>
            <a:r>
              <a:rPr>
                <a:solidFill>
                  <a:srgbClr val="003B4F"/>
                </a:solidFill>
                <a:latin typeface="Courier"/>
              </a:rPr>
              <a:t>(</a:t>
            </a:r>
            <a:r>
              <a:rPr>
                <a:solidFill>
                  <a:srgbClr val="4758AB"/>
                </a:solidFill>
                <a:latin typeface="Courier"/>
              </a:rPr>
              <a:t>loglik_counts</a:t>
            </a:r>
            <a:r>
              <a:rPr>
                <a:solidFill>
                  <a:srgbClr val="003B4F"/>
                </a:solidFill>
                <a:latin typeface="Courier"/>
              </a:rPr>
              <a:t>(pois_reg_fit, </a:t>
            </a:r>
            <a:r>
              <a:rPr>
                <a:solidFill>
                  <a:srgbClr val="20794D"/>
                </a:solidFill>
                <a:latin typeface="Courier"/>
              </a:rPr>
              <a:t>"Poisson"</a:t>
            </a:r>
            <a:r>
              <a:rPr>
                <a:solidFill>
                  <a:srgbClr val="003B4F"/>
                </a:solidFill>
                <a:latin typeface="Courier"/>
              </a:rPr>
              <a:t>))</a:t>
            </a:r>
            <a:br/>
            <a:r>
              <a:rPr>
                <a:solidFill>
                  <a:srgbClr val="003B4F"/>
                </a:solidFill>
                <a:latin typeface="Courier"/>
              </a:rPr>
              <a:t>loo_nb   &lt;- </a:t>
            </a:r>
            <a:r>
              <a:rPr>
                <a:solidFill>
                  <a:srgbClr val="4758AB"/>
                </a:solidFill>
                <a:latin typeface="Courier"/>
              </a:rPr>
              <a:t>loo_from_ll</a:t>
            </a:r>
            <a:r>
              <a:rPr>
                <a:solidFill>
                  <a:srgbClr val="003B4F"/>
                </a:solidFill>
                <a:latin typeface="Courier"/>
              </a:rPr>
              <a:t>(</a:t>
            </a:r>
            <a:r>
              <a:rPr>
                <a:solidFill>
                  <a:srgbClr val="4758AB"/>
                </a:solidFill>
                <a:latin typeface="Courier"/>
              </a:rPr>
              <a:t>loglik_counts</a:t>
            </a:r>
            <a:r>
              <a:rPr>
                <a:solidFill>
                  <a:srgbClr val="003B4F"/>
                </a:solidFill>
                <a:latin typeface="Courier"/>
              </a:rPr>
              <a:t>(nb_reg_fit,  </a:t>
            </a:r>
            <a:r>
              <a:rPr>
                <a:solidFill>
                  <a:srgbClr val="20794D"/>
                </a:solidFill>
                <a:latin typeface="Courier"/>
              </a:rPr>
              <a:t>"Negative binomial"</a:t>
            </a:r>
            <a:r>
              <a:rPr>
                <a:solidFill>
                  <a:srgbClr val="003B4F"/>
                </a:solidFill>
                <a:latin typeface="Courier"/>
              </a:rPr>
              <a:t>))</a:t>
            </a:r>
            <a:br/>
            <a:r>
              <a:rPr>
                <a:solidFill>
                  <a:srgbClr val="003B4F"/>
                </a:solidFill>
                <a:latin typeface="Courier"/>
              </a:rPr>
              <a:t>lc &lt;- </a:t>
            </a:r>
            <a:r>
              <a:rPr>
                <a:solidFill>
                  <a:srgbClr val="4758AB"/>
                </a:solidFill>
                <a:latin typeface="Courier"/>
              </a:rPr>
              <a:t>loo_compare</a:t>
            </a:r>
            <a:r>
              <a:rPr>
                <a:solidFill>
                  <a:srgbClr val="003B4F"/>
                </a:solidFill>
                <a:latin typeface="Courier"/>
              </a:rPr>
              <a:t>(</a:t>
            </a:r>
            <a:r>
              <a:rPr>
                <a:solidFill>
                  <a:srgbClr val="4758AB"/>
                </a:solidFill>
                <a:latin typeface="Courier"/>
              </a:rPr>
              <a:t>list</a:t>
            </a:r>
            <a:r>
              <a:rPr>
                <a:solidFill>
                  <a:srgbClr val="003B4F"/>
                </a:solidFill>
                <a:latin typeface="Courier"/>
              </a:rPr>
              <a:t>(</a:t>
            </a:r>
            <a:r>
              <a:rPr>
                <a:solidFill>
                  <a:srgbClr val="657422"/>
                </a:solidFill>
                <a:latin typeface="Courier"/>
              </a:rPr>
              <a:t>Poisson =</a:t>
            </a:r>
            <a:r>
              <a:rPr>
                <a:solidFill>
                  <a:srgbClr val="003B4F"/>
                </a:solidFill>
                <a:latin typeface="Courier"/>
              </a:rPr>
              <a:t> loo_pois, </a:t>
            </a:r>
            <a:r>
              <a:rPr>
                <a:solidFill>
                  <a:srgbClr val="20794D"/>
                </a:solidFill>
                <a:latin typeface="Courier"/>
              </a:rPr>
              <a:t>`</a:t>
            </a:r>
            <a:r>
              <a:rPr>
                <a:solidFill>
                  <a:srgbClr val="657422"/>
                </a:solidFill>
                <a:latin typeface="Courier"/>
              </a:rPr>
              <a:t>Negative binomial</a:t>
            </a:r>
            <a:r>
              <a:rPr>
                <a:solidFill>
                  <a:srgbClr val="20794D"/>
                </a:solidFill>
                <a:latin typeface="Courier"/>
              </a:rPr>
              <a:t>`</a:t>
            </a:r>
            <a:r>
              <a:rPr>
                <a:solidFill>
                  <a:srgbClr val="003B4F"/>
                </a:solidFill>
                <a:latin typeface="Courier"/>
              </a:rPr>
              <a:t> = loo_nb))</a:t>
            </a:r>
            <a:br/>
            <a:r>
              <a:rPr>
                <a:solidFill>
                  <a:srgbClr val="003B4F"/>
                </a:solidFill>
                <a:latin typeface="Courier"/>
              </a:rPr>
              <a:t>lc</a:t>
            </a:r>
          </a:p>
          <a:p>
            <a:pPr lvl="0" indent="0">
              <a:buNone/>
            </a:pPr>
            <a:r>
              <a:rPr>
                <a:latin typeface="Courier"/>
              </a:rPr>
              <a:t>                  elpd_diff se_diff
Negative binomial   0.0       0.0  
Poisson           -57.0      19.9  </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Comparing models by predictive accuracy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latin typeface="Courier"/>
                  </a:rPr>
                  <a:t>elpd_diff</a:t>
                </a:r>
                <a:r>
                  <a:rPr/>
                  <a:t> is the difference in expected log predictive density relative to the best model, with its standard error.</a:t>
                </a:r>
              </a:p>
              <a:p>
                <a:pPr lvl="0" indent="0" marL="0">
                  <a:buNone/>
                </a:pPr>
                <a:r>
                  <a:rPr/>
                  <a:t>Here the Poisson model is about 57 units of elpd worse, 2.9 standard errors: clear evidence in favour of the negative binomial model.</a:t>
                </a:r>
              </a:p>
              <a:p>
                <a:pPr lvl="0" indent="0" marL="0">
                  <a:buNone/>
                </a:pPr>
                <a:r>
                  <a:rPr/>
                  <a:t>Also look at the Pareto </a:t>
                </a:r>
                <a14:m>
                  <m:oMath xmlns:m="http://schemas.openxmlformats.org/officeDocument/2006/math">
                    <m:r>
                      <m:t>k</m:t>
                    </m:r>
                  </m:oMath>
                </a14:m>
                <a:r>
                  <a:rPr/>
                  <a:t> diagnostics printed by </a:t>
                </a:r>
                <a:r>
                  <a:rPr>
                    <a:latin typeface="Courier"/>
                  </a:rPr>
                  <a:t>loo()</a:t>
                </a:r>
                <a:r>
                  <a:rPr/>
                  <a:t>; values above 0.7 flag observations for which the LOO estimate is unreliable (often influential outliers).</a:t>
                </a:r>
              </a:p>
              <a:p>
                <a:pPr lvl="0" indent="0" marL="0">
                  <a:buNone/>
                </a:pPr>
                <a:r>
                  <a:rPr b="1"/>
                  <a:t>Model comparison is not a substitute for thinking.</a:t>
                </a:r>
                <a:r>
                  <a:rPr/>
                  <a:t> Prefer the model that is scientifically justified and passes predictive checks; use LOO to arbitrate between such models or to decide whether added complexity pays for itself.</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Hierarchical models: the natural home of Bayesian methods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Hierarchical models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b="1"/>
              <a:t>Example (illustrative data).</a:t>
            </a:r>
          </a:p>
          <a:p>
            <a:pPr lvl="0" indent="0" marL="0">
              <a:buNone/>
            </a:pPr>
            <a:r>
              <a:rPr/>
              <a:t>In-hospital mortality among children admitted with severe malaria at eight district hospitals: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Hierarchical models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hosp &lt;- </a:t>
            </a:r>
            <a:r>
              <a:rPr>
                <a:solidFill>
                  <a:srgbClr val="4758AB"/>
                </a:solidFill>
                <a:latin typeface="Courier"/>
              </a:rPr>
              <a:t>tibble</a:t>
            </a:r>
            <a:r>
              <a:rPr>
                <a:solidFill>
                  <a:srgbClr val="003B4F"/>
                </a:solidFill>
                <a:latin typeface="Courier"/>
              </a:rPr>
              <a:t>(</a:t>
            </a:r>
            <a:r>
              <a:rPr>
                <a:solidFill>
                  <a:srgbClr val="657422"/>
                </a:solidFill>
                <a:latin typeface="Courier"/>
              </a:rPr>
              <a:t>hospital =</a:t>
            </a:r>
            <a:r>
              <a:rPr>
                <a:solidFill>
                  <a:srgbClr val="003B4F"/>
                </a:solidFill>
                <a:latin typeface="Courier"/>
              </a:rPr>
              <a:t> LETTERS[</a:t>
            </a:r>
            <a:r>
              <a:rPr>
                <a:solidFill>
                  <a:srgbClr val="AD0000"/>
                </a:solidFill>
                <a:latin typeface="Courier"/>
              </a:rPr>
              <a:t>1</a:t>
            </a:r>
            <a:r>
              <a:rPr>
                <a:solidFill>
                  <a:srgbClr val="5E5E5E"/>
                </a:solidFill>
                <a:latin typeface="Courier"/>
              </a:rPr>
              <a:t>:</a:t>
            </a:r>
            <a:r>
              <a:rPr>
                <a:solidFill>
                  <a:srgbClr val="AD0000"/>
                </a:solidFill>
                <a:latin typeface="Courier"/>
              </a:rPr>
              <a:t>8</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45</a:t>
            </a:r>
            <a:r>
              <a:rPr>
                <a:solidFill>
                  <a:srgbClr val="003B4F"/>
                </a:solidFill>
                <a:latin typeface="Courier"/>
              </a:rPr>
              <a:t>, </a:t>
            </a:r>
            <a:r>
              <a:rPr>
                <a:solidFill>
                  <a:srgbClr val="AD0000"/>
                </a:solidFill>
                <a:latin typeface="Courier"/>
              </a:rPr>
              <a:t>120</a:t>
            </a:r>
            <a:r>
              <a:rPr>
                <a:solidFill>
                  <a:srgbClr val="003B4F"/>
                </a:solidFill>
                <a:latin typeface="Courier"/>
              </a:rPr>
              <a:t>, </a:t>
            </a:r>
            <a:r>
              <a:rPr>
                <a:solidFill>
                  <a:srgbClr val="AD0000"/>
                </a:solidFill>
                <a:latin typeface="Courier"/>
              </a:rPr>
              <a:t>32</a:t>
            </a:r>
            <a:r>
              <a:rPr>
                <a:solidFill>
                  <a:srgbClr val="003B4F"/>
                </a:solidFill>
                <a:latin typeface="Courier"/>
              </a:rPr>
              <a:t>, </a:t>
            </a:r>
            <a:r>
              <a:rPr>
                <a:solidFill>
                  <a:srgbClr val="AD0000"/>
                </a:solidFill>
                <a:latin typeface="Courier"/>
              </a:rPr>
              <a:t>210</a:t>
            </a:r>
            <a:r>
              <a:rPr>
                <a:solidFill>
                  <a:srgbClr val="003B4F"/>
                </a:solidFill>
                <a:latin typeface="Courier"/>
              </a:rPr>
              <a:t>, </a:t>
            </a:r>
            <a:r>
              <a:rPr>
                <a:solidFill>
                  <a:srgbClr val="AD0000"/>
                </a:solidFill>
                <a:latin typeface="Courier"/>
              </a:rPr>
              <a:t>18</a:t>
            </a:r>
            <a:r>
              <a:rPr>
                <a:solidFill>
                  <a:srgbClr val="003B4F"/>
                </a:solidFill>
                <a:latin typeface="Courier"/>
              </a:rPr>
              <a:t>, </a:t>
            </a:r>
            <a:r>
              <a:rPr>
                <a:solidFill>
                  <a:srgbClr val="AD0000"/>
                </a:solidFill>
                <a:latin typeface="Courier"/>
              </a:rPr>
              <a:t>76</a:t>
            </a:r>
            <a:r>
              <a:rPr>
                <a:solidFill>
                  <a:srgbClr val="003B4F"/>
                </a:solidFill>
                <a:latin typeface="Courier"/>
              </a:rPr>
              <a:t>, </a:t>
            </a:r>
            <a:r>
              <a:rPr>
                <a:solidFill>
                  <a:srgbClr val="AD0000"/>
                </a:solidFill>
                <a:latin typeface="Courier"/>
              </a:rPr>
              <a:t>150</a:t>
            </a:r>
            <a:r>
              <a:rPr>
                <a:solidFill>
                  <a:srgbClr val="003B4F"/>
                </a:solidFill>
                <a:latin typeface="Courier"/>
              </a:rPr>
              <a:t>, </a:t>
            </a:r>
            <a:r>
              <a:rPr>
                <a:solidFill>
                  <a:srgbClr val="AD0000"/>
                </a:solidFill>
                <a:latin typeface="Courier"/>
              </a:rPr>
              <a:t>9</a:t>
            </a:r>
            <a:r>
              <a:rPr>
                <a:solidFill>
                  <a:srgbClr val="003B4F"/>
                </a:solidFill>
                <a:latin typeface="Courier"/>
              </a:rPr>
              <a:t>),</a:t>
            </a:r>
            <a:br/>
            <a:r>
              <a:rPr>
                <a:solidFill>
                  <a:srgbClr val="003B4F"/>
                </a:solidFill>
                <a:latin typeface="Courier"/>
              </a:rPr>
              <a:t>               </a:t>
            </a:r>
            <a:r>
              <a:rPr>
                <a:solidFill>
                  <a:srgbClr val="657422"/>
                </a:solidFill>
                <a:latin typeface="Courier"/>
              </a:rPr>
              <a:t>deaths   =</a:t>
            </a:r>
            <a:r>
              <a:rPr>
                <a:solidFill>
                  <a:srgbClr val="003B4F"/>
                </a:solidFill>
                <a:latin typeface="Courier"/>
              </a:rPr>
              <a:t> </a:t>
            </a:r>
            <a:r>
              <a:rPr>
                <a:solidFill>
                  <a:srgbClr val="4758AB"/>
                </a:solidFill>
                <a:latin typeface="Courier"/>
              </a:rPr>
              <a:t>c</a:t>
            </a:r>
            <a:r>
              <a:rPr>
                <a:solidFill>
                  <a:srgbClr val="003B4F"/>
                </a:solidFill>
                <a:latin typeface="Courier"/>
              </a:rPr>
              <a:t>( </a:t>
            </a:r>
            <a:r>
              <a:rPr>
                <a:solidFill>
                  <a:srgbClr val="AD0000"/>
                </a:solidFill>
                <a:latin typeface="Courier"/>
              </a:rPr>
              <a:t>6</a:t>
            </a:r>
            <a:r>
              <a:rPr>
                <a:solidFill>
                  <a:srgbClr val="003B4F"/>
                </a:solidFill>
                <a:latin typeface="Courier"/>
              </a:rPr>
              <a:t>,  </a:t>
            </a:r>
            <a:r>
              <a:rPr>
                <a:solidFill>
                  <a:srgbClr val="AD0000"/>
                </a:solidFill>
                <a:latin typeface="Courier"/>
              </a:rPr>
              <a:t>11</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17</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hosp </a:t>
            </a:r>
            <a:r>
              <a:rPr>
                <a:solidFill>
                  <a:srgbClr val="5E5E5E"/>
                </a:solidFill>
                <a:latin typeface="Courier"/>
              </a:rPr>
              <a:t>|&gt;</a:t>
            </a: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raw_rate =</a:t>
            </a:r>
            <a:r>
              <a:rPr>
                <a:solidFill>
                  <a:srgbClr val="003B4F"/>
                </a:solidFill>
                <a:latin typeface="Courier"/>
              </a:rPr>
              <a:t> deaths </a:t>
            </a:r>
            <a:r>
              <a:rPr>
                <a:solidFill>
                  <a:srgbClr val="5E5E5E"/>
                </a:solidFill>
                <a:latin typeface="Courier"/>
              </a:rPr>
              <a:t>/</a:t>
            </a:r>
            <a:r>
              <a:rPr>
                <a:solidFill>
                  <a:srgbClr val="003B4F"/>
                </a:solidFill>
                <a:latin typeface="Courier"/>
              </a:rPr>
              <a:t> n)</a:t>
            </a:r>
          </a:p>
          <a:p>
            <a:pPr lvl="0" indent="0">
              <a:buNone/>
            </a:pPr>
            <a:r>
              <a:rPr>
                <a:latin typeface="Courier"/>
              </a:rPr>
              <a:t># A tibble: 8 × 4
  hospital     n deaths raw_rate
  &lt;chr&gt;    &lt;dbl&gt;  &lt;dbl&gt;    &lt;dbl&gt;
1 A           45      6   0.133 
2 B          120     11   0.0917
3 C           32      5   0.156 
4 D          210     17   0.0810
5 E           18      4   0.222 
6 F           76      7   0.0921
7 G          150     12   0.08  
8 H            9      3   0.333 </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Hierarchical models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Hospital H has 3 deaths in 9 admissions (33%). Is it really the worst hospital, or just the smallest? Three modelling options:</a:t>
            </a:r>
          </a:p>
          <a:p>
            <a:pPr lvl="0"/>
            <a:r>
              <a:rPr b="1"/>
              <a:t>Complete pooling</a:t>
            </a:r>
            <a:r>
              <a:rPr/>
              <a:t>: one common mortality for all hospitals. Ignores genuine differences.</a:t>
            </a:r>
          </a:p>
          <a:p>
            <a:pPr lvl="0"/>
            <a:r>
              <a:rPr b="1"/>
              <a:t>No pooling</a:t>
            </a:r>
            <a:r>
              <a:rPr/>
              <a:t>: a separate, unrelated estimate for each hospital. Small hospitals get extreme, very uncertain estimates.</a:t>
            </a:r>
          </a:p>
          <a:p>
            <a:pPr lvl="0"/>
            <a:r>
              <a:rPr b="1"/>
              <a:t>Partial pooling (hierarchical model)</a:t>
            </a:r>
            <a:r>
              <a:rPr/>
              <a:t>: hospital-specific mortalities that are </a:t>
            </a:r>
            <a:r>
              <a:rPr i="1"/>
              <a:t>related</a:t>
            </a:r>
            <a:r>
              <a:rPr/>
              <a:t>, drawn from a common population distribution whose spread is estimated from the data.</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Hierarchical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Concretely, the partial-pooling model we will fit is</a:t>
                </a:r>
              </a:p>
              <a:p>
                <a:pPr lvl="0" indent="0" marL="0">
                  <a:buNone/>
                </a:pPr>
                <a14:m>
                  <m:oMathPara xmlns:m="http://schemas.openxmlformats.org/officeDocument/2006/math">
                    <m:oMathParaPr>
                      <m:jc m:val="center"/>
                    </m:oMathParaPr>
                    <m:oMath>
                      <m:eqArr>
                        <m:e>
                          <m:sSub>
                            <m:e>
                              <m:r>
                                <m:rPr>
                                  <m:nor/>
                                  <m:sty m:val="p"/>
                                </m:rPr>
                                <m:t>deaths</m:t>
                              </m:r>
                            </m:e>
                            <m:sub>
                              <m:r>
                                <m:t>j</m:t>
                              </m:r>
                            </m:sub>
                          </m:sSub>
                          <m:r>
                            <m:rPr>
                              <m:sty m:val="p"/>
                            </m:rPr>
                            <m:t>∣</m:t>
                          </m:r>
                          <m:sSub>
                            <m:e>
                              <m:r>
                                <m:t>p</m:t>
                              </m:r>
                            </m:e>
                            <m:sub>
                              <m:r>
                                <m:t>j</m:t>
                              </m:r>
                            </m:sub>
                          </m:sSub>
                          <m:r>
                            <m:t>&amp;</m:t>
                          </m:r>
                          <m:r>
                            <m:rPr>
                              <m:sty m:val="p"/>
                            </m:rPr>
                            <m:t>∼</m:t>
                          </m:r>
                          <m:r>
                            <m:rPr>
                              <m:nor/>
                              <m:sty m:val="p"/>
                            </m:rPr>
                            <m:t>Bin</m:t>
                          </m:r>
                          <m:r>
                            <m:rPr>
                              <m:sty m:val="p"/>
                            </m:rPr>
                            <m:t>(</m:t>
                          </m:r>
                          <m:sSub>
                            <m:e>
                              <m:r>
                                <m:t>n</m:t>
                              </m:r>
                            </m:e>
                            <m:sub>
                              <m:r>
                                <m:t>j</m:t>
                              </m:r>
                            </m:sub>
                          </m:sSub>
                          <m:r>
                            <m:rPr>
                              <m:sty m:val="p"/>
                            </m:rPr>
                            <m:t>,</m:t>
                          </m:r>
                          <m:sSub>
                            <m:e>
                              <m:r>
                                <m:t>p</m:t>
                              </m:r>
                            </m:e>
                            <m:sub>
                              <m:r>
                                <m:t>j</m:t>
                              </m:r>
                            </m:sub>
                          </m:sSub>
                          <m:r>
                            <m:rPr>
                              <m:sty m:val="p"/>
                            </m:rPr>
                            <m:t>)</m:t>
                          </m:r>
                          <m:r>
                            <m:rPr>
                              <m:sty m:val="p"/>
                            </m:rPr>
                            <m:t>,</m:t>
                          </m:r>
                        </m:e>
                        <m:e>
                          <m:sSub>
                            <m:e>
                              <m:r>
                                <m:t>η</m:t>
                              </m:r>
                            </m:e>
                            <m:sub>
                              <m:r>
                                <m:t>j</m:t>
                              </m:r>
                            </m:sub>
                          </m:sSub>
                          <m:r>
                            <m:t>&amp;</m:t>
                          </m:r>
                          <m:r>
                            <m:rPr>
                              <m:sty m:val="p"/>
                            </m:rPr>
                            <m:t>=</m:t>
                          </m:r>
                          <m:r>
                            <m:rPr>
                              <m:nor/>
                              <m:sty m:val="p"/>
                            </m:rPr>
                            <m:t>logit</m:t>
                          </m:r>
                          <m:r>
                            <m:rPr>
                              <m:sty m:val="p"/>
                            </m:rPr>
                            <m:t>(</m:t>
                          </m:r>
                          <m:sSub>
                            <m:e>
                              <m:r>
                                <m:t>p</m:t>
                              </m:r>
                            </m:e>
                            <m:sub>
                              <m:r>
                                <m:t>j</m:t>
                              </m:r>
                            </m:sub>
                          </m:sSub>
                          <m:r>
                            <m:rPr>
                              <m:sty m:val="p"/>
                            </m:rPr>
                            <m:t>)</m:t>
                          </m:r>
                          <m:r>
                            <m:rPr>
                              <m:sty m:val="p"/>
                            </m:rPr>
                            <m:t>,</m:t>
                          </m:r>
                        </m:e>
                        <m:e>
                          <m:sSub>
                            <m:e>
                              <m:r>
                                <m:t>η</m:t>
                              </m:r>
                            </m:e>
                            <m:sub>
                              <m:r>
                                <m:t>j</m:t>
                              </m:r>
                            </m:sub>
                          </m:sSub>
                          <m:r>
                            <m:rPr>
                              <m:sty m:val="p"/>
                            </m:rPr>
                            <m:t>∣</m:t>
                          </m:r>
                          <m:r>
                            <m:t>μ</m:t>
                          </m:r>
                          <m:r>
                            <m:rPr>
                              <m:sty m:val="p"/>
                            </m:rPr>
                            <m:t>,</m:t>
                          </m:r>
                          <m:r>
                            <m:t>σ</m:t>
                          </m:r>
                          <m:r>
                            <m:t>&amp;</m:t>
                          </m:r>
                          <m:r>
                            <m:rPr>
                              <m:sty m:val="p"/>
                            </m:rPr>
                            <m:t>∼</m:t>
                          </m:r>
                          <m:r>
                            <m:rPr>
                              <m:scr m:val="script"/>
                              <m:sty m:val="p"/>
                            </m:rPr>
                            <m:t>N</m:t>
                          </m:r>
                          <m:r>
                            <m:rPr>
                              <m:sty m:val="p"/>
                            </m:rPr>
                            <m:t>(</m:t>
                          </m:r>
                          <m:r>
                            <m:t>μ</m:t>
                          </m:r>
                          <m:r>
                            <m:rPr>
                              <m:sty m:val="p"/>
                            </m:rPr>
                            <m:t>,</m:t>
                          </m:r>
                          <m:sSup>
                            <m:e>
                              <m:r>
                                <m:t>σ</m:t>
                              </m:r>
                            </m:e>
                            <m:sup>
                              <m:r>
                                <m:t>2</m:t>
                              </m:r>
                            </m:sup>
                          </m:sSup>
                          <m:r>
                            <m:rPr>
                              <m:sty m:val="p"/>
                            </m:rPr>
                            <m:t>)</m:t>
                          </m:r>
                          <m:r>
                            <m:rPr>
                              <m:sty m:val="p"/>
                            </m:rPr>
                            <m:t>,</m:t>
                          </m:r>
                        </m:e>
                        <m:e>
                          <m:r>
                            <m:t>μ</m:t>
                          </m:r>
                          <m:r>
                            <m:t>&amp;</m:t>
                          </m:r>
                          <m:r>
                            <m:rPr>
                              <m:sty m:val="p"/>
                            </m:rPr>
                            <m:t>∼</m:t>
                          </m:r>
                          <m:r>
                            <m:rPr>
                              <m:scr m:val="script"/>
                              <m:sty m:val="p"/>
                            </m:rPr>
                            <m:t>N</m:t>
                          </m:r>
                          <m:r>
                            <m:rPr>
                              <m:sty m:val="p"/>
                            </m:rPr>
                            <m:t>(</m:t>
                          </m:r>
                          <m:r>
                            <m:rPr>
                              <m:sty m:val="p"/>
                            </m:rPr>
                            <m:t>−</m:t>
                          </m:r>
                          <m:r>
                            <m:t>2</m:t>
                          </m:r>
                          <m:r>
                            <m:rPr>
                              <m:sty m:val="p"/>
                            </m:rPr>
                            <m:t>,</m:t>
                          </m:r>
                          <m:sSup>
                            <m:e>
                              <m:r>
                                <m:t>1</m:t>
                              </m:r>
                            </m:e>
                            <m:sup>
                              <m:r>
                                <m:t>2</m:t>
                              </m:r>
                            </m:sup>
                          </m:sSup>
                          <m:r>
                            <m:rPr>
                              <m:sty m:val="p"/>
                            </m:rPr>
                            <m:t>)</m:t>
                          </m:r>
                          <m:r>
                            <m:rPr>
                              <m:sty m:val="p"/>
                            </m:rPr>
                            <m:t>,</m:t>
                          </m:r>
                        </m:e>
                        <m:e>
                          <m:r>
                            <m:t>σ</m:t>
                          </m:r>
                          <m:r>
                            <m:t>&amp;</m:t>
                          </m:r>
                          <m:r>
                            <m:rPr>
                              <m:sty m:val="p"/>
                            </m:rPr>
                            <m:t>∼</m:t>
                          </m:r>
                          <m:r>
                            <m:rPr>
                              <m:nor/>
                              <m:sty m:val="p"/>
                            </m:rPr>
                            <m:t>Exp</m:t>
                          </m:r>
                          <m:r>
                            <m:rPr>
                              <m:sty m:val="p"/>
                            </m:rPr>
                            <m:t>(</m:t>
                          </m:r>
                          <m:r>
                            <m:t>1</m:t>
                          </m:r>
                          <m:r>
                            <m:rPr>
                              <m:sty m:val="p"/>
                            </m:rPr>
                            <m:t>)</m:t>
                          </m:r>
                          <m:r>
                            <m:rPr>
                              <m:sty m:val="p"/>
                            </m:rPr>
                            <m:t>,</m:t>
                          </m:r>
                        </m:e>
                      </m:eqArr>
                    </m:oMath>
                  </m:oMathPara>
                </a14:m>
              </a:p>
              <a:p>
                <a:pPr lvl="0" indent="0" marL="0">
                  <a:buNone/>
                </a:pPr>
                <a:r>
                  <a:rPr/>
                  <a:t>for hospitals </a:t>
                </a:r>
                <a14:m>
                  <m:oMath xmlns:m="http://schemas.openxmlformats.org/officeDocument/2006/math">
                    <m:r>
                      <m:t>j</m:t>
                    </m:r>
                    <m:r>
                      <m:rPr>
                        <m:sty m:val="p"/>
                      </m:rPr>
                      <m:t>=</m:t>
                    </m:r>
                    <m:r>
                      <m:t>1</m:t>
                    </m:r>
                    <m:r>
                      <m:rPr>
                        <m:sty m:val="p"/>
                      </m:rPr>
                      <m:t>,</m:t>
                    </m:r>
                    <m:r>
                      <m:rPr>
                        <m:sty m:val="p"/>
                      </m:rPr>
                      <m:t>…</m:t>
                    </m:r>
                    <m:r>
                      <m:rPr>
                        <m:sty m:val="p"/>
                      </m:rPr>
                      <m:t>,</m:t>
                    </m:r>
                    <m:r>
                      <m:t>8</m:t>
                    </m:r>
                  </m:oMath>
                </a14:m>
                <a:r>
                  <a:rPr/>
                  <a: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Hierarchical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Here </a:t>
                </a:r>
                <a14:m>
                  <m:oMath xmlns:m="http://schemas.openxmlformats.org/officeDocument/2006/math">
                    <m:sSub>
                      <m:e>
                        <m:r>
                          <m:t>η</m:t>
                        </m:r>
                      </m:e>
                      <m:sub>
                        <m:r>
                          <m:t>j</m:t>
                        </m:r>
                      </m:sub>
                    </m:sSub>
                  </m:oMath>
                </a14:m>
                <a:r>
                  <a:rPr/>
                  <a:t> is hospital </a:t>
                </a:r>
                <a14:m>
                  <m:oMath xmlns:m="http://schemas.openxmlformats.org/officeDocument/2006/math">
                    <m:r>
                      <m:t>j</m:t>
                    </m:r>
                  </m:oMath>
                </a14:m>
                <a:r>
                  <a:rPr/>
                  <a:t>’s true log-odds of death; </a:t>
                </a:r>
                <a14:m>
                  <m:oMath xmlns:m="http://schemas.openxmlformats.org/officeDocument/2006/math">
                    <m:r>
                      <m:t>μ</m:t>
                    </m:r>
                  </m:oMath>
                </a14:m>
                <a:r>
                  <a:rPr/>
                  <a:t> is the typical log-odds across district hospitals (the prior is centred on </a:t>
                </a:r>
                <a14:m>
                  <m:oMath xmlns:m="http://schemas.openxmlformats.org/officeDocument/2006/math">
                    <m:sSup>
                      <m:e>
                        <m:r>
                          <m:rPr>
                            <m:nor/>
                            <m:sty m:val="p"/>
                          </m:rPr>
                          <m:t>logit</m:t>
                        </m:r>
                      </m:e>
                      <m:sup>
                        <m:r>
                          <m:rPr>
                            <m:sty m:val="p"/>
                          </m:rPr>
                          <m:t>−</m:t>
                        </m:r>
                        <m:r>
                          <m:t>1</m:t>
                        </m:r>
                      </m:sup>
                    </m:sSup>
                    <m:r>
                      <m:rPr>
                        <m:sty m:val="p"/>
                      </m:rPr>
                      <m:t>(</m:t>
                    </m:r>
                    <m:r>
                      <m:rPr>
                        <m:sty m:val="p"/>
                      </m:rPr>
                      <m:t>−</m:t>
                    </m:r>
                    <m:r>
                      <m:t>2</m:t>
                    </m:r>
                    <m:r>
                      <m:rPr>
                        <m:sty m:val="p"/>
                      </m:rPr>
                      <m:t>)</m:t>
                    </m:r>
                    <m:r>
                      <m:rPr>
                        <m:sty m:val="p"/>
                      </m:rPr>
                      <m:t>≈</m:t>
                    </m:r>
                    <m:r>
                      <m:t>12</m:t>
                    </m:r>
                    <m:r>
                      <m:rPr>
                        <m:sty m:val="p"/>
                      </m:rPr>
                      <m:t>%</m:t>
                    </m:r>
                  </m:oMath>
                </a14:m>
                <a:r>
                  <a:rPr/>
                  <a:t>); and </a:t>
                </a:r>
                <a14:m>
                  <m:oMath xmlns:m="http://schemas.openxmlformats.org/officeDocument/2006/math">
                    <m:r>
                      <m:t>σ</m:t>
                    </m:r>
                  </m:oMath>
                </a14:m>
                <a:r>
                  <a:rPr/>
                  <a:t> is the between-hospital SD on the log-odds scale. The other two options are limiting cases: complete pooling is </a:t>
                </a:r>
                <a14:m>
                  <m:oMath xmlns:m="http://schemas.openxmlformats.org/officeDocument/2006/math">
                    <m:r>
                      <m:t>σ</m:t>
                    </m:r>
                    <m:r>
                      <m:rPr>
                        <m:sty m:val="p"/>
                      </m:rPr>
                      <m:t>=</m:t>
                    </m:r>
                    <m:r>
                      <m:t>0</m:t>
                    </m:r>
                  </m:oMath>
                </a14:m>
                <a:r>
                  <a:rPr/>
                  <a:t>, and no pooling corresponds roughly to </a:t>
                </a:r>
                <a14:m>
                  <m:oMath xmlns:m="http://schemas.openxmlformats.org/officeDocument/2006/math">
                    <m:r>
                      <m:t>σ</m:t>
                    </m:r>
                    <m:r>
                      <m:rPr>
                        <m:sty m:val="p"/>
                      </m:rPr>
                      <m:t>→</m:t>
                    </m:r>
                    <m:r>
                      <m:rPr>
                        <m:sty m:val="p"/>
                      </m:rPr>
                      <m:t>∞</m:t>
                    </m:r>
                  </m:oMath>
                </a14:m>
                <a:r>
                  <a:rPr/>
                  <a:t>.</a:t>
                </a:r>
              </a:p>
              <a:p>
                <a:pPr lvl="0" indent="0" marL="0">
                  <a:buNone/>
                </a:pPr>
                <a14:m>
                  <m:oMathPara xmlns:m="http://schemas.openxmlformats.org/officeDocument/2006/math">
                    <m:oMathParaPr>
                      <m:jc m:val="center"/>
                    </m:oMathParaPr>
                    <m:oMath>
                      <m:r>
                        <m:t> </m:t>
                      </m:r>
                    </m:oMath>
                  </m:oMathPara>
                </a14:m>
              </a:p>
              <a:p>
                <a:pPr lvl="0" indent="0" marL="0">
                  <a:buNone/>
                </a:pPr>
                <a:r>
                  <a:rPr/>
                  <a:t>Complete pooling is clearly too strong: the hospitals differ in staffing, case mix and access.</a:t>
                </a:r>
              </a:p>
              <a:p>
                <a:pPr lvl="0" indent="0" marL="0">
                  <a:buNone/>
                </a:pPr>
                <a:r>
                  <a:rPr/>
                  <a:t>But why should partial pooling be legitimate? Why should data from hospital A change our estimate for hospital H?</a:t>
                </a:r>
              </a:p>
              <a:p>
                <a:pPr lvl="0" indent="0" marL="0">
                  <a:buNone/>
                </a:pPr>
                <a:r>
                  <a:rPr/>
                  <a:t>The answer is </a:t>
                </a:r>
                <a:r>
                  <a:rPr i="1"/>
                  <a:t>exchangeability</a:t>
                </a:r>
                <a:r>
                  <a:rPr/>
                  <a: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t> </m:t>
                      </m:r>
                    </m:oMath>
                  </m:oMathPara>
                </a14:m>
              </a:p>
              <a:p>
                <a:pPr lvl="0" indent="0" marL="0">
                  <a:buNone/>
                </a:pPr>
                <a:r>
                  <a:rPr/>
                  <a:t>A set of unknown quantities </a:t>
                </a:r>
                <a14:m>
                  <m:oMath xmlns:m="http://schemas.openxmlformats.org/officeDocument/2006/math">
                    <m:sSub>
                      <m:e>
                        <m:r>
                          <m:t>η</m:t>
                        </m:r>
                      </m:e>
                      <m:sub>
                        <m:r>
                          <m:t>1</m:t>
                        </m:r>
                      </m:sub>
                    </m:sSub>
                    <m:r>
                      <m:rPr>
                        <m:sty m:val="p"/>
                      </m:rPr>
                      <m:t>,</m:t>
                    </m:r>
                    <m:r>
                      <m:rPr>
                        <m:sty m:val="p"/>
                      </m:rPr>
                      <m:t>…</m:t>
                    </m:r>
                    <m:r>
                      <m:rPr>
                        <m:sty m:val="p"/>
                      </m:rPr>
                      <m:t>,</m:t>
                    </m:r>
                    <m:sSub>
                      <m:e>
                        <m:r>
                          <m:t>η</m:t>
                        </m:r>
                      </m:e>
                      <m:sub>
                        <m:r>
                          <m:t>J</m:t>
                        </m:r>
                      </m:sub>
                    </m:sSub>
                  </m:oMath>
                </a14:m>
                <a:r>
                  <a:rPr/>
                  <a:t> is </a:t>
                </a:r>
                <a:r>
                  <a:rPr b="1"/>
                  <a:t>exchangeable</a:t>
                </a:r>
                <a:r>
                  <a:rPr/>
                  <a:t> if their joint distribution does not change when the labels are permuted:</a:t>
                </a:r>
              </a:p>
              <a:p>
                <a:pPr lvl="0" indent="0" marL="0">
                  <a:buNone/>
                </a:pPr>
                <a14:m>
                  <m:oMathPara xmlns:m="http://schemas.openxmlformats.org/officeDocument/2006/math">
                    <m:oMathParaPr>
                      <m:jc m:val="center"/>
                    </m:oMathParaPr>
                    <m:oMath>
                      <m:r>
                        <m:t> </m:t>
                      </m:r>
                    </m:oMath>
                  </m:oMathPara>
                </a14:m>
              </a:p>
              <a:p>
                <a:pPr lvl="0" indent="0" marL="0">
                  <a:buNone/>
                </a:pPr>
                <a14:m>
                  <m:oMathPara xmlns:m="http://schemas.openxmlformats.org/officeDocument/2006/math">
                    <m:oMathParaPr>
                      <m:jc m:val="center"/>
                    </m:oMathParaPr>
                    <m:oMath>
                      <m:r>
                        <m:t>p</m:t>
                      </m:r>
                      <m:r>
                        <m:rPr>
                          <m:sty m:val="p"/>
                        </m:rPr>
                        <m:t>(</m:t>
                      </m:r>
                      <m:sSub>
                        <m:e>
                          <m:r>
                            <m:t>η</m:t>
                          </m:r>
                        </m:e>
                        <m:sub>
                          <m:r>
                            <m:t>1</m:t>
                          </m:r>
                        </m:sub>
                      </m:sSub>
                      <m:r>
                        <m:rPr>
                          <m:sty m:val="p"/>
                        </m:rPr>
                        <m:t>,</m:t>
                      </m:r>
                      <m:r>
                        <m:rPr>
                          <m:sty m:val="p"/>
                        </m:rPr>
                        <m:t>…</m:t>
                      </m:r>
                      <m:r>
                        <m:rPr>
                          <m:sty m:val="p"/>
                        </m:rPr>
                        <m:t>,</m:t>
                      </m:r>
                      <m:sSub>
                        <m:e>
                          <m:r>
                            <m:t>η</m:t>
                          </m:r>
                        </m:e>
                        <m:sub>
                          <m:r>
                            <m:t>J</m:t>
                          </m:r>
                        </m:sub>
                      </m:sSub>
                      <m:r>
                        <m:rPr>
                          <m:sty m:val="p"/>
                        </m:rPr>
                        <m:t>)</m:t>
                      </m:r>
                      <m:r>
                        <m:rPr>
                          <m:sty m:val="p"/>
                        </m:rPr>
                        <m:t>=</m:t>
                      </m:r>
                      <m:r>
                        <m:t>p</m:t>
                      </m:r>
                      <m:r>
                        <m:rPr>
                          <m:sty m:val="p"/>
                        </m:rPr>
                        <m:t>(</m:t>
                      </m:r>
                      <m:sSub>
                        <m:e>
                          <m:r>
                            <m:t>η</m:t>
                          </m:r>
                        </m:e>
                        <m:sub>
                          <m:r>
                            <m:t>ρ</m:t>
                          </m:r>
                          <m:r>
                            <m:rPr>
                              <m:sty m:val="p"/>
                            </m:rPr>
                            <m:t>(</m:t>
                          </m:r>
                          <m:r>
                            <m:t>1</m:t>
                          </m:r>
                          <m:r>
                            <m:rPr>
                              <m:sty m:val="p"/>
                            </m:rPr>
                            <m:t>)</m:t>
                          </m:r>
                        </m:sub>
                      </m:sSub>
                      <m:r>
                        <m:rPr>
                          <m:sty m:val="p"/>
                        </m:rPr>
                        <m:t>,</m:t>
                      </m:r>
                      <m:r>
                        <m:rPr>
                          <m:sty m:val="p"/>
                        </m:rPr>
                        <m:t>…</m:t>
                      </m:r>
                      <m:r>
                        <m:rPr>
                          <m:sty m:val="p"/>
                        </m:rPr>
                        <m:t>,</m:t>
                      </m:r>
                      <m:sSub>
                        <m:e>
                          <m:r>
                            <m:t>η</m:t>
                          </m:r>
                        </m:e>
                        <m:sub>
                          <m:r>
                            <m:t>ρ</m:t>
                          </m:r>
                          <m:r>
                            <m:rPr>
                              <m:sty m:val="p"/>
                            </m:rPr>
                            <m:t>(</m:t>
                          </m:r>
                          <m:r>
                            <m:t>J</m:t>
                          </m:r>
                          <m:r>
                            <m:rPr>
                              <m:sty m:val="p"/>
                            </m:rPr>
                            <m:t>)</m:t>
                          </m:r>
                        </m:sub>
                      </m:sSub>
                      <m:r>
                        <m:rPr>
                          <m:sty m:val="p"/>
                        </m:rPr>
                        <m:t>)</m:t>
                      </m:r>
                    </m:oMath>
                  </m:oMathPara>
                </a14:m>
              </a:p>
              <a:p>
                <a:pPr lvl="0" indent="0" marL="0">
                  <a:buNone/>
                </a:pPr>
                <a14:m>
                  <m:oMathPara xmlns:m="http://schemas.openxmlformats.org/officeDocument/2006/math">
                    <m:oMathParaPr>
                      <m:jc m:val="center"/>
                    </m:oMathParaPr>
                    <m:oMath>
                      <m:r>
                        <m:t> </m:t>
                      </m:r>
                    </m:oMath>
                  </m:oMathPara>
                </a14:m>
              </a:p>
              <a:p>
                <a:pPr lvl="0" indent="0" marL="0">
                  <a:buNone/>
                </a:pPr>
                <a:r>
                  <a:rPr/>
                  <a:t>for every permutation </a:t>
                </a:r>
                <a14:m>
                  <m:oMath xmlns:m="http://schemas.openxmlformats.org/officeDocument/2006/math">
                    <m:r>
                      <m:t>ρ</m:t>
                    </m:r>
                  </m:oMath>
                </a14:m>
                <a:r>
                  <a:rPr/>
                  <a:t> of </a:t>
                </a:r>
                <a14:m>
                  <m:oMath xmlns:m="http://schemas.openxmlformats.org/officeDocument/2006/math">
                    <m:r>
                      <m:t>1</m:t>
                    </m:r>
                    <m:r>
                      <m:rPr>
                        <m:sty m:val="p"/>
                      </m:rPr>
                      <m:t>,</m:t>
                    </m:r>
                    <m:r>
                      <m:rPr>
                        <m:sty m:val="p"/>
                      </m:rPr>
                      <m:t>…</m:t>
                    </m:r>
                    <m:r>
                      <m:rPr>
                        <m:sty m:val="p"/>
                      </m:rPr>
                      <m:t>,</m:t>
                    </m:r>
                    <m:r>
                      <m:t>J</m:t>
                    </m:r>
                  </m:oMath>
                </a14:m>
                <a:r>
                  <a:rPr/>
                  <a: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In words: </a:t>
                </a:r>
                <a:r>
                  <a:rPr i="1"/>
                  <a:t>before seeing the data</a:t>
                </a:r>
                <a:r>
                  <a:rPr/>
                  <a:t>, we have no information that distinguishes one from another. If someone secretly swapped the hospital names, our beliefs would be the same. Here the </a:t>
                </a:r>
                <a14:m>
                  <m:oMath xmlns:m="http://schemas.openxmlformats.org/officeDocument/2006/math">
                    <m:sSub>
                      <m:e>
                        <m:r>
                          <m:t>η</m:t>
                        </m:r>
                      </m:e>
                      <m:sub>
                        <m:r>
                          <m:t>j</m:t>
                        </m:r>
                      </m:sub>
                    </m:sSub>
                    <m:r>
                      <m:rPr>
                        <m:sty m:val="p"/>
                      </m:rPr>
                      <m:t>=</m:t>
                    </m:r>
                    <m:r>
                      <m:rPr>
                        <m:nor/>
                        <m:sty m:val="p"/>
                      </m:rPr>
                      <m:t>logit</m:t>
                    </m:r>
                    <m:r>
                      <m:rPr>
                        <m:sty m:val="p"/>
                      </m:rPr>
                      <m:t>(</m:t>
                    </m:r>
                    <m:sSub>
                      <m:e>
                        <m:r>
                          <m:t>p</m:t>
                        </m:r>
                      </m:e>
                      <m:sub>
                        <m:r>
                          <m:t>j</m:t>
                        </m:r>
                      </m:sub>
                    </m:sSub>
                    <m:r>
                      <m:rPr>
                        <m:sty m:val="p"/>
                      </m:rPr>
                      <m:t>)</m:t>
                    </m:r>
                  </m:oMath>
                </a14:m>
                <a:r>
                  <a:rPr/>
                  <a:t> are the hospitals’ true log-odds of death.</a:t>
                </a:r>
              </a:p>
              <a:p>
                <a:pPr lvl="0" indent="0" marL="0">
                  <a:buNone/>
                </a:pPr>
                <a:r>
                  <a:rPr/>
                  <a:t>Exchangeable does </a:t>
                </a:r>
                <a:r>
                  <a:rPr b="1"/>
                  <a:t>not</a:t>
                </a:r>
                <a:r>
                  <a:rPr/>
                  <a:t> mean independent. If we learned that hospital A has 20% mortality, that would reasonably change what we expect for hospital H: it tells us something about the level of mortality in district hospitals generally. That is exactly the kind of dependence partial pooling uses.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De Finetti’s theorem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Informally, de Finetti’s theorem says that if a sequence </a:t>
                </a:r>
                <a14:m>
                  <m:oMath xmlns:m="http://schemas.openxmlformats.org/officeDocument/2006/math">
                    <m:sSub>
                      <m:e>
                        <m:r>
                          <m:t>η</m:t>
                        </m:r>
                      </m:e>
                      <m:sub>
                        <m:r>
                          <m:t>1</m:t>
                        </m:r>
                      </m:sub>
                    </m:sSub>
                    <m:r>
                      <m:rPr>
                        <m:sty m:val="p"/>
                      </m:rPr>
                      <m:t>,</m:t>
                    </m:r>
                    <m:sSub>
                      <m:e>
                        <m:r>
                          <m:t>η</m:t>
                        </m:r>
                      </m:e>
                      <m:sub>
                        <m:r>
                          <m:t>2</m:t>
                        </m:r>
                      </m:sub>
                    </m:sSub>
                    <m:r>
                      <m:rPr>
                        <m:sty m:val="p"/>
                      </m:rPr>
                      <m:t>,</m:t>
                    </m:r>
                    <m:r>
                      <m:rPr>
                        <m:sty m:val="p"/>
                      </m:rPr>
                      <m:t>…</m:t>
                    </m:r>
                  </m:oMath>
                </a14:m>
                <a:r>
                  <a:rPr/>
                  <a:t> is exchangeable (and could in principle be extended indefinitely, e.g. to hospitals we have not sampled), then its joint distribution can always be written as</a:t>
                </a:r>
              </a:p>
              <a:p>
                <a:pPr lvl="0" indent="0" marL="0">
                  <a:buNone/>
                </a:pPr>
                <a14:m>
                  <m:oMathPara xmlns:m="http://schemas.openxmlformats.org/officeDocument/2006/math">
                    <m:oMathParaPr>
                      <m:jc m:val="center"/>
                    </m:oMathParaPr>
                    <m:oMath>
                      <m:r>
                        <m:t> </m:t>
                      </m:r>
                    </m:oMath>
                  </m:oMathPara>
                </a14:m>
              </a:p>
              <a:p>
                <a:pPr lvl="0" indent="0" marL="0">
                  <a:buNone/>
                </a:pPr>
                <a14:m>
                  <m:oMathPara xmlns:m="http://schemas.openxmlformats.org/officeDocument/2006/math">
                    <m:oMathParaPr>
                      <m:jc m:val="center"/>
                    </m:oMathParaPr>
                    <m:oMath>
                      <m:r>
                        <m:t>p</m:t>
                      </m:r>
                      <m:r>
                        <m:rPr>
                          <m:sty m:val="p"/>
                        </m:rPr>
                        <m:t>(</m:t>
                      </m:r>
                      <m:sSub>
                        <m:e>
                          <m:r>
                            <m:t>η</m:t>
                          </m:r>
                        </m:e>
                        <m:sub>
                          <m:r>
                            <m:t>1</m:t>
                          </m:r>
                        </m:sub>
                      </m:sSub>
                      <m:r>
                        <m:rPr>
                          <m:sty m:val="p"/>
                        </m:rPr>
                        <m:t>,</m:t>
                      </m:r>
                      <m:r>
                        <m:rPr>
                          <m:sty m:val="p"/>
                        </m:rPr>
                        <m:t>…</m:t>
                      </m:r>
                      <m:r>
                        <m:rPr>
                          <m:sty m:val="p"/>
                        </m:rPr>
                        <m:t>,</m:t>
                      </m:r>
                      <m:sSub>
                        <m:e>
                          <m:r>
                            <m:t>η</m:t>
                          </m:r>
                        </m:e>
                        <m:sub>
                          <m:r>
                            <m:t>J</m:t>
                          </m:r>
                        </m:sub>
                      </m:sSub>
                      <m:r>
                        <m:rPr>
                          <m:sty m:val="p"/>
                        </m:rPr>
                        <m:t>)</m:t>
                      </m:r>
                      <m:r>
                        <m:rPr>
                          <m:sty m:val="p"/>
                        </m:rPr>
                        <m:t>=</m:t>
                      </m:r>
                      <m:r>
                        <m:rPr>
                          <m:sty m:val="p"/>
                        </m:rPr>
                        <m:t>∫</m:t>
                      </m:r>
                      <m:nary>
                        <m:naryPr>
                          <m:chr m:val="∏"/>
                          <m:limLoc m:val="undOvr"/>
                          <m:subHide m:val="off"/>
                          <m:supHide m:val="off"/>
                        </m:naryPr>
                        <m:sub>
                          <m:r>
                            <m:t>j</m:t>
                          </m:r>
                          <m:r>
                            <m:rPr>
                              <m:sty m:val="p"/>
                            </m:rPr>
                            <m:t>=</m:t>
                          </m:r>
                          <m:r>
                            <m:t>1</m:t>
                          </m:r>
                        </m:sub>
                        <m:sup>
                          <m:r>
                            <m:t>J</m:t>
                          </m:r>
                        </m:sup>
                        <m:e>
                          <m:r>
                            <m:t>p</m:t>
                          </m:r>
                        </m:e>
                      </m:nary>
                      <m:r>
                        <m:rPr>
                          <m:sty m:val="p"/>
                        </m:rPr>
                        <m:t>(</m:t>
                      </m:r>
                      <m:sSub>
                        <m:e>
                          <m:r>
                            <m:t>η</m:t>
                          </m:r>
                        </m:e>
                        <m:sub>
                          <m:r>
                            <m:t>j</m:t>
                          </m:r>
                        </m:sub>
                      </m:sSub>
                      <m:r>
                        <m:rPr>
                          <m:sty m:val="p"/>
                        </m:rPr>
                        <m:t>∣</m:t>
                      </m:r>
                      <m:r>
                        <m:t>ϕ</m:t>
                      </m:r>
                      <m:r>
                        <m:rPr>
                          <m:sty m:val="p"/>
                        </m:rPr>
                        <m:t>)</m:t>
                      </m:r>
                      <m:r>
                        <m:t> </m:t>
                      </m:r>
                      <m:r>
                        <m:t>p</m:t>
                      </m:r>
                      <m:r>
                        <m:rPr>
                          <m:sty m:val="p"/>
                        </m:rPr>
                        <m:t>(</m:t>
                      </m:r>
                      <m:r>
                        <m:t>ϕ</m:t>
                      </m:r>
                      <m:r>
                        <m:rPr>
                          <m:sty m:val="p"/>
                        </m:rPr>
                        <m:t>)</m:t>
                      </m:r>
                      <m:r>
                        <m:t> </m:t>
                      </m:r>
                      <m:r>
                        <m:t>d</m:t>
                      </m:r>
                      <m:r>
                        <m:t>ϕ</m:t>
                      </m:r>
                      <m:r>
                        <m:rPr>
                          <m:sty m:val="p"/>
                        </m:rPr>
                        <m:t>.</m:t>
                      </m:r>
                    </m:oMath>
                  </m:oMathPara>
                </a14:m>
              </a:p>
              <a:p>
                <a:pPr lvl="0" indent="0" marL="0">
                  <a:buNone/>
                </a:pPr>
                <a14:m>
                  <m:oMathPara xmlns:m="http://schemas.openxmlformats.org/officeDocument/2006/math">
                    <m:oMathParaPr>
                      <m:jc m:val="center"/>
                    </m:oMathParaPr>
                    <m:oMath>
                      <m:r>
                        <m:t> </m:t>
                      </m:r>
                    </m:oMath>
                  </m:oMathPara>
                </a14:m>
              </a:p>
              <a:p>
                <a:pPr lvl="0" indent="0" marL="0">
                  <a:buNone/>
                </a:pPr>
                <a:r>
                  <a:rPr/>
                  <a:t>That is: the </a:t>
                </a:r>
                <a14:m>
                  <m:oMath xmlns:m="http://schemas.openxmlformats.org/officeDocument/2006/math">
                    <m:sSub>
                      <m:e>
                        <m:r>
                          <m:t>η</m:t>
                        </m:r>
                      </m:e>
                      <m:sub>
                        <m:r>
                          <m:t>j</m:t>
                        </m:r>
                      </m:sub>
                    </m:sSub>
                  </m:oMath>
                </a14:m>
                <a:r>
                  <a:rPr/>
                  <a:t> are </a:t>
                </a:r>
                <a:r>
                  <a:rPr b="1"/>
                  <a:t>independent and identically distributed given some parameter </a:t>
                </a:r>
                <a14:m>
                  <m:oMath xmlns:m="http://schemas.openxmlformats.org/officeDocument/2006/math">
                    <m:r>
                      <m:t>ϕ</m:t>
                    </m:r>
                  </m:oMath>
                </a14:m>
                <a:r>
                  <a:rPr/>
                  <a:t>, and </a:t>
                </a:r>
                <a14:m>
                  <m:oMath xmlns:m="http://schemas.openxmlformats.org/officeDocument/2006/math">
                    <m:r>
                      <m:t>ϕ</m:t>
                    </m:r>
                  </m:oMath>
                </a14:m>
                <a:r>
                  <a:rPr/>
                  <a:t> itself is unknown and has a distribution. Exchangeability, a simple symmetry judgement, forces this structure.</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We have used this twice in the course</a:t>
            </a:r>
          </a:p>
        </p:txBody>
      </p:sp>
      <p:graphicFrame>
        <p:nvGraphicFramePr>
          <p:cNvPr id="6" name="Content Placeholder 5"/>
          <p:cNvGraphicFramePr>
            <a:graphicFrameLocks noGrp="1"/>
          </p:cNvGraphicFramePr>
          <p:nvPr>
            <p:ph idx="1"/>
          </p:nvPr>
        </p:nvGraphicFramePr>
        <p:xfrm>
          <a:off x="838200" y="1816100"/>
          <a:ext cx="10515600" cy="4660900"/>
        </p:xfrm>
        <a:graphic>
          <a:graphicData uri="http://schemas.openxmlformats.org/drawingml/2006/table">
            <a:tbl>
              <a:tblPr firstRow="1" bandRow="1">
                <a:tableStyleId>{5C22544A-7EE6-4342-B048-85BDC9FD1C3A}</a:tableStyleId>
              </a:tblPr>
              <a:tblGrid>
                <a:gridCol w="3505200"/>
                <a:gridCol w="3505200"/>
                <a:gridCol w="3505200"/>
              </a:tblGrid>
              <a:tr h="0">
                <a:tc>
                  <a:txBody>
                    <a:bodyPr/>
                    <a:lstStyle/>
                    <a:p>
                      <a:pPr lvl="0" indent="0" marL="0" algn="l">
                        <a:buNone/>
                      </a:pPr>
                      <a:r>
                        <a:rPr/>
                        <a:t>Level</a:t>
                      </a:r>
                    </a:p>
                  </a:txBody>
                  <a:tcPr/>
                </a:tc>
                <a:tc>
                  <a:txBody>
                    <a:bodyPr/>
                    <a:lstStyle/>
                    <a:p>
                      <a:pPr lvl="0" indent="0" marL="0" algn="l">
                        <a:buNone/>
                      </a:pPr>
                      <a:r>
                        <a:rPr/>
                        <a:t>Exchangeable quantities</a:t>
                      </a:r>
                    </a:p>
                  </a:txBody>
                  <a:tcPr/>
                </a:tc>
                <a:tc>
                  <a:txBody>
                    <a:bodyPr/>
                    <a:lstStyle/>
                    <a:p>
                      <a:pPr lvl="0" indent="0" marL="0" algn="l">
                        <a:buNone/>
                      </a:pPr>
                      <a:r>
                        <a:rPr/>
                        <a:t>Resulting model</a:t>
                      </a:r>
                    </a:p>
                  </a:txBody>
                  <a:tcPr/>
                </a:tc>
              </a:tr>
              <a:tr h="0">
                <a:tc>
                  <a:txBody>
                    <a:bodyPr/>
                    <a:lstStyle/>
                    <a:p>
                      <a:pPr lvl="0" indent="0" marL="0" algn="l">
                        <a:buNone/>
                      </a:pPr>
                      <a:r>
                        <a:rPr/>
                        <a:t>Data (Lecture 1)</a:t>
                      </a:r>
                    </a:p>
                  </a:txBody>
                </a:tc>
                <a:tc>
                  <a:txBody>
                    <a:bodyPr/>
                    <a:lstStyle/>
                    <a:p>
                      <a:pPr lvl="0" indent="0" marL="0" algn="l">
                        <a:buNone/>
                      </a:pPr>
                      <a:r>
                        <a:rPr/>
                        <a:t>Test results of the 30 children</a:t>
                      </a:r>
                    </a:p>
                  </a:txBody>
                </a:tc>
                <a:tc>
                  <a:txBody>
                    <a:bodyPr/>
                    <a:lstStyle/>
                    <a:p>
                      <a:pPr lvl="0" indent="0" marL="0" algn="l">
                        <a:buNone/>
                      </a:pPr>
                      <a:r>
                        <a:rPr/>
                        <a:t>Bernoulli(π) per child, prior on π</a:t>
                      </a:r>
                    </a:p>
                  </a:txBody>
                </a:tc>
              </a:tr>
              <a:tr h="0">
                <a:tc>
                  <a:txBody>
                    <a:bodyPr/>
                    <a:lstStyle/>
                    <a:p>
                      <a:pPr lvl="0" indent="0" marL="0" algn="l">
                        <a:buNone/>
                      </a:pPr>
                      <a:r>
                        <a:rPr/>
                        <a:t>Parameters (today)</a:t>
                      </a:r>
                    </a:p>
                  </a:txBody>
                </a:tc>
                <a:tc>
                  <a:txBody>
                    <a:bodyPr/>
                    <a:lstStyle/>
                    <a:p>
                      <a:pPr lvl="0" indent="0" marL="0" algn="l">
                        <a:buNone/>
                      </a:pPr>
                      <a:r>
                        <a:rPr/>
                        <a:t>Log-odds of death at the 8 hospitals</a:t>
                      </a:r>
                    </a:p>
                  </a:txBody>
                </a:tc>
                <a:tc>
                  <a:txBody>
                    <a:bodyPr/>
                    <a:lstStyle/>
                    <a:p>
                      <a:pPr lvl="0" indent="0" marL="0" algn="l">
                        <a:buNone/>
                      </a:pPr>
                      <a:r>
                        <a:rPr/>
                        <a:t>N(μ, σ²) per hospital, priors on μ and σ</a:t>
                      </a:r>
                    </a:p>
                  </a:txBody>
                </a:tc>
              </a:tr>
            </a:tbl>
          </a:graphicData>
        </a:graphic>
      </p:graphicFrame>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De Finetti’s theorem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So the hierarchical model is not an ad hoc device: it is what exchangeability of the hospitals implies.</a:t>
                </a:r>
              </a:p>
              <a:p>
                <a:pPr lvl="0" indent="0" marL="0">
                  <a:buNone/>
                </a:pPr>
                <a:r>
                  <a:rPr/>
                  <a:t>Two caveats:</a:t>
                </a:r>
              </a:p>
              <a:p>
                <a:pPr lvl="0" indent="0" marL="0">
                  <a:buNone/>
                </a:pPr>
                <a:r>
                  <a:rPr/>
                  <a:t>The theorem guarantees the </a:t>
                </a:r>
                <a:r>
                  <a:rPr i="1"/>
                  <a:t>structure</a:t>
                </a:r>
                <a:r>
                  <a:rPr/>
                  <a:t> (i.i.d. given </a:t>
                </a:r>
                <a14:m>
                  <m:oMath xmlns:m="http://schemas.openxmlformats.org/officeDocument/2006/math">
                    <m:r>
                      <m:t>ϕ</m:t>
                    </m:r>
                  </m:oMath>
                </a14:m>
                <a:r>
                  <a:rPr/>
                  <a:t>, plus a prior on </a:t>
                </a:r>
                <a14:m>
                  <m:oMath xmlns:m="http://schemas.openxmlformats.org/officeDocument/2006/math">
                    <m:r>
                      <m:t>ϕ</m:t>
                    </m:r>
                  </m:oMath>
                </a14:m>
                <a:r>
                  <a:rPr/>
                  <a:t>), not the </a:t>
                </a:r>
                <a:r>
                  <a:rPr i="1"/>
                  <a:t>shape</a:t>
                </a:r>
                <a:r>
                  <a:rPr/>
                  <a:t>; choosing a normal distribution for </a:t>
                </a:r>
                <a14:m>
                  <m:oMath xmlns:m="http://schemas.openxmlformats.org/officeDocument/2006/math">
                    <m:sSub>
                      <m:e>
                        <m:r>
                          <m:t>η</m:t>
                        </m:r>
                      </m:e>
                      <m:sub>
                        <m:r>
                          <m:t>j</m:t>
                        </m:r>
                      </m:sub>
                    </m:sSub>
                    <m:r>
                      <m:rPr>
                        <m:sty m:val="p"/>
                      </m:rPr>
                      <m:t>∣</m:t>
                    </m:r>
                    <m:r>
                      <m:t>μ</m:t>
                    </m:r>
                    <m:r>
                      <m:rPr>
                        <m:sty m:val="p"/>
                      </m:rPr>
                      <m:t>,</m:t>
                    </m:r>
                    <m:r>
                      <m:t>σ</m:t>
                    </m:r>
                  </m:oMath>
                </a14:m>
                <a:r>
                  <a:rPr/>
                  <a:t> is our modelling decision, and can be checked like any other.</a:t>
                </a:r>
              </a:p>
              <a:p>
                <a:pPr lvl="0" indent="0" marL="0">
                  <a:buNone/>
                </a:pPr>
                <a:r>
                  <a:rPr/>
                  <a:t>And for a finite set of hospitals that could not be extended the representation holds only approximately, which in practice is rarely a concern.</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Exchangeable but dependent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We can see the dependence directly by simulating from the prior of the model above: draw </a:t>
                </a:r>
                <a14:m>
                  <m:oMath xmlns:m="http://schemas.openxmlformats.org/officeDocument/2006/math">
                    <m:r>
                      <m:t>μ</m:t>
                    </m:r>
                    <m:r>
                      <m:rPr>
                        <m:sty m:val="p"/>
                      </m:rPr>
                      <m:t>∼</m:t>
                    </m:r>
                    <m:r>
                      <m:rPr>
                        <m:scr m:val="script"/>
                        <m:sty m:val="p"/>
                      </m:rPr>
                      <m:t>N</m:t>
                    </m:r>
                    <m:r>
                      <m:rPr>
                        <m:sty m:val="p"/>
                      </m:rPr>
                      <m:t>(</m:t>
                    </m:r>
                    <m:r>
                      <m:rPr>
                        <m:sty m:val="p"/>
                      </m:rPr>
                      <m:t>−</m:t>
                    </m:r>
                    <m:r>
                      <m:t>2</m:t>
                    </m:r>
                    <m:r>
                      <m:rPr>
                        <m:sty m:val="p"/>
                      </m:rPr>
                      <m:t>,</m:t>
                    </m:r>
                    <m:sSup>
                      <m:e>
                        <m:r>
                          <m:t>1</m:t>
                        </m:r>
                      </m:e>
                      <m:sup>
                        <m:r>
                          <m:t>2</m:t>
                        </m:r>
                      </m:sup>
                    </m:sSup>
                    <m:r>
                      <m:rPr>
                        <m:sty m:val="p"/>
                      </m:rPr>
                      <m:t>)</m:t>
                    </m:r>
                  </m:oMath>
                </a14:m>
                <a:r>
                  <a:rPr/>
                  <a:t> and </a:t>
                </a:r>
                <a14:m>
                  <m:oMath xmlns:m="http://schemas.openxmlformats.org/officeDocument/2006/math">
                    <m:r>
                      <m:t>σ</m:t>
                    </m:r>
                    <m:r>
                      <m:rPr>
                        <m:sty m:val="p"/>
                      </m:rPr>
                      <m:t>∼</m:t>
                    </m:r>
                    <m:r>
                      <m:rPr>
                        <m:nor/>
                        <m:sty m:val="p"/>
                      </m:rPr>
                      <m:t>Exp</m:t>
                    </m:r>
                    <m:r>
                      <m:rPr>
                        <m:sty m:val="p"/>
                      </m:rPr>
                      <m:t>(</m:t>
                    </m:r>
                    <m:r>
                      <m:t>1</m:t>
                    </m:r>
                    <m:r>
                      <m:rPr>
                        <m:sty m:val="p"/>
                      </m:rPr>
                      <m:t>)</m:t>
                    </m:r>
                  </m:oMath>
                </a14:m>
                <a:r>
                  <a:rPr/>
                  <a:t>, then two hospitals’ log-odds independently from </a:t>
                </a:r>
                <a14:m>
                  <m:oMath xmlns:m="http://schemas.openxmlformats.org/officeDocument/2006/math">
                    <m:r>
                      <m:rPr>
                        <m:scr m:val="script"/>
                        <m:sty m:val="p"/>
                      </m:rPr>
                      <m:t>N</m:t>
                    </m:r>
                    <m:r>
                      <m:rPr>
                        <m:sty m:val="p"/>
                      </m:rPr>
                      <m:t>(</m:t>
                    </m:r>
                    <m:r>
                      <m:t>μ</m:t>
                    </m:r>
                    <m:r>
                      <m:rPr>
                        <m:sty m:val="p"/>
                      </m:rPr>
                      <m:t>,</m:t>
                    </m:r>
                    <m:sSup>
                      <m:e>
                        <m:r>
                          <m:t>σ</m:t>
                        </m:r>
                      </m:e>
                      <m:sup>
                        <m:r>
                          <m:t>2</m:t>
                        </m:r>
                      </m:sup>
                    </m:sSup>
                    <m:r>
                      <m:rPr>
                        <m:sty m:val="p"/>
                      </m:rPr>
                      <m:t>)</m:t>
                    </m:r>
                  </m:oMath>
                </a14:m>
                <a:r>
                  <a:rPr/>
                  <a:t>.</a:t>
                </a:r>
              </a:p>
              <a:p>
                <a:pPr lvl="0" indent="0">
                  <a:buNone/>
                </a:pPr>
                <a:r>
                  <a:rPr>
                    <a:solidFill>
                      <a:srgbClr val="003B4F"/>
                    </a:solidFill>
                    <a:latin typeface="Courier"/>
                  </a:rPr>
                  <a:t>S &lt;- </a:t>
                </a:r>
                <a:r>
                  <a:rPr>
                    <a:solidFill>
                      <a:srgbClr val="AD0000"/>
                    </a:solidFill>
                    <a:latin typeface="Courier"/>
                  </a:rPr>
                  <a:t>5000</a:t>
                </a:r>
                <a:br/>
                <a:r>
                  <a:rPr>
                    <a:solidFill>
                      <a:srgbClr val="003B4F"/>
                    </a:solidFill>
                    <a:latin typeface="Courier"/>
                  </a:rPr>
                  <a:t>mu_s    &lt;- </a:t>
                </a:r>
                <a:r>
                  <a:rPr>
                    <a:solidFill>
                      <a:srgbClr val="4758AB"/>
                    </a:solidFill>
                    <a:latin typeface="Courier"/>
                  </a:rPr>
                  <a:t>rnorm</a:t>
                </a:r>
                <a:r>
                  <a:rPr>
                    <a:solidFill>
                      <a:srgbClr val="003B4F"/>
                    </a:solidFill>
                    <a:latin typeface="Courier"/>
                  </a:rPr>
                  <a:t>(S, </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sigma_s &lt;- </a:t>
                </a:r>
                <a:r>
                  <a:rPr>
                    <a:solidFill>
                      <a:srgbClr val="4758AB"/>
                    </a:solidFill>
                    <a:latin typeface="Courier"/>
                  </a:rPr>
                  <a:t>rexp</a:t>
                </a:r>
                <a:r>
                  <a:rPr>
                    <a:solidFill>
                      <a:srgbClr val="003B4F"/>
                    </a:solidFill>
                    <a:latin typeface="Courier"/>
                  </a:rPr>
                  <a:t>(S, </a:t>
                </a:r>
                <a:r>
                  <a:rPr>
                    <a:solidFill>
                      <a:srgbClr val="AD0000"/>
                    </a:solidFill>
                    <a:latin typeface="Courier"/>
                  </a:rPr>
                  <a:t>1</a:t>
                </a:r>
                <a:r>
                  <a:rPr>
                    <a:solidFill>
                      <a:srgbClr val="003B4F"/>
                    </a:solidFill>
                    <a:latin typeface="Courier"/>
                  </a:rPr>
                  <a:t>)</a:t>
                </a:r>
                <a:br/>
                <a:r>
                  <a:rPr>
                    <a:solidFill>
                      <a:srgbClr val="003B4F"/>
                    </a:solidFill>
                    <a:latin typeface="Courier"/>
                  </a:rPr>
                  <a:t>eta_A   &lt;- </a:t>
                </a:r>
                <a:r>
                  <a:rPr>
                    <a:solidFill>
                      <a:srgbClr val="4758AB"/>
                    </a:solidFill>
                    <a:latin typeface="Courier"/>
                  </a:rPr>
                  <a:t>rnorm</a:t>
                </a:r>
                <a:r>
                  <a:rPr>
                    <a:solidFill>
                      <a:srgbClr val="003B4F"/>
                    </a:solidFill>
                    <a:latin typeface="Courier"/>
                  </a:rPr>
                  <a:t>(S, mu_s, sigma_s)</a:t>
                </a:r>
                <a:br/>
                <a:r>
                  <a:rPr>
                    <a:solidFill>
                      <a:srgbClr val="003B4F"/>
                    </a:solidFill>
                    <a:latin typeface="Courier"/>
                  </a:rPr>
                  <a:t>eta_H   &lt;- </a:t>
                </a:r>
                <a:r>
                  <a:rPr>
                    <a:solidFill>
                      <a:srgbClr val="4758AB"/>
                    </a:solidFill>
                    <a:latin typeface="Courier"/>
                  </a:rPr>
                  <a:t>rnorm</a:t>
                </a:r>
                <a:r>
                  <a:rPr>
                    <a:solidFill>
                      <a:srgbClr val="003B4F"/>
                    </a:solidFill>
                    <a:latin typeface="Courier"/>
                  </a:rPr>
                  <a:t>(S, mu_s, sigma_s)</a:t>
                </a:r>
                <a:br/>
                <a:br/>
                <a:r>
                  <a:rPr>
                    <a:solidFill>
                      <a:srgbClr val="4758AB"/>
                    </a:solidFill>
                    <a:latin typeface="Courier"/>
                  </a:rPr>
                  <a:t>ggplot</a:t>
                </a:r>
                <a:r>
                  <a:rPr>
                    <a:solidFill>
                      <a:srgbClr val="003B4F"/>
                    </a:solidFill>
                    <a:latin typeface="Courier"/>
                  </a:rPr>
                  <a:t>(</a:t>
                </a:r>
                <a:r>
                  <a:rPr>
                    <a:solidFill>
                      <a:srgbClr val="4758AB"/>
                    </a:solidFill>
                    <a:latin typeface="Courier"/>
                  </a:rPr>
                  <a:t>tibble</a:t>
                </a:r>
                <a:r>
                  <a:rPr>
                    <a:solidFill>
                      <a:srgbClr val="003B4F"/>
                    </a:solidFill>
                    <a:latin typeface="Courier"/>
                  </a:rPr>
                  <a:t>(eta_A, eta_H), </a:t>
                </a:r>
                <a:r>
                  <a:rPr>
                    <a:solidFill>
                      <a:srgbClr val="4758AB"/>
                    </a:solidFill>
                    <a:latin typeface="Courier"/>
                  </a:rPr>
                  <a:t>aes</a:t>
                </a:r>
                <a:r>
                  <a:rPr>
                    <a:solidFill>
                      <a:srgbClr val="003B4F"/>
                    </a:solidFill>
                    <a:latin typeface="Courier"/>
                  </a:rPr>
                  <a:t>(eta_A, eta_H))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0.15</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"steelblue"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coord_cartesian</a:t>
                </a:r>
                <a:r>
                  <a:rPr>
                    <a:solidFill>
                      <a:srgbClr val="003B4F"/>
                    </a:solidFill>
                    <a:latin typeface="Courier"/>
                  </a:rPr>
                  <a:t>(</a:t>
                </a:r>
                <a:r>
                  <a:rPr>
                    <a:solidFill>
                      <a:srgbClr val="657422"/>
                    </a:solidFill>
                    <a:latin typeface="Courier"/>
                  </a:rPr>
                  <a:t>xlim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5E5E5E"/>
                    </a:solidFill>
                    <a:latin typeface="Courier"/>
                  </a:rPr>
                  <a:t>-</a:t>
                </a:r>
                <a:r>
                  <a:rPr>
                    <a:solidFill>
                      <a:srgbClr val="AD0000"/>
                    </a:solidFill>
                    <a:latin typeface="Courier"/>
                  </a:rPr>
                  <a:t>8</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ylim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5E5E5E"/>
                    </a:solidFill>
                    <a:latin typeface="Courier"/>
                  </a:rPr>
                  <a:t>-</a:t>
                </a:r>
                <a:r>
                  <a:rPr>
                    <a:solidFill>
                      <a:srgbClr val="AD0000"/>
                    </a:solidFill>
                    <a:latin typeface="Courier"/>
                  </a:rPr>
                  <a:t>8</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"log-odds of death, hospital A"</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"log-odds of death, hospital H"</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"draws from the hierarchical prior"</a:t>
                </a:r>
                <a:r>
                  <a:rPr>
                    <a:solidFill>
                      <a:srgbClr val="003B4F"/>
                    </a:solidFill>
                    <a:latin typeface="Courier"/>
                  </a:rPr>
                  <a:t>)</a:t>
                </a:r>
                <a:br/>
                <a:br/>
                <a:r>
                  <a:rPr>
                    <a:solidFill>
                      <a:srgbClr val="4758AB"/>
                    </a:solidFill>
                    <a:latin typeface="Courier"/>
                  </a:rPr>
                  <a:t>cor</a:t>
                </a:r>
                <a:r>
                  <a:rPr>
                    <a:solidFill>
                      <a:srgbClr val="003B4F"/>
                    </a:solidFill>
                    <a:latin typeface="Courier"/>
                  </a:rPr>
                  <a:t>(eta_A, eta_H)</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Exchangeable but dependent</a:t>
            </a:r>
          </a:p>
        </p:txBody>
      </p:sp>
      <p:pic>
        <p:nvPicPr>
          <p:cNvPr descr="Chanco_STA623_BDA_2026_Henrion_Session5_files/figure-pptx/unnamed-chunk-22-1.png" id="0" name="Picture 1"/>
          <p:cNvPicPr>
            <a:picLocks noGrp="1" noChangeAspect="1"/>
          </p:cNvPicPr>
          <p:nvPr/>
        </p:nvPicPr>
        <p:blipFill>
          <a:blip r:embed="rId2"/>
          <a:stretch>
            <a:fillRect/>
          </a:stretch>
        </p:blipFill>
        <p:spPr bwMode="auto">
          <a:xfrm>
            <a:off x="838200" y="2387600"/>
            <a:ext cx="10515600" cy="35052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latin typeface="Courier"/>
              </a:rPr>
              <a:t>[1] 0.3330657</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Exchangeable but dependent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The two hospitals are exchangeable (the plot is symmetric about the diagonal) but positively correlated a priori, because they share the unknown </a:t>
                </a:r>
                <a14:m>
                  <m:oMath xmlns:m="http://schemas.openxmlformats.org/officeDocument/2006/math">
                    <m:r>
                      <m:t>μ</m:t>
                    </m:r>
                  </m:oMath>
                </a14:m>
                <a:r>
                  <a:rPr/>
                  <a:t>. This correlation is what makes data from hospital A informative about hospital H.</a:t>
                </a:r>
              </a:p>
              <a:p>
                <a:pPr lvl="0" indent="0" marL="0">
                  <a:buNone/>
                </a:pPr>
                <a14:m>
                  <m:oMathPara xmlns:m="http://schemas.openxmlformats.org/officeDocument/2006/math">
                    <m:oMathParaPr>
                      <m:jc m:val="center"/>
                    </m:oMathParaPr>
                    <m:oMath>
                      <m:r>
                        <m:t> </m:t>
                      </m:r>
                    </m:oMath>
                  </m:oMathPara>
                </a14:m>
              </a:p>
              <a:p>
                <a:pPr lvl="0" indent="0" marL="0">
                  <a:buNone/>
                </a:pPr>
                <a:r>
                  <a:rPr/>
                  <a:t>The correlation can be derived exactly by conditioning on </a:t>
                </a:r>
                <a14:m>
                  <m:oMath xmlns:m="http://schemas.openxmlformats.org/officeDocument/2006/math">
                    <m:r>
                      <m:rPr>
                        <m:sty m:val="p"/>
                      </m:rPr>
                      <m:t>(</m:t>
                    </m:r>
                    <m:r>
                      <m:t>μ</m:t>
                    </m:r>
                    <m:r>
                      <m:rPr>
                        <m:sty m:val="p"/>
                      </m:rPr>
                      <m:t>,</m:t>
                    </m:r>
                    <m:r>
                      <m:t>σ</m:t>
                    </m:r>
                    <m:r>
                      <m:rPr>
                        <m:sty m:val="p"/>
                      </m:rPr>
                      <m:t>)</m:t>
                    </m:r>
                  </m:oMath>
                </a14:m>
                <a:r>
                  <a:rPr/>
                  <a:t> and using the laws of total variance and total covariance (Appendix A). Given </a:t>
                </a:r>
                <a14:m>
                  <m:oMath xmlns:m="http://schemas.openxmlformats.org/officeDocument/2006/math">
                    <m:r>
                      <m:rPr>
                        <m:sty m:val="p"/>
                      </m:rPr>
                      <m:t>(</m:t>
                    </m:r>
                    <m:r>
                      <m:t>μ</m:t>
                    </m:r>
                    <m:r>
                      <m:rPr>
                        <m:sty m:val="p"/>
                      </m:rPr>
                      <m:t>,</m:t>
                    </m:r>
                    <m:r>
                      <m:t>σ</m:t>
                    </m:r>
                    <m:r>
                      <m:rPr>
                        <m:sty m:val="p"/>
                      </m:rPr>
                      <m:t>)</m:t>
                    </m:r>
                  </m:oMath>
                </a14:m>
                <a:r>
                  <a:rPr/>
                  <a:t>, </a:t>
                </a:r>
                <a14:m>
                  <m:oMath xmlns:m="http://schemas.openxmlformats.org/officeDocument/2006/math">
                    <m:sSub>
                      <m:e>
                        <m:r>
                          <m:t>η</m:t>
                        </m:r>
                      </m:e>
                      <m:sub>
                        <m:r>
                          <m:t>A</m:t>
                        </m:r>
                      </m:sub>
                    </m:sSub>
                  </m:oMath>
                </a14:m>
                <a:r>
                  <a:rPr/>
                  <a:t> and </a:t>
                </a:r>
                <a14:m>
                  <m:oMath xmlns:m="http://schemas.openxmlformats.org/officeDocument/2006/math">
                    <m:sSub>
                      <m:e>
                        <m:r>
                          <m:t>η</m:t>
                        </m:r>
                      </m:e>
                      <m:sub>
                        <m:r>
                          <m:t>H</m:t>
                        </m:r>
                      </m:sub>
                    </m:sSub>
                  </m:oMath>
                </a14:m>
                <a:r>
                  <a:rPr/>
                  <a:t> are independent, each with mean </a:t>
                </a:r>
                <a14:m>
                  <m:oMath xmlns:m="http://schemas.openxmlformats.org/officeDocument/2006/math">
                    <m:r>
                      <m:t>μ</m:t>
                    </m:r>
                  </m:oMath>
                </a14:m>
                <a:r>
                  <a:rPr/>
                  <a:t> and variance </a:t>
                </a:r>
                <a14:m>
                  <m:oMath xmlns:m="http://schemas.openxmlformats.org/officeDocument/2006/math">
                    <m:sSup>
                      <m:e>
                        <m:r>
                          <m:t>σ</m:t>
                        </m:r>
                      </m:e>
                      <m:sup>
                        <m:r>
                          <m:t>2</m:t>
                        </m:r>
                      </m:sup>
                    </m:sSup>
                  </m:oMath>
                </a14:m>
                <a:r>
                  <a:rPr/>
                  <a: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Exchangeable but dependent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14:m>
                  <m:oMathPara xmlns:m="http://schemas.openxmlformats.org/officeDocument/2006/math">
                    <m:oMathParaPr>
                      <m:jc m:val="center"/>
                    </m:oMathParaPr>
                    <m:oMath>
                      <m:eqArr>
                        <m:e>
                          <m:r>
                            <m:rPr>
                              <m:nor/>
                              <m:sty m:val="p"/>
                            </m:rPr>
                            <m:t>Var</m:t>
                          </m:r>
                          <m:r>
                            <m:rPr>
                              <m:sty m:val="p"/>
                            </m:rPr>
                            <m:t>(</m:t>
                          </m:r>
                          <m:sSub>
                            <m:e>
                              <m:r>
                                <m:t>η</m:t>
                              </m:r>
                            </m:e>
                            <m:sub>
                              <m:r>
                                <m:t>j</m:t>
                              </m:r>
                            </m:sub>
                          </m:sSub>
                          <m:r>
                            <m:rPr>
                              <m:sty m:val="p"/>
                            </m:rPr>
                            <m:t>)</m:t>
                          </m:r>
                          <m:r>
                            <m:t>&amp;</m:t>
                          </m:r>
                          <m:r>
                            <m:rPr>
                              <m:sty m:val="p"/>
                            </m:rPr>
                            <m:t>=</m:t>
                          </m:r>
                          <m:r>
                            <m:t>E</m:t>
                          </m:r>
                          <m:d>
                            <m:dPr>
                              <m:begChr m:val="["/>
                              <m:sepChr m:val=""/>
                              <m:endChr m:val="]"/>
                              <m:grow/>
                            </m:dPr>
                            <m:e>
                              <m:r>
                                <m:rPr>
                                  <m:nor/>
                                  <m:sty m:val="p"/>
                                </m:rPr>
                                <m:t>Var</m:t>
                              </m:r>
                              <m:r>
                                <m:rPr>
                                  <m:sty m:val="p"/>
                                </m:rPr>
                                <m:t>(</m:t>
                              </m:r>
                              <m:sSub>
                                <m:e>
                                  <m:r>
                                    <m:t>η</m:t>
                                  </m:r>
                                </m:e>
                                <m:sub>
                                  <m:r>
                                    <m:t>j</m:t>
                                  </m:r>
                                </m:sub>
                              </m:sSub>
                              <m:r>
                                <m:rPr>
                                  <m:sty m:val="p"/>
                                </m:rPr>
                                <m:t>∣</m:t>
                              </m:r>
                              <m:r>
                                <m:t>μ</m:t>
                              </m:r>
                              <m:r>
                                <m:rPr>
                                  <m:sty m:val="p"/>
                                </m:rPr>
                                <m:t>,</m:t>
                              </m:r>
                              <m:r>
                                <m:t>σ</m:t>
                              </m:r>
                              <m:r>
                                <m:rPr>
                                  <m:sty m:val="p"/>
                                </m:rPr>
                                <m:t>)</m:t>
                              </m:r>
                            </m:e>
                          </m:d>
                          <m:r>
                            <m:rPr>
                              <m:sty m:val="p"/>
                            </m:rPr>
                            <m:t>+</m:t>
                          </m:r>
                          <m:r>
                            <m:rPr>
                              <m:nor/>
                              <m:sty m:val="p"/>
                            </m:rPr>
                            <m:t>Var</m:t>
                          </m:r>
                          <m:d>
                            <m:dPr>
                              <m:begChr m:val="("/>
                              <m:sepChr m:val=""/>
                              <m:endChr m:val=")"/>
                              <m:grow/>
                            </m:dPr>
                            <m:e>
                              <m:r>
                                <m:t>E</m:t>
                              </m:r>
                              <m:r>
                                <m:rPr>
                                  <m:sty m:val="p"/>
                                </m:rPr>
                                <m:t>[</m:t>
                              </m:r>
                              <m:sSub>
                                <m:e>
                                  <m:r>
                                    <m:t>η</m:t>
                                  </m:r>
                                </m:e>
                                <m:sub>
                                  <m:r>
                                    <m:t>j</m:t>
                                  </m:r>
                                </m:sub>
                              </m:sSub>
                              <m:r>
                                <m:rPr>
                                  <m:sty m:val="p"/>
                                </m:rPr>
                                <m:t>∣</m:t>
                              </m:r>
                              <m:r>
                                <m:t>μ</m:t>
                              </m:r>
                              <m:r>
                                <m:rPr>
                                  <m:sty m:val="p"/>
                                </m:rPr>
                                <m:t>,</m:t>
                              </m:r>
                              <m:r>
                                <m:t>σ</m:t>
                              </m:r>
                              <m:r>
                                <m:rPr>
                                  <m:sty m:val="p"/>
                                </m:rPr>
                                <m:t>]</m:t>
                              </m:r>
                            </m:e>
                          </m:d>
                        </m:e>
                        <m:e>
                          <m:r>
                            <m:t>&amp;</m:t>
                          </m:r>
                          <m:r>
                            <m:rPr>
                              <m:sty m:val="p"/>
                            </m:rPr>
                            <m:t>=</m:t>
                          </m:r>
                          <m:r>
                            <m:t>E</m:t>
                          </m:r>
                          <m:r>
                            <m:rPr>
                              <m:sty m:val="p"/>
                            </m:rPr>
                            <m:t>[</m:t>
                          </m:r>
                          <m:sSup>
                            <m:e>
                              <m:r>
                                <m:t>σ</m:t>
                              </m:r>
                            </m:e>
                            <m:sup>
                              <m:r>
                                <m:t>2</m:t>
                              </m:r>
                            </m:sup>
                          </m:sSup>
                          <m:r>
                            <m:rPr>
                              <m:sty m:val="p"/>
                            </m:rPr>
                            <m:t>]</m:t>
                          </m:r>
                          <m:r>
                            <m:rPr>
                              <m:sty m:val="p"/>
                            </m:rPr>
                            <m:t>+</m:t>
                          </m:r>
                          <m:r>
                            <m:rPr>
                              <m:nor/>
                              <m:sty m:val="p"/>
                            </m:rPr>
                            <m:t>Var</m:t>
                          </m:r>
                          <m:r>
                            <m:rPr>
                              <m:sty m:val="p"/>
                            </m:rPr>
                            <m:t>(</m:t>
                          </m:r>
                          <m:r>
                            <m:t>μ</m:t>
                          </m:r>
                          <m:r>
                            <m:rPr>
                              <m:sty m:val="p"/>
                            </m:rPr>
                            <m:t>)</m:t>
                          </m:r>
                          <m:r>
                            <m:rPr>
                              <m:sty m:val="p"/>
                            </m:rPr>
                            <m:t>,</m:t>
                          </m:r>
                        </m:e>
                        <m:e>
                          <m:r>
                            <m:rPr>
                              <m:nor/>
                              <m:sty m:val="p"/>
                            </m:rPr>
                            <m:t>Cov</m:t>
                          </m:r>
                          <m:r>
                            <m:rPr>
                              <m:sty m:val="p"/>
                            </m:rPr>
                            <m:t>(</m:t>
                          </m:r>
                          <m:sSub>
                            <m:e>
                              <m:r>
                                <m:t>η</m:t>
                              </m:r>
                            </m:e>
                            <m:sub>
                              <m:r>
                                <m:t>A</m:t>
                              </m:r>
                            </m:sub>
                          </m:sSub>
                          <m:r>
                            <m:rPr>
                              <m:sty m:val="p"/>
                            </m:rPr>
                            <m:t>,</m:t>
                          </m:r>
                          <m:sSub>
                            <m:e>
                              <m:r>
                                <m:t>η</m:t>
                              </m:r>
                            </m:e>
                            <m:sub>
                              <m:r>
                                <m:t>H</m:t>
                              </m:r>
                            </m:sub>
                          </m:sSub>
                          <m:r>
                            <m:rPr>
                              <m:sty m:val="p"/>
                            </m:rPr>
                            <m:t>)</m:t>
                          </m:r>
                          <m:r>
                            <m:t>&amp;</m:t>
                          </m:r>
                          <m:r>
                            <m:rPr>
                              <m:sty m:val="p"/>
                            </m:rPr>
                            <m:t>=</m:t>
                          </m:r>
                          <m:r>
                            <m:t>E</m:t>
                          </m:r>
                          <m:d>
                            <m:dPr>
                              <m:begChr m:val="["/>
                              <m:sepChr m:val=""/>
                              <m:endChr m:val="]"/>
                              <m:grow/>
                            </m:dPr>
                            <m:e>
                              <m:r>
                                <m:rPr>
                                  <m:nor/>
                                  <m:sty m:val="p"/>
                                </m:rPr>
                                <m:t>Cov</m:t>
                              </m:r>
                              <m:r>
                                <m:rPr>
                                  <m:sty m:val="p"/>
                                </m:rPr>
                                <m:t>(</m:t>
                              </m:r>
                              <m:sSub>
                                <m:e>
                                  <m:r>
                                    <m:t>η</m:t>
                                  </m:r>
                                </m:e>
                                <m:sub>
                                  <m:r>
                                    <m:t>A</m:t>
                                  </m:r>
                                </m:sub>
                              </m:sSub>
                              <m:r>
                                <m:rPr>
                                  <m:sty m:val="p"/>
                                </m:rPr>
                                <m:t>,</m:t>
                              </m:r>
                              <m:sSub>
                                <m:e>
                                  <m:r>
                                    <m:t>η</m:t>
                                  </m:r>
                                </m:e>
                                <m:sub>
                                  <m:r>
                                    <m:t>H</m:t>
                                  </m:r>
                                </m:sub>
                              </m:sSub>
                              <m:r>
                                <m:rPr>
                                  <m:sty m:val="p"/>
                                </m:rPr>
                                <m:t>∣</m:t>
                              </m:r>
                              <m:r>
                                <m:t>μ</m:t>
                              </m:r>
                              <m:r>
                                <m:rPr>
                                  <m:sty m:val="p"/>
                                </m:rPr>
                                <m:t>,</m:t>
                              </m:r>
                              <m:r>
                                <m:t>σ</m:t>
                              </m:r>
                              <m:r>
                                <m:rPr>
                                  <m:sty m:val="p"/>
                                </m:rPr>
                                <m:t>)</m:t>
                              </m:r>
                            </m:e>
                          </m:d>
                          <m:r>
                            <m:rPr>
                              <m:sty m:val="p"/>
                            </m:rPr>
                            <m:t>+</m:t>
                          </m:r>
                          <m:r>
                            <m:rPr>
                              <m:nor/>
                              <m:sty m:val="p"/>
                            </m:rPr>
                            <m:t>Cov</m:t>
                          </m:r>
                          <m:d>
                            <m:dPr>
                              <m:begChr m:val="("/>
                              <m:sepChr m:val=""/>
                              <m:endChr m:val=")"/>
                              <m:grow/>
                            </m:dPr>
                            <m:e>
                              <m:r>
                                <m:t>E</m:t>
                              </m:r>
                              <m:r>
                                <m:rPr>
                                  <m:sty m:val="p"/>
                                </m:rPr>
                                <m:t>[</m:t>
                              </m:r>
                              <m:sSub>
                                <m:e>
                                  <m:r>
                                    <m:t>η</m:t>
                                  </m:r>
                                </m:e>
                                <m:sub>
                                  <m:r>
                                    <m:t>A</m:t>
                                  </m:r>
                                </m:sub>
                              </m:sSub>
                              <m:r>
                                <m:rPr>
                                  <m:sty m:val="p"/>
                                </m:rPr>
                                <m:t>∣</m:t>
                              </m:r>
                              <m:r>
                                <m:t>μ</m:t>
                              </m:r>
                              <m:r>
                                <m:rPr>
                                  <m:sty m:val="p"/>
                                </m:rPr>
                                <m:t>,</m:t>
                              </m:r>
                              <m:r>
                                <m:t>σ</m:t>
                              </m:r>
                              <m:r>
                                <m:rPr>
                                  <m:sty m:val="p"/>
                                </m:rPr>
                                <m:t>]</m:t>
                              </m:r>
                              <m:r>
                                <m:rPr>
                                  <m:sty m:val="p"/>
                                </m:rPr>
                                <m:t>,</m:t>
                              </m:r>
                              <m:r>
                                <m:t>E</m:t>
                              </m:r>
                              <m:r>
                                <m:rPr>
                                  <m:sty m:val="p"/>
                                </m:rPr>
                                <m:t>[</m:t>
                              </m:r>
                              <m:sSub>
                                <m:e>
                                  <m:r>
                                    <m:t>η</m:t>
                                  </m:r>
                                </m:e>
                                <m:sub>
                                  <m:r>
                                    <m:t>H</m:t>
                                  </m:r>
                                </m:sub>
                              </m:sSub>
                              <m:r>
                                <m:rPr>
                                  <m:sty m:val="p"/>
                                </m:rPr>
                                <m:t>∣</m:t>
                              </m:r>
                              <m:r>
                                <m:t>μ</m:t>
                              </m:r>
                              <m:r>
                                <m:rPr>
                                  <m:sty m:val="p"/>
                                </m:rPr>
                                <m:t>,</m:t>
                              </m:r>
                              <m:r>
                                <m:t>σ</m:t>
                              </m:r>
                              <m:r>
                                <m:rPr>
                                  <m:sty m:val="p"/>
                                </m:rPr>
                                <m:t>]</m:t>
                              </m:r>
                            </m:e>
                          </m:d>
                        </m:e>
                        <m:e>
                          <m:r>
                            <m:t>&amp;</m:t>
                          </m:r>
                          <m:r>
                            <m:rPr>
                              <m:sty m:val="p"/>
                            </m:rPr>
                            <m:t>=</m:t>
                          </m:r>
                          <m:r>
                            <m:t>0</m:t>
                          </m:r>
                          <m:r>
                            <m:rPr>
                              <m:sty m:val="p"/>
                            </m:rPr>
                            <m:t>+</m:t>
                          </m:r>
                          <m:r>
                            <m:rPr>
                              <m:nor/>
                              <m:sty m:val="p"/>
                            </m:rPr>
                            <m:t>Cov</m:t>
                          </m:r>
                          <m:r>
                            <m:rPr>
                              <m:sty m:val="p"/>
                            </m:rPr>
                            <m:t>(</m:t>
                          </m:r>
                          <m:r>
                            <m:t>μ</m:t>
                          </m:r>
                          <m:r>
                            <m:rPr>
                              <m:sty m:val="p"/>
                            </m:rPr>
                            <m:t>,</m:t>
                          </m:r>
                          <m:r>
                            <m:t>μ</m:t>
                          </m:r>
                          <m:r>
                            <m:rPr>
                              <m:sty m:val="p"/>
                            </m:rPr>
                            <m:t>)</m:t>
                          </m:r>
                        </m:e>
                        <m:e>
                          <m:r>
                            <m:t>&amp;</m:t>
                          </m:r>
                          <m:r>
                            <m:rPr>
                              <m:sty m:val="p"/>
                            </m:rPr>
                            <m:t>=</m:t>
                          </m:r>
                          <m:r>
                            <m:rPr>
                              <m:nor/>
                              <m:sty m:val="p"/>
                            </m:rPr>
                            <m:t>Var</m:t>
                          </m:r>
                          <m:r>
                            <m:rPr>
                              <m:sty m:val="p"/>
                            </m:rPr>
                            <m:t>(</m:t>
                          </m:r>
                          <m:r>
                            <m:t>μ</m:t>
                          </m:r>
                          <m:r>
                            <m:rPr>
                              <m:sty m:val="p"/>
                            </m:rPr>
                            <m:t>)</m:t>
                          </m:r>
                          <m:r>
                            <m:rPr>
                              <m:sty m:val="p"/>
                            </m:rPr>
                            <m:t>.</m:t>
                          </m:r>
                        </m:e>
                      </m:eqArr>
                    </m:oMath>
                  </m:oMathPara>
                </a14:m>
              </a:p>
              <a:p>
                <a:pPr lvl="0" indent="0" marL="0">
                  <a:buNone/>
                </a:pPr>
                <a:r>
                  <a:rPr/>
                  <a:t>With </a:t>
                </a:r>
                <a14:m>
                  <m:oMath xmlns:m="http://schemas.openxmlformats.org/officeDocument/2006/math">
                    <m:r>
                      <m:t>μ</m:t>
                    </m:r>
                    <m:r>
                      <m:rPr>
                        <m:sty m:val="p"/>
                      </m:rPr>
                      <m:t>∼</m:t>
                    </m:r>
                    <m:r>
                      <m:rPr>
                        <m:scr m:val="script"/>
                        <m:sty m:val="p"/>
                      </m:rPr>
                      <m:t>N</m:t>
                    </m:r>
                    <m:r>
                      <m:rPr>
                        <m:sty m:val="p"/>
                      </m:rPr>
                      <m:t>(</m:t>
                    </m:r>
                    <m:r>
                      <m:rPr>
                        <m:sty m:val="p"/>
                      </m:rPr>
                      <m:t>−</m:t>
                    </m:r>
                    <m:r>
                      <m:t>2</m:t>
                    </m:r>
                    <m:r>
                      <m:rPr>
                        <m:sty m:val="p"/>
                      </m:rPr>
                      <m:t>,</m:t>
                    </m:r>
                    <m:sSup>
                      <m:e>
                        <m:r>
                          <m:t>1</m:t>
                        </m:r>
                      </m:e>
                      <m:sup>
                        <m:r>
                          <m:t>2</m:t>
                        </m:r>
                      </m:sup>
                    </m:sSup>
                    <m:r>
                      <m:rPr>
                        <m:sty m:val="p"/>
                      </m:rPr>
                      <m:t>)</m:t>
                    </m:r>
                  </m:oMath>
                </a14:m>
                <a:r>
                  <a:rPr/>
                  <a:t>, </a:t>
                </a:r>
                <a14:m>
                  <m:oMath xmlns:m="http://schemas.openxmlformats.org/officeDocument/2006/math">
                    <m:r>
                      <m:rPr>
                        <m:nor/>
                        <m:sty m:val="p"/>
                      </m:rPr>
                      <m:t>Var</m:t>
                    </m:r>
                    <m:r>
                      <m:rPr>
                        <m:sty m:val="p"/>
                      </m:rPr>
                      <m:t>(</m:t>
                    </m:r>
                    <m:r>
                      <m:t>μ</m:t>
                    </m:r>
                    <m:r>
                      <m:rPr>
                        <m:sty m:val="p"/>
                      </m:rPr>
                      <m:t>)</m:t>
                    </m:r>
                    <m:r>
                      <m:rPr>
                        <m:sty m:val="p"/>
                      </m:rPr>
                      <m:t>=</m:t>
                    </m:r>
                    <m:r>
                      <m:t>1</m:t>
                    </m:r>
                  </m:oMath>
                </a14:m>
                <a:r>
                  <a:rPr/>
                  <a:t>. With </a:t>
                </a:r>
                <a14:m>
                  <m:oMath xmlns:m="http://schemas.openxmlformats.org/officeDocument/2006/math">
                    <m:r>
                      <m:t>σ</m:t>
                    </m:r>
                    <m:r>
                      <m:rPr>
                        <m:sty m:val="p"/>
                      </m:rPr>
                      <m:t>∼</m:t>
                    </m:r>
                    <m:r>
                      <m:rPr>
                        <m:nor/>
                        <m:sty m:val="p"/>
                      </m:rPr>
                      <m:t>Exp</m:t>
                    </m:r>
                    <m:r>
                      <m:rPr>
                        <m:sty m:val="p"/>
                      </m:rPr>
                      <m:t>(</m:t>
                    </m:r>
                    <m:r>
                      <m:t>1</m:t>
                    </m:r>
                    <m:r>
                      <m:rPr>
                        <m:sty m:val="p"/>
                      </m:rPr>
                      <m:t>)</m:t>
                    </m:r>
                  </m:oMath>
                </a14:m>
                <a:r>
                  <a:rPr/>
                  <a:t>, </a:t>
                </a:r>
                <a14:m>
                  <m:oMath xmlns:m="http://schemas.openxmlformats.org/officeDocument/2006/math">
                    <m:r>
                      <m:t>E</m:t>
                    </m:r>
                    <m:r>
                      <m:rPr>
                        <m:sty m:val="p"/>
                      </m:rPr>
                      <m:t>[</m:t>
                    </m:r>
                    <m:r>
                      <m:t>σ</m:t>
                    </m:r>
                    <m:r>
                      <m:rPr>
                        <m:sty m:val="p"/>
                      </m:rPr>
                      <m:t>]</m:t>
                    </m:r>
                    <m:r>
                      <m:rPr>
                        <m:sty m:val="p"/>
                      </m:rPr>
                      <m:t>=</m:t>
                    </m:r>
                    <m:r>
                      <m:t>1</m:t>
                    </m:r>
                  </m:oMath>
                </a14:m>
                <a:r>
                  <a:rPr/>
                  <a:t> and </a:t>
                </a:r>
                <a14:m>
                  <m:oMath xmlns:m="http://schemas.openxmlformats.org/officeDocument/2006/math">
                    <m:r>
                      <m:rPr>
                        <m:nor/>
                        <m:sty m:val="p"/>
                      </m:rPr>
                      <m:t>Var</m:t>
                    </m:r>
                    <m:r>
                      <m:rPr>
                        <m:sty m:val="p"/>
                      </m:rPr>
                      <m:t>(</m:t>
                    </m:r>
                    <m:r>
                      <m:t>σ</m:t>
                    </m:r>
                    <m:r>
                      <m:rPr>
                        <m:sty m:val="p"/>
                      </m:rPr>
                      <m:t>)</m:t>
                    </m:r>
                    <m:r>
                      <m:rPr>
                        <m:sty m:val="p"/>
                      </m:rPr>
                      <m:t>=</m:t>
                    </m:r>
                    <m:r>
                      <m:t>1</m:t>
                    </m:r>
                  </m:oMath>
                </a14:m>
                <a:r>
                  <a:rPr/>
                  <a:t>, so </a:t>
                </a:r>
                <a14:m>
                  <m:oMath xmlns:m="http://schemas.openxmlformats.org/officeDocument/2006/math">
                    <m:r>
                      <m:t>E</m:t>
                    </m:r>
                    <m:r>
                      <m:rPr>
                        <m:sty m:val="p"/>
                      </m:rPr>
                      <m:t>[</m:t>
                    </m:r>
                    <m:sSup>
                      <m:e>
                        <m:r>
                          <m:t>σ</m:t>
                        </m:r>
                      </m:e>
                      <m:sup>
                        <m:r>
                          <m:t>2</m:t>
                        </m:r>
                      </m:sup>
                    </m:sSup>
                    <m:r>
                      <m:rPr>
                        <m:sty m:val="p"/>
                      </m:rPr>
                      <m:t>]</m:t>
                    </m:r>
                    <m:r>
                      <m:rPr>
                        <m:sty m:val="p"/>
                      </m:rPr>
                      <m:t>=</m:t>
                    </m:r>
                    <m:r>
                      <m:rPr>
                        <m:nor/>
                        <m:sty m:val="p"/>
                      </m:rPr>
                      <m:t>Var</m:t>
                    </m:r>
                    <m:r>
                      <m:rPr>
                        <m:sty m:val="p"/>
                      </m:rPr>
                      <m:t>(</m:t>
                    </m:r>
                    <m:r>
                      <m:t>σ</m:t>
                    </m:r>
                    <m:r>
                      <m:rPr>
                        <m:sty m:val="p"/>
                      </m:rPr>
                      <m:t>)</m:t>
                    </m:r>
                    <m:r>
                      <m:rPr>
                        <m:sty m:val="p"/>
                      </m:rPr>
                      <m:t>+</m:t>
                    </m:r>
                    <m:r>
                      <m:t>E</m:t>
                    </m:r>
                    <m:r>
                      <m:rPr>
                        <m:sty m:val="p"/>
                      </m:rPr>
                      <m:t>[</m:t>
                    </m:r>
                    <m:r>
                      <m:t>σ</m:t>
                    </m:r>
                    <m:sSup>
                      <m:e>
                        <m:r>
                          <m:rPr>
                            <m:sty m:val="p"/>
                          </m:rPr>
                          <m:t>]</m:t>
                        </m:r>
                      </m:e>
                      <m:sup>
                        <m:r>
                          <m:t>2</m:t>
                        </m:r>
                      </m:sup>
                    </m:sSup>
                    <m:r>
                      <m:rPr>
                        <m:sty m:val="p"/>
                      </m:rPr>
                      <m:t>=</m:t>
                    </m:r>
                    <m:r>
                      <m:t>2</m:t>
                    </m:r>
                  </m:oMath>
                </a14:m>
                <a:r>
                  <a:rPr/>
                  <a:t>. Hence </a:t>
                </a:r>
                <a14:m>
                  <m:oMath xmlns:m="http://schemas.openxmlformats.org/officeDocument/2006/math">
                    <m:r>
                      <m:rPr>
                        <m:nor/>
                        <m:sty m:val="p"/>
                      </m:rPr>
                      <m:t>Var</m:t>
                    </m:r>
                    <m:r>
                      <m:rPr>
                        <m:sty m:val="p"/>
                      </m:rPr>
                      <m:t>(</m:t>
                    </m:r>
                    <m:sSub>
                      <m:e>
                        <m:r>
                          <m:t>η</m:t>
                        </m:r>
                      </m:e>
                      <m:sub>
                        <m:r>
                          <m:t>j</m:t>
                        </m:r>
                      </m:sub>
                    </m:sSub>
                    <m:r>
                      <m:rPr>
                        <m:sty m:val="p"/>
                      </m:rPr>
                      <m:t>)</m:t>
                    </m:r>
                    <m:r>
                      <m:rPr>
                        <m:sty m:val="p"/>
                      </m:rPr>
                      <m:t>=</m:t>
                    </m:r>
                    <m:r>
                      <m:t>1</m:t>
                    </m:r>
                    <m:r>
                      <m:rPr>
                        <m:sty m:val="p"/>
                      </m:rPr>
                      <m:t>+</m:t>
                    </m:r>
                    <m:r>
                      <m:t>2</m:t>
                    </m:r>
                    <m:r>
                      <m:rPr>
                        <m:sty m:val="p"/>
                      </m:rPr>
                      <m:t>=</m:t>
                    </m:r>
                    <m:r>
                      <m:t>3</m:t>
                    </m:r>
                  </m:oMath>
                </a14:m>
                <a:r>
                  <a:rPr/>
                  <a:t>, </a:t>
                </a:r>
                <a14:m>
                  <m:oMath xmlns:m="http://schemas.openxmlformats.org/officeDocument/2006/math">
                    <m:r>
                      <m:rPr>
                        <m:nor/>
                        <m:sty m:val="p"/>
                      </m:rPr>
                      <m:t>Cov</m:t>
                    </m:r>
                    <m:r>
                      <m:rPr>
                        <m:sty m:val="p"/>
                      </m:rPr>
                      <m:t>(</m:t>
                    </m:r>
                    <m:sSub>
                      <m:e>
                        <m:r>
                          <m:t>η</m:t>
                        </m:r>
                      </m:e>
                      <m:sub>
                        <m:r>
                          <m:t>A</m:t>
                        </m:r>
                      </m:sub>
                    </m:sSub>
                    <m:r>
                      <m:rPr>
                        <m:sty m:val="p"/>
                      </m:rPr>
                      <m:t>,</m:t>
                    </m:r>
                    <m:sSub>
                      <m:e>
                        <m:r>
                          <m:t>η</m:t>
                        </m:r>
                      </m:e>
                      <m:sub>
                        <m:r>
                          <m:t>H</m:t>
                        </m:r>
                      </m:sub>
                    </m:sSub>
                    <m:r>
                      <m:rPr>
                        <m:sty m:val="p"/>
                      </m:rPr>
                      <m:t>)</m:t>
                    </m:r>
                    <m:r>
                      <m:rPr>
                        <m:sty m:val="p"/>
                      </m:rPr>
                      <m:t>=</m:t>
                    </m:r>
                    <m:r>
                      <m:t>1</m:t>
                    </m:r>
                  </m:oMath>
                </a14:m>
                <a:r>
                  <a:rPr/>
                  <a:t>, and the prior correlation is </a:t>
                </a:r>
                <a14:m>
                  <m:oMath xmlns:m="http://schemas.openxmlformats.org/officeDocument/2006/math">
                    <m:r>
                      <m:t>1</m:t>
                    </m:r>
                    <m:r>
                      <m:rPr>
                        <m:sty m:val="p"/>
                      </m:rPr>
                      <m:t>/</m:t>
                    </m:r>
                    <m:r>
                      <m:t>3</m:t>
                    </m:r>
                  </m:oMath>
                </a14:m>
                <a:r>
                  <a:rPr/>
                  <a:t>.</a:t>
                </a:r>
              </a:p>
              <a:p>
                <a:pPr lvl="0" indent="0" marL="0">
                  <a:buNone/>
                </a:pPr>
                <a:r>
                  <a:rPr/>
                  <a:t>The formula also shows what drives the pooling: the more uncertain the shared level </a:t>
                </a:r>
                <a14:m>
                  <m:oMath xmlns:m="http://schemas.openxmlformats.org/officeDocument/2006/math">
                    <m:r>
                      <m:t>μ</m:t>
                    </m:r>
                  </m:oMath>
                </a14:m>
                <a:r>
                  <a:rPr/>
                  <a:t> is, relative to the spread </a:t>
                </a:r>
                <a14:m>
                  <m:oMath xmlns:m="http://schemas.openxmlformats.org/officeDocument/2006/math">
                    <m:r>
                      <m:t>σ</m:t>
                    </m:r>
                  </m:oMath>
                </a14:m>
                <a:r>
                  <a:rPr/>
                  <a:t> between hospitals, the more strongly the hospitals are linked.</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Exchangeable but dependent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The three modelling options are then three beliefs about the hospitals:</a:t>
                </a:r>
              </a:p>
              <a:p>
                <a:pPr lvl="0"/>
                <a:r>
                  <a:rPr b="1"/>
                  <a:t>Complete pooling</a:t>
                </a:r>
                <a:r>
                  <a:rPr/>
                  <a:t> (</a:t>
                </a:r>
                <a14:m>
                  <m:oMath xmlns:m="http://schemas.openxmlformats.org/officeDocument/2006/math">
                    <m:r>
                      <m:t>σ</m:t>
                    </m:r>
                    <m:r>
                      <m:rPr>
                        <m:sty m:val="p"/>
                      </m:rPr>
                      <m:t>=</m:t>
                    </m:r>
                    <m:r>
                      <m:t>0</m:t>
                    </m:r>
                  </m:oMath>
                </a14:m>
                <a:r>
                  <a:rPr/>
                  <a:t>): the hospitals are identical. Stronger than exchangeability, and implausible.</a:t>
                </a:r>
              </a:p>
              <a:p>
                <a:pPr lvl="0"/>
                <a:r>
                  <a:rPr b="1"/>
                  <a:t>No pooling</a:t>
                </a:r>
                <a:r>
                  <a:rPr/>
                  <a:t> (independent, vague priors on each </a:t>
                </a:r>
                <a14:m>
                  <m:oMath xmlns:m="http://schemas.openxmlformats.org/officeDocument/2006/math">
                    <m:sSub>
                      <m:e>
                        <m:r>
                          <m:t>η</m:t>
                        </m:r>
                      </m:e>
                      <m:sub>
                        <m:r>
                          <m:t>j</m:t>
                        </m:r>
                      </m:sub>
                    </m:sSub>
                  </m:oMath>
                </a14:m>
                <a:r>
                  <a:rPr/>
                  <a:t>, roughly </a:t>
                </a:r>
                <a14:m>
                  <m:oMath xmlns:m="http://schemas.openxmlformats.org/officeDocument/2006/math">
                    <m:r>
                      <m:t>σ</m:t>
                    </m:r>
                    <m:r>
                      <m:rPr>
                        <m:sty m:val="p"/>
                      </m:rPr>
                      <m:t>→</m:t>
                    </m:r>
                    <m:r>
                      <m:rPr>
                        <m:sty m:val="p"/>
                      </m:rPr>
                      <m:t>∞</m:t>
                    </m:r>
                  </m:oMath>
                </a14:m>
                <a:r>
                  <a:rPr/>
                  <a:t>): data from seven hospitals tell us </a:t>
                </a:r>
                <a:r>
                  <a:rPr i="1"/>
                  <a:t>nothing</a:t>
                </a:r>
                <a:r>
                  <a:rPr/>
                  <a:t> about the eighth. Also implausible.</a:t>
                </a:r>
              </a:p>
              <a:p>
                <a:pPr lvl="0"/>
                <a:r>
                  <a:rPr b="1"/>
                  <a:t>Partial pooling</a:t>
                </a:r>
                <a:r>
                  <a:rPr/>
                  <a:t>: the hospitals are exchangeable, and the data decide through </a:t>
                </a:r>
                <a14:m>
                  <m:oMath xmlns:m="http://schemas.openxmlformats.org/officeDocument/2006/math">
                    <m:r>
                      <m:t>σ</m:t>
                    </m:r>
                  </m:oMath>
                </a14:m>
                <a:r>
                  <a:rPr/>
                  <a:t> how similar they are.</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When exchangeability fails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Exchangeability is a judgement made before seeing the data, and it can be wrong. Suppose hospital H is a referral centre that receives the sickest children, or two of the hospitals have paediatric high-dependency units. Then we </a:t>
                </a:r>
                <a:r>
                  <a:rPr i="1"/>
                  <a:t>can</a:t>
                </a:r>
                <a:r>
                  <a:rPr/>
                  <a:t> tell the hospitals apart in a way that matters for mortality, and pooling H’s estimate towards the district average would be a mistake.</a:t>
                </a:r>
              </a:p>
              <a:p>
                <a:pPr lvl="0" indent="0" marL="0">
                  <a:buNone/>
                </a:pPr>
                <a:r>
                  <a:rPr/>
                  <a:t>The remedy is </a:t>
                </a:r>
                <a:r>
                  <a:rPr b="1"/>
                  <a:t>conditional exchangeability</a:t>
                </a:r>
                <a:r>
                  <a:rPr/>
                  <a:t>: the hospitals are exchangeable </a:t>
                </a:r>
                <a:r>
                  <a:rPr i="1"/>
                  <a:t>given</a:t>
                </a:r>
                <a:r>
                  <a:rPr/>
                  <a:t> the relevant covariates. Put the information in the model,</a:t>
                </a:r>
              </a:p>
              <a:p>
                <a:pPr lvl="0" indent="0" marL="0">
                  <a:buNone/>
                </a:pPr>
                <a14:m>
                  <m:oMathPara xmlns:m="http://schemas.openxmlformats.org/officeDocument/2006/math">
                    <m:oMathParaPr>
                      <m:jc m:val="center"/>
                    </m:oMathParaPr>
                    <m:oMath>
                      <m:sSub>
                        <m:e>
                          <m:r>
                            <m:t>η</m:t>
                          </m:r>
                        </m:e>
                        <m:sub>
                          <m:r>
                            <m:t>j</m:t>
                          </m:r>
                        </m:sub>
                      </m:sSub>
                      <m:r>
                        <m:rPr>
                          <m:sty m:val="p"/>
                        </m:rPr>
                        <m:t>∣</m:t>
                      </m:r>
                      <m:r>
                        <m:t>μ</m:t>
                      </m:r>
                      <m:r>
                        <m:rPr>
                          <m:sty m:val="p"/>
                        </m:rPr>
                        <m:t>,</m:t>
                      </m:r>
                      <m:r>
                        <m:t>β</m:t>
                      </m:r>
                      <m:r>
                        <m:rPr>
                          <m:sty m:val="p"/>
                        </m:rPr>
                        <m:t>,</m:t>
                      </m:r>
                      <m:r>
                        <m:t>σ</m:t>
                      </m:r>
                      <m:r>
                        <m:rPr>
                          <m:sty m:val="p"/>
                        </m:rPr>
                        <m:t>∼</m:t>
                      </m:r>
                      <m:r>
                        <m:rPr>
                          <m:scr m:val="script"/>
                          <m:sty m:val="p"/>
                        </m:rPr>
                        <m:t>N</m:t>
                      </m:r>
                      <m:r>
                        <m:rPr>
                          <m:sty m:val="p"/>
                        </m:rPr>
                        <m:t>(</m:t>
                      </m:r>
                      <m:r>
                        <m:t>μ</m:t>
                      </m:r>
                      <m:r>
                        <m:rPr>
                          <m:sty m:val="p"/>
                        </m:rPr>
                        <m:t>+</m:t>
                      </m:r>
                      <m:r>
                        <m:t>β</m:t>
                      </m:r>
                      <m:r>
                        <m:t> </m:t>
                      </m:r>
                      <m:sSub>
                        <m:e>
                          <m:r>
                            <m:t>x</m:t>
                          </m:r>
                        </m:e>
                        <m:sub>
                          <m:r>
                            <m:t>j</m:t>
                          </m:r>
                        </m:sub>
                      </m:sSub>
                      <m:r>
                        <m:rPr>
                          <m:sty m:val="p"/>
                        </m:rPr>
                        <m:t>,</m:t>
                      </m:r>
                      <m:r>
                        <m:t> </m:t>
                      </m:r>
                      <m:sSup>
                        <m:e>
                          <m:r>
                            <m:t>σ</m:t>
                          </m:r>
                        </m:e>
                        <m:sup>
                          <m:r>
                            <m:t>2</m:t>
                          </m:r>
                        </m:sup>
                      </m:sSup>
                      <m:r>
                        <m:rPr>
                          <m:sty m:val="p"/>
                        </m:rPr>
                        <m:t>)</m:t>
                      </m:r>
                      <m:r>
                        <m:rPr>
                          <m:sty m:val="p"/>
                        </m:rPr>
                        <m:t>,</m:t>
                      </m:r>
                    </m:oMath>
                  </m:oMathPara>
                </a14:m>
              </a:p>
              <a:p>
                <a:pPr lvl="0" indent="0" marL="0">
                  <a:buNone/>
                </a:pPr>
                <a:r>
                  <a:rPr/>
                  <a:t>for example with </a:t>
                </a:r>
                <a14:m>
                  <m:oMath xmlns:m="http://schemas.openxmlformats.org/officeDocument/2006/math">
                    <m:sSub>
                      <m:e>
                        <m:r>
                          <m:t>x</m:t>
                        </m:r>
                      </m:e>
                      <m:sub>
                        <m:r>
                          <m:t>j</m:t>
                        </m:r>
                      </m:sub>
                    </m:sSub>
                    <m:r>
                      <m:rPr>
                        <m:sty m:val="p"/>
                      </m:rPr>
                      <m:t>=</m:t>
                    </m:r>
                    <m:r>
                      <m:t>1</m:t>
                    </m:r>
                  </m:oMath>
                </a14:m>
                <a:r>
                  <a:rPr/>
                  <a:t> for referral centres.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When exchangeability fails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Each hospital’s estimate is then pooled towards the value predicted for hospitals like it, not towards the overall mean. The same logic applies at the data level: patients admitted before and after a power cut, or children from different villages, are not exchangeable, and the model must say so (for example with a covariate or a village-level random effect).</a:t>
            </a:r>
          </a:p>
          <a:p>
            <a:pPr lvl="0" indent="0" marL="0">
              <a:buNone/>
            </a:pPr>
            <a:r>
              <a:rPr/>
              <a:t>A useful question to ask before fitting any hierarchical model: </a:t>
            </a:r>
            <a:r>
              <a:rPr i="1"/>
              <a:t>before seeing the outcome data, is there anything I know that distinguishes these groups and plausibly affects the outcome?</a:t>
            </a:r>
            <a:r>
              <a:rPr/>
              <a:t> If yes, it belongs in the model.</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Fitting the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For fitting, we write the same model in an equivalent form, with </a:t>
                </a:r>
                <a14:m>
                  <m:oMath xmlns:m="http://schemas.openxmlformats.org/officeDocument/2006/math">
                    <m:sSub>
                      <m:e>
                        <m:r>
                          <m:t>η</m:t>
                        </m:r>
                      </m:e>
                      <m:sub>
                        <m:r>
                          <m:t>j</m:t>
                        </m:r>
                      </m:sub>
                    </m:sSub>
                    <m:r>
                      <m:rPr>
                        <m:sty m:val="p"/>
                      </m:rPr>
                      <m:t>=</m:t>
                    </m:r>
                    <m:r>
                      <m:t>μ</m:t>
                    </m:r>
                    <m:r>
                      <m:rPr>
                        <m:sty m:val="p"/>
                      </m:rPr>
                      <m:t>+</m:t>
                    </m:r>
                    <m:r>
                      <m:t>σ</m:t>
                    </m:r>
                    <m:sSub>
                      <m:e>
                        <m:r>
                          <m:t>z</m:t>
                        </m:r>
                      </m:e>
                      <m:sub>
                        <m:r>
                          <m:t>j</m:t>
                        </m:r>
                      </m:sub>
                    </m:sSub>
                  </m:oMath>
                </a14:m>
                <a:r>
                  <a:rPr/>
                  <a:t>:</a:t>
                </a:r>
              </a:p>
              <a:p>
                <a:pPr lvl="0" indent="0" marL="0">
                  <a:buNone/>
                </a:pPr>
                <a14:m>
                  <m:oMathPara xmlns:m="http://schemas.openxmlformats.org/officeDocument/2006/math">
                    <m:oMathParaPr>
                      <m:jc m:val="center"/>
                    </m:oMathParaPr>
                    <m:oMath>
                      <m:r>
                        <m:t> </m:t>
                      </m:r>
                    </m:oMath>
                  </m:oMathPara>
                </a14:m>
              </a:p>
              <a:p>
                <a:pPr lvl="0" indent="0" marL="0">
                  <a:buNone/>
                </a:pPr>
                <a14:m>
                  <m:oMathPara xmlns:m="http://schemas.openxmlformats.org/officeDocument/2006/math">
                    <m:oMathParaPr>
                      <m:jc m:val="center"/>
                    </m:oMathParaPr>
                    <m:oMath>
                      <m:eqArr>
                        <m:e>
                          <m:sSub>
                            <m:e>
                              <m:r>
                                <m:rPr>
                                  <m:nor/>
                                  <m:sty m:val="p"/>
                                </m:rPr>
                                <m:t>deaths</m:t>
                              </m:r>
                            </m:e>
                            <m:sub>
                              <m:r>
                                <m:t>j</m:t>
                              </m:r>
                            </m:sub>
                          </m:sSub>
                          <m:r>
                            <m:rPr>
                              <m:sty m:val="p"/>
                            </m:rPr>
                            <m:t>∣</m:t>
                          </m:r>
                          <m:sSub>
                            <m:e>
                              <m:r>
                                <m:t>p</m:t>
                              </m:r>
                            </m:e>
                            <m:sub>
                              <m:r>
                                <m:t>j</m:t>
                              </m:r>
                            </m:sub>
                          </m:sSub>
                          <m:r>
                            <m:t>&amp;</m:t>
                          </m:r>
                          <m:r>
                            <m:rPr>
                              <m:sty m:val="p"/>
                            </m:rPr>
                            <m:t>∼</m:t>
                          </m:r>
                          <m:r>
                            <m:rPr>
                              <m:nor/>
                              <m:sty m:val="p"/>
                            </m:rPr>
                            <m:t>Bin</m:t>
                          </m:r>
                          <m:r>
                            <m:rPr>
                              <m:sty m:val="p"/>
                            </m:rPr>
                            <m:t>(</m:t>
                          </m:r>
                          <m:sSub>
                            <m:e>
                              <m:r>
                                <m:t>n</m:t>
                              </m:r>
                            </m:e>
                            <m:sub>
                              <m:r>
                                <m:t>j</m:t>
                              </m:r>
                            </m:sub>
                          </m:sSub>
                          <m:r>
                            <m:rPr>
                              <m:sty m:val="p"/>
                            </m:rPr>
                            <m:t>,</m:t>
                          </m:r>
                          <m:sSub>
                            <m:e>
                              <m:r>
                                <m:t>p</m:t>
                              </m:r>
                            </m:e>
                            <m:sub>
                              <m:r>
                                <m:t>j</m:t>
                              </m:r>
                            </m:sub>
                          </m:sSub>
                          <m:r>
                            <m:rPr>
                              <m:sty m:val="p"/>
                            </m:rPr>
                            <m:t>)</m:t>
                          </m:r>
                          <m:r>
                            <m:rPr>
                              <m:sty m:val="p"/>
                            </m:rPr>
                            <m:t>,</m:t>
                          </m:r>
                        </m:e>
                        <m:e>
                          <m:r>
                            <m:rPr>
                              <m:nor/>
                              <m:sty m:val="p"/>
                            </m:rPr>
                            <m:t>logit</m:t>
                          </m:r>
                          <m:r>
                            <m:rPr>
                              <m:sty m:val="p"/>
                            </m:rPr>
                            <m:t>(</m:t>
                          </m:r>
                          <m:sSub>
                            <m:e>
                              <m:r>
                                <m:t>p</m:t>
                              </m:r>
                            </m:e>
                            <m:sub>
                              <m:r>
                                <m:t>j</m:t>
                              </m:r>
                            </m:sub>
                          </m:sSub>
                          <m:r>
                            <m:rPr>
                              <m:sty m:val="p"/>
                            </m:rPr>
                            <m:t>)</m:t>
                          </m:r>
                          <m:r>
                            <m:t>&amp;</m:t>
                          </m:r>
                          <m:r>
                            <m:rPr>
                              <m:sty m:val="p"/>
                            </m:rPr>
                            <m:t>=</m:t>
                          </m:r>
                          <m:r>
                            <m:t>μ</m:t>
                          </m:r>
                          <m:r>
                            <m:rPr>
                              <m:sty m:val="p"/>
                            </m:rPr>
                            <m:t>+</m:t>
                          </m:r>
                          <m:r>
                            <m:t>σ</m:t>
                          </m:r>
                          <m:sSub>
                            <m:e>
                              <m:r>
                                <m:t>z</m:t>
                              </m:r>
                            </m:e>
                            <m:sub>
                              <m:r>
                                <m:t>j</m:t>
                              </m:r>
                            </m:sub>
                          </m:sSub>
                          <m:r>
                            <m:rPr>
                              <m:sty m:val="p"/>
                            </m:rPr>
                            <m:t>,</m:t>
                          </m:r>
                        </m:e>
                        <m:e>
                          <m:sSub>
                            <m:e>
                              <m:r>
                                <m:t>z</m:t>
                              </m:r>
                            </m:e>
                            <m:sub>
                              <m:r>
                                <m:t>j</m:t>
                              </m:r>
                            </m:sub>
                          </m:sSub>
                          <m:r>
                            <m:t>&amp;</m:t>
                          </m:r>
                          <m:r>
                            <m:rPr>
                              <m:sty m:val="p"/>
                            </m:rPr>
                            <m:t>∼</m:t>
                          </m:r>
                          <m:r>
                            <m:rPr>
                              <m:scr m:val="script"/>
                              <m:sty m:val="p"/>
                            </m:rPr>
                            <m:t>N</m:t>
                          </m:r>
                          <m:r>
                            <m:rPr>
                              <m:sty m:val="p"/>
                            </m:rPr>
                            <m:t>(</m:t>
                          </m:r>
                          <m:r>
                            <m:t>0</m:t>
                          </m:r>
                          <m:r>
                            <m:rPr>
                              <m:sty m:val="p"/>
                            </m:rPr>
                            <m:t>,</m:t>
                          </m:r>
                          <m:r>
                            <m:t>1</m:t>
                          </m:r>
                          <m:r>
                            <m:rPr>
                              <m:sty m:val="p"/>
                            </m:rPr>
                            <m:t>)</m:t>
                          </m:r>
                          <m:r>
                            <m:rPr>
                              <m:sty m:val="p"/>
                            </m:rPr>
                            <m:t>,</m:t>
                          </m:r>
                        </m:e>
                        <m:e>
                          <m:r>
                            <m:t>μ</m:t>
                          </m:r>
                          <m:r>
                            <m:t>&amp;</m:t>
                          </m:r>
                          <m:r>
                            <m:rPr>
                              <m:sty m:val="p"/>
                            </m:rPr>
                            <m:t>∼</m:t>
                          </m:r>
                          <m:r>
                            <m:rPr>
                              <m:scr m:val="script"/>
                              <m:sty m:val="p"/>
                            </m:rPr>
                            <m:t>N</m:t>
                          </m:r>
                          <m:r>
                            <m:rPr>
                              <m:sty m:val="p"/>
                            </m:rPr>
                            <m:t>(</m:t>
                          </m:r>
                          <m:r>
                            <m:rPr>
                              <m:sty m:val="p"/>
                            </m:rPr>
                            <m:t>−</m:t>
                          </m:r>
                          <m:r>
                            <m:t>2</m:t>
                          </m:r>
                          <m:r>
                            <m:rPr>
                              <m:sty m:val="p"/>
                            </m:rPr>
                            <m:t>,</m:t>
                          </m:r>
                          <m:sSup>
                            <m:e>
                              <m:r>
                                <m:t>1</m:t>
                              </m:r>
                            </m:e>
                            <m:sup>
                              <m:r>
                                <m:t>2</m:t>
                              </m:r>
                            </m:sup>
                          </m:sSup>
                          <m:r>
                            <m:rPr>
                              <m:sty m:val="p"/>
                            </m:rPr>
                            <m:t>)</m:t>
                          </m:r>
                          <m:r>
                            <m:rPr>
                              <m:sty m:val="p"/>
                            </m:rPr>
                            <m:t>,</m:t>
                          </m:r>
                        </m:e>
                        <m:e>
                          <m:r>
                            <m:t>σ</m:t>
                          </m:r>
                          <m:r>
                            <m:t>&amp;</m:t>
                          </m:r>
                          <m:r>
                            <m:rPr>
                              <m:sty m:val="p"/>
                            </m:rPr>
                            <m:t>∼</m:t>
                          </m:r>
                          <m:r>
                            <m:rPr>
                              <m:nor/>
                              <m:sty m:val="p"/>
                            </m:rPr>
                            <m:t>Exp</m:t>
                          </m:r>
                          <m:r>
                            <m:rPr>
                              <m:sty m:val="p"/>
                            </m:rPr>
                            <m:t>(</m:t>
                          </m:r>
                          <m:r>
                            <m:t>1</m:t>
                          </m:r>
                          <m:r>
                            <m:rPr>
                              <m:sty m:val="p"/>
                            </m:rPr>
                            <m:t>)</m:t>
                          </m:r>
                          <m:r>
                            <m:rPr>
                              <m:sty m:val="p"/>
                            </m:rPr>
                            <m:t>.</m:t>
                          </m:r>
                        </m:e>
                      </m:eqArr>
                    </m:oMath>
                  </m:oMathPara>
                </a14:m>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Fitting the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If </a:t>
                </a:r>
                <a14:m>
                  <m:oMath xmlns:m="http://schemas.openxmlformats.org/officeDocument/2006/math">
                    <m:sSub>
                      <m:e>
                        <m:r>
                          <m:t>z</m:t>
                        </m:r>
                      </m:e>
                      <m:sub>
                        <m:r>
                          <m:t>j</m:t>
                        </m:r>
                      </m:sub>
                    </m:sSub>
                    <m:r>
                      <m:rPr>
                        <m:sty m:val="p"/>
                      </m:rPr>
                      <m:t>∼</m:t>
                    </m:r>
                    <m:r>
                      <m:rPr>
                        <m:scr m:val="script"/>
                        <m:sty m:val="p"/>
                      </m:rPr>
                      <m:t>N</m:t>
                    </m:r>
                    <m:r>
                      <m:rPr>
                        <m:sty m:val="p"/>
                      </m:rPr>
                      <m:t>(</m:t>
                    </m:r>
                    <m:r>
                      <m:t>0</m:t>
                    </m:r>
                    <m:r>
                      <m:rPr>
                        <m:sty m:val="p"/>
                      </m:rPr>
                      <m:t>,</m:t>
                    </m:r>
                    <m:r>
                      <m:t>1</m:t>
                    </m:r>
                    <m:r>
                      <m:rPr>
                        <m:sty m:val="p"/>
                      </m:rPr>
                      <m:t>)</m:t>
                    </m:r>
                  </m:oMath>
                </a14:m>
                <a:r>
                  <a:rPr/>
                  <a:t>, then </a:t>
                </a:r>
                <a14:m>
                  <m:oMath xmlns:m="http://schemas.openxmlformats.org/officeDocument/2006/math">
                    <m:r>
                      <m:t>μ</m:t>
                    </m:r>
                    <m:r>
                      <m:rPr>
                        <m:sty m:val="p"/>
                      </m:rPr>
                      <m:t>+</m:t>
                    </m:r>
                    <m:r>
                      <m:t>σ</m:t>
                    </m:r>
                    <m:sSub>
                      <m:e>
                        <m:r>
                          <m:t>z</m:t>
                        </m:r>
                      </m:e>
                      <m:sub>
                        <m:r>
                          <m:t>j</m:t>
                        </m:r>
                      </m:sub>
                    </m:sSub>
                    <m:r>
                      <m:rPr>
                        <m:sty m:val="p"/>
                      </m:rPr>
                      <m:t>∼</m:t>
                    </m:r>
                    <m:r>
                      <m:rPr>
                        <m:scr m:val="script"/>
                        <m:sty m:val="p"/>
                      </m:rPr>
                      <m:t>N</m:t>
                    </m:r>
                    <m:r>
                      <m:rPr>
                        <m:sty m:val="p"/>
                      </m:rPr>
                      <m:t>(</m:t>
                    </m:r>
                    <m:r>
                      <m:t>μ</m:t>
                    </m:r>
                    <m:r>
                      <m:rPr>
                        <m:sty m:val="p"/>
                      </m:rPr>
                      <m:t>,</m:t>
                    </m:r>
                    <m:sSup>
                      <m:e>
                        <m:r>
                          <m:t>σ</m:t>
                        </m:r>
                      </m:e>
                      <m:sup>
                        <m:r>
                          <m:t>2</m:t>
                        </m:r>
                      </m:sup>
                    </m:sSup>
                    <m:r>
                      <m:rPr>
                        <m:sty m:val="p"/>
                      </m:rPr>
                      <m:t>)</m:t>
                    </m:r>
                  </m:oMath>
                </a14:m>
                <a:r>
                  <a:rPr/>
                  <a:t>, so this is the same model as before.</a:t>
                </a:r>
              </a:p>
              <a:p>
                <a:pPr lvl="0" indent="0" marL="0">
                  <a:buNone/>
                </a:pPr>
                <a:r>
                  <a:rPr/>
                  <a:t>It is exactly a logistic regression with a random intercept for hospital (a GLMM), estimated by MCMC.</a:t>
                </a:r>
              </a:p>
              <a:p>
                <a:pPr lvl="0" indent="0" marL="0">
                  <a:buNone/>
                </a:pPr>
                <a:r>
                  <a:rPr/>
                  <a:t>Writing </a:t>
                </a:r>
                <a14:m>
                  <m:oMath xmlns:m="http://schemas.openxmlformats.org/officeDocument/2006/math">
                    <m:r>
                      <m:rPr>
                        <m:nor/>
                        <m:sty m:val="p"/>
                      </m:rPr>
                      <m:t>logit</m:t>
                    </m:r>
                    <m:r>
                      <m:rPr>
                        <m:sty m:val="p"/>
                      </m:rPr>
                      <m:t>(</m:t>
                    </m:r>
                    <m:sSub>
                      <m:e>
                        <m:r>
                          <m:t>p</m:t>
                        </m:r>
                      </m:e>
                      <m:sub>
                        <m:r>
                          <m:t>j</m:t>
                        </m:r>
                      </m:sub>
                    </m:sSub>
                    <m:r>
                      <m:rPr>
                        <m:sty m:val="p"/>
                      </m:rPr>
                      <m:t>)</m:t>
                    </m:r>
                    <m:r>
                      <m:rPr>
                        <m:sty m:val="p"/>
                      </m:rPr>
                      <m:t>=</m:t>
                    </m:r>
                    <m:r>
                      <m:t>μ</m:t>
                    </m:r>
                    <m:r>
                      <m:rPr>
                        <m:sty m:val="p"/>
                      </m:rPr>
                      <m:t>+</m:t>
                    </m:r>
                    <m:r>
                      <m:t>σ</m:t>
                    </m:r>
                    <m:sSub>
                      <m:e>
                        <m:r>
                          <m:t>z</m:t>
                        </m:r>
                      </m:e>
                      <m:sub>
                        <m:r>
                          <m:t>j</m:t>
                        </m:r>
                      </m:sub>
                    </m:sSub>
                  </m:oMath>
                </a14:m>
                <a:r>
                  <a:rPr/>
                  <a:t> with standard normal </a:t>
                </a:r>
                <a14:m>
                  <m:oMath xmlns:m="http://schemas.openxmlformats.org/officeDocument/2006/math">
                    <m:sSub>
                      <m:e>
                        <m:r>
                          <m:t>z</m:t>
                        </m:r>
                      </m:e>
                      <m:sub>
                        <m:r>
                          <m:t>j</m:t>
                        </m:r>
                      </m:sub>
                    </m:sSub>
                  </m:oMath>
                </a14:m>
                <a:r>
                  <a:rPr/>
                  <a:t> (rather than </a:t>
                </a:r>
                <a14:m>
                  <m:oMath xmlns:m="http://schemas.openxmlformats.org/officeDocument/2006/math">
                    <m:r>
                      <m:rPr>
                        <m:nor/>
                        <m:sty m:val="p"/>
                      </m:rPr>
                      <m:t>logit</m:t>
                    </m:r>
                    <m:r>
                      <m:rPr>
                        <m:sty m:val="p"/>
                      </m:rPr>
                      <m:t>(</m:t>
                    </m:r>
                    <m:sSub>
                      <m:e>
                        <m:r>
                          <m:t>p</m:t>
                        </m:r>
                      </m:e>
                      <m:sub>
                        <m:r>
                          <m:t>j</m:t>
                        </m:r>
                      </m:sub>
                    </m:sSub>
                    <m:r>
                      <m:rPr>
                        <m:sty m:val="p"/>
                      </m:rPr>
                      <m:t>)</m:t>
                    </m:r>
                    <m:r>
                      <m:rPr>
                        <m:sty m:val="p"/>
                      </m:rPr>
                      <m:t>∼</m:t>
                    </m:r>
                    <m:r>
                      <m:rPr>
                        <m:scr m:val="script"/>
                        <m:sty m:val="p"/>
                      </m:rPr>
                      <m:t>N</m:t>
                    </m:r>
                    <m:r>
                      <m:rPr>
                        <m:sty m:val="p"/>
                      </m:rPr>
                      <m:t>(</m:t>
                    </m:r>
                    <m:r>
                      <m:t>μ</m:t>
                    </m:r>
                    <m:r>
                      <m:rPr>
                        <m:sty m:val="p"/>
                      </m:rPr>
                      <m:t>,</m:t>
                    </m:r>
                    <m:sSup>
                      <m:e>
                        <m:r>
                          <m:t>σ</m:t>
                        </m:r>
                      </m:e>
                      <m:sup>
                        <m:r>
                          <m:t>2</m:t>
                        </m:r>
                      </m:sup>
                    </m:sSup>
                    <m:r>
                      <m:rPr>
                        <m:sty m:val="p"/>
                      </m:rPr>
                      <m:t>)</m:t>
                    </m:r>
                  </m:oMath>
                </a14:m>
                <a:r>
                  <a:rPr/>
                  <a:t>) is the </a:t>
                </a:r>
                <a:r>
                  <a:rPr b="1"/>
                  <a:t>non-centred parameterisation</a:t>
                </a:r>
                <a:r>
                  <a:rPr/>
                  <a:t>.</a:t>
                </a:r>
              </a:p>
              <a:p>
                <a:pPr lvl="0" indent="0" marL="0">
                  <a:buNone/>
                </a:pPr>
                <a:r>
                  <a:rPr/>
                  <a:t>It is mathematically equivalent but avoids the “funnel” geometry that makes samplers struggle when groups are small and </a:t>
                </a:r>
                <a14:m>
                  <m:oMath xmlns:m="http://schemas.openxmlformats.org/officeDocument/2006/math">
                    <m:r>
                      <m:t>σ</m:t>
                    </m:r>
                  </m:oMath>
                </a14:m>
                <a:r>
                  <a:rPr/>
                  <a:t> is poorly determined.</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hier_code &lt;- </a:t>
            </a:r>
            <a:r>
              <a:rPr>
                <a:solidFill>
                  <a:srgbClr val="4758AB"/>
                </a:solidFill>
                <a:latin typeface="Courier"/>
              </a:rPr>
              <a:t>nimbleCode</a:t>
            </a:r>
            <a:r>
              <a:rPr>
                <a:solidFill>
                  <a:srgbClr val="003B4F"/>
                </a:solidFill>
                <a:latin typeface="Courier"/>
              </a:rPr>
              <a:t>({</a:t>
            </a:r>
            <a:br/>
            <a:r>
              <a:rPr>
                <a:solidFill>
                  <a:srgbClr val="003B4F"/>
                </a:solidFill>
                <a:latin typeface="Courier"/>
              </a:rPr>
              <a:t>  </a:t>
            </a:r>
            <a:r>
              <a:rPr b="1">
                <a:solidFill>
                  <a:srgbClr val="003B4F"/>
                </a:solidFill>
                <a:latin typeface="Courier"/>
              </a:rPr>
              <a:t>for</a:t>
            </a:r>
            <a:r>
              <a:rPr>
                <a:solidFill>
                  <a:srgbClr val="003B4F"/>
                </a:solidFill>
                <a:latin typeface="Courier"/>
              </a:rPr>
              <a:t> (j </a:t>
            </a:r>
            <a:r>
              <a:rPr b="1">
                <a:solidFill>
                  <a:srgbClr val="003B4F"/>
                </a:solidFill>
                <a:latin typeface="Courier"/>
              </a:rPr>
              <a:t>in</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J) {</a:t>
            </a:r>
            <a:br/>
            <a:r>
              <a:rPr>
                <a:solidFill>
                  <a:srgbClr val="003B4F"/>
                </a:solidFill>
                <a:latin typeface="Courier"/>
              </a:rPr>
              <a:t>    deaths[j] </a:t>
            </a:r>
            <a:r>
              <a:rPr>
                <a:solidFill>
                  <a:srgbClr val="5E5E5E"/>
                </a:solidFill>
                <a:latin typeface="Courier"/>
              </a:rPr>
              <a:t>~</a:t>
            </a:r>
            <a:r>
              <a:rPr>
                <a:solidFill>
                  <a:srgbClr val="003B4F"/>
                </a:solidFill>
                <a:latin typeface="Courier"/>
              </a:rPr>
              <a:t> </a:t>
            </a:r>
            <a:r>
              <a:rPr>
                <a:solidFill>
                  <a:srgbClr val="4758AB"/>
                </a:solidFill>
                <a:latin typeface="Courier"/>
              </a:rPr>
              <a:t>dbin</a:t>
            </a:r>
            <a:r>
              <a:rPr>
                <a:solidFill>
                  <a:srgbClr val="003B4F"/>
                </a:solidFill>
                <a:latin typeface="Courier"/>
              </a:rPr>
              <a:t>(p[j], n[j])</a:t>
            </a:r>
            <a:br/>
            <a:r>
              <a:rPr>
                <a:solidFill>
                  <a:srgbClr val="003B4F"/>
                </a:solidFill>
                <a:latin typeface="Courier"/>
              </a:rPr>
              <a:t>    </a:t>
            </a:r>
            <a:r>
              <a:rPr>
                <a:solidFill>
                  <a:srgbClr val="4758AB"/>
                </a:solidFill>
                <a:latin typeface="Courier"/>
              </a:rPr>
              <a:t>logit</a:t>
            </a:r>
            <a:r>
              <a:rPr>
                <a:solidFill>
                  <a:srgbClr val="003B4F"/>
                </a:solidFill>
                <a:latin typeface="Courier"/>
              </a:rPr>
              <a:t>(p[j]) &lt;- mu </a:t>
            </a:r>
            <a:r>
              <a:rPr>
                <a:solidFill>
                  <a:srgbClr val="5E5E5E"/>
                </a:solidFill>
                <a:latin typeface="Courier"/>
              </a:rPr>
              <a:t>+</a:t>
            </a:r>
            <a:r>
              <a:rPr>
                <a:solidFill>
                  <a:srgbClr val="003B4F"/>
                </a:solidFill>
                <a:latin typeface="Courier"/>
              </a:rPr>
              <a:t> sigma </a:t>
            </a:r>
            <a:r>
              <a:rPr>
                <a:solidFill>
                  <a:srgbClr val="5E5E5E"/>
                </a:solidFill>
                <a:latin typeface="Courier"/>
              </a:rPr>
              <a:t>*</a:t>
            </a:r>
            <a:r>
              <a:rPr>
                <a:solidFill>
                  <a:srgbClr val="003B4F"/>
                </a:solidFill>
                <a:latin typeface="Courier"/>
              </a:rPr>
              <a:t> z[j]</a:t>
            </a:r>
            <a:br/>
            <a:r>
              <a:rPr>
                <a:solidFill>
                  <a:srgbClr val="003B4F"/>
                </a:solidFill>
                <a:latin typeface="Courier"/>
              </a:rPr>
              <a:t>    z[j]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br/>
            <a:r>
              <a:rPr>
                <a:solidFill>
                  <a:srgbClr val="003B4F"/>
                </a:solidFill>
                <a:latin typeface="Courier"/>
              </a:rPr>
              <a:t>  mu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sigma </a:t>
            </a:r>
            <a:r>
              <a:rPr>
                <a:solidFill>
                  <a:srgbClr val="5E5E5E"/>
                </a:solidFill>
                <a:latin typeface="Courier"/>
              </a:rPr>
              <a:t>~</a:t>
            </a:r>
            <a:r>
              <a:rPr>
                <a:solidFill>
                  <a:srgbClr val="003B4F"/>
                </a:solidFill>
                <a:latin typeface="Courier"/>
              </a:rPr>
              <a:t> </a:t>
            </a:r>
            <a:r>
              <a:rPr>
                <a:solidFill>
                  <a:srgbClr val="4758AB"/>
                </a:solidFill>
                <a:latin typeface="Courier"/>
              </a:rPr>
              <a:t>dexp</a:t>
            </a:r>
            <a:r>
              <a:rPr>
                <a:solidFill>
                  <a:srgbClr val="003B4F"/>
                </a:solidFill>
                <a:latin typeface="Courier"/>
              </a:rPr>
              <a:t>(</a:t>
            </a:r>
            <a:r>
              <a:rPr>
                <a:solidFill>
                  <a:srgbClr val="AD0000"/>
                </a:solidFill>
                <a:latin typeface="Courier"/>
              </a:rPr>
              <a:t>1</a:t>
            </a:r>
            <a:r>
              <a:rPr>
                <a:solidFill>
                  <a:srgbClr val="003B4F"/>
                </a:solidFill>
                <a:latin typeface="Courier"/>
              </a:rPr>
              <a:t>)</a:t>
            </a:r>
            <a:b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hier_fit &lt;- </a:t>
            </a:r>
            <a:r>
              <a:rPr>
                <a:solidFill>
                  <a:srgbClr val="4758AB"/>
                </a:solidFill>
                <a:latin typeface="Courier"/>
              </a:rPr>
              <a:t>nimbleMCMC</a:t>
            </a:r>
            <a:r>
              <a:rPr>
                <a:solidFill>
                  <a:srgbClr val="003B4F"/>
                </a:solidFill>
                <a:latin typeface="Courier"/>
              </a:rPr>
              <a:t>(hier_code,</a:t>
            </a:r>
            <a:br/>
            <a:r>
              <a:rPr>
                <a:solidFill>
                  <a:srgbClr val="003B4F"/>
                </a:solidFill>
                <a:latin typeface="Courier"/>
              </a:rPr>
              <a:t>  </a:t>
            </a:r>
            <a:r>
              <a:rPr>
                <a:solidFill>
                  <a:srgbClr val="657422"/>
                </a:solidFill>
                <a:latin typeface="Courier"/>
              </a:rPr>
              <a:t>constants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J =</a:t>
            </a:r>
            <a:r>
              <a:rPr>
                <a:solidFill>
                  <a:srgbClr val="003B4F"/>
                </a:solidFill>
                <a:latin typeface="Courier"/>
              </a:rPr>
              <a:t> </a:t>
            </a:r>
            <a:r>
              <a:rPr>
                <a:solidFill>
                  <a:srgbClr val="4758AB"/>
                </a:solidFill>
                <a:latin typeface="Courier"/>
              </a:rPr>
              <a:t>nrow</a:t>
            </a:r>
            <a:r>
              <a:rPr>
                <a:solidFill>
                  <a:srgbClr val="003B4F"/>
                </a:solidFill>
                <a:latin typeface="Courier"/>
              </a:rPr>
              <a:t>(hosp), </a:t>
            </a:r>
            <a:r>
              <a:rPr>
                <a:solidFill>
                  <a:srgbClr val="657422"/>
                </a:solidFill>
                <a:latin typeface="Courier"/>
              </a:rPr>
              <a:t>n =</a:t>
            </a:r>
            <a:r>
              <a:rPr>
                <a:solidFill>
                  <a:srgbClr val="003B4F"/>
                </a:solidFill>
                <a:latin typeface="Courier"/>
              </a:rPr>
              <a:t> hosp</a:t>
            </a:r>
            <a:r>
              <a:rPr>
                <a:solidFill>
                  <a:srgbClr val="5E5E5E"/>
                </a:solidFill>
                <a:latin typeface="Courier"/>
              </a:rPr>
              <a:t>$</a:t>
            </a:r>
            <a:r>
              <a:rPr>
                <a:solidFill>
                  <a:srgbClr val="003B4F"/>
                </a:solidFill>
                <a:latin typeface="Courier"/>
              </a:rPr>
              <a:t>n),</a:t>
            </a:r>
            <a:br/>
            <a:r>
              <a:rPr>
                <a:solidFill>
                  <a:srgbClr val="003B4F"/>
                </a:solidFill>
                <a:latin typeface="Courier"/>
              </a:rPr>
              <a:t>  </a:t>
            </a:r>
            <a:r>
              <a:rPr>
                <a:solidFill>
                  <a:srgbClr val="657422"/>
                </a:solidFill>
                <a:latin typeface="Courier"/>
              </a:rPr>
              <a:t>data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deaths =</a:t>
            </a:r>
            <a:r>
              <a:rPr>
                <a:solidFill>
                  <a:srgbClr val="003B4F"/>
                </a:solidFill>
                <a:latin typeface="Courier"/>
              </a:rPr>
              <a:t> hosp</a:t>
            </a:r>
            <a:r>
              <a:rPr>
                <a:solidFill>
                  <a:srgbClr val="5E5E5E"/>
                </a:solidFill>
                <a:latin typeface="Courier"/>
              </a:rPr>
              <a:t>$</a:t>
            </a:r>
            <a:r>
              <a:rPr>
                <a:solidFill>
                  <a:srgbClr val="003B4F"/>
                </a:solidFill>
                <a:latin typeface="Courier"/>
              </a:rPr>
              <a:t>deaths),</a:t>
            </a:r>
            <a:br/>
            <a:r>
              <a:rPr>
                <a:solidFill>
                  <a:srgbClr val="003B4F"/>
                </a:solidFill>
                <a:latin typeface="Courier"/>
              </a:rPr>
              <a:t>  </a:t>
            </a:r>
            <a:r>
              <a:rPr>
                <a:solidFill>
                  <a:srgbClr val="657422"/>
                </a:solidFill>
                <a:latin typeface="Courier"/>
              </a:rPr>
              <a:t>inits =</a:t>
            </a:r>
            <a:r>
              <a:rPr>
                <a:solidFill>
                  <a:srgbClr val="003B4F"/>
                </a:solidFill>
                <a:latin typeface="Courier"/>
              </a:rPr>
              <a:t> </a:t>
            </a:r>
            <a:r>
              <a:rPr b="1">
                <a:solidFill>
                  <a:srgbClr val="003B4F"/>
                </a:solidFill>
                <a:latin typeface="Courier"/>
              </a:rPr>
              <a:t>function</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mu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sigma =</a:t>
            </a:r>
            <a:r>
              <a:rPr>
                <a:solidFill>
                  <a:srgbClr val="003B4F"/>
                </a:solidFill>
                <a:latin typeface="Courier"/>
              </a:rPr>
              <a:t> </a:t>
            </a:r>
            <a:r>
              <a:rPr>
                <a:solidFill>
                  <a:srgbClr val="4758AB"/>
                </a:solidFill>
                <a:latin typeface="Courier"/>
              </a:rPr>
              <a:t>runif</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z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4758AB"/>
                </a:solidFill>
                <a:latin typeface="Courier"/>
              </a:rPr>
              <a:t>nrow</a:t>
            </a:r>
            <a:r>
              <a:rPr>
                <a:solidFill>
                  <a:srgbClr val="003B4F"/>
                </a:solidFill>
                <a:latin typeface="Courier"/>
              </a:rPr>
              <a:t>(hosp))),</a:t>
            </a:r>
            <a:br/>
            <a:r>
              <a:rPr>
                <a:solidFill>
                  <a:srgbClr val="003B4F"/>
                </a:solidFill>
                <a:latin typeface="Courier"/>
              </a:rPr>
              <a:t>  </a:t>
            </a:r>
            <a:r>
              <a:rPr>
                <a:solidFill>
                  <a:srgbClr val="657422"/>
                </a:solidFill>
                <a:latin typeface="Courier"/>
              </a:rPr>
              <a:t>monitors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"mu"</a:t>
            </a:r>
            <a:r>
              <a:rPr>
                <a:solidFill>
                  <a:srgbClr val="003B4F"/>
                </a:solidFill>
                <a:latin typeface="Courier"/>
              </a:rPr>
              <a:t>, </a:t>
            </a:r>
            <a:r>
              <a:rPr>
                <a:solidFill>
                  <a:srgbClr val="20794D"/>
                </a:solidFill>
                <a:latin typeface="Courier"/>
              </a:rPr>
              <a:t>"sigma"</a:t>
            </a:r>
            <a:r>
              <a:rPr>
                <a:solidFill>
                  <a:srgbClr val="003B4F"/>
                </a:solidFill>
                <a:latin typeface="Courier"/>
              </a:rPr>
              <a:t>, </a:t>
            </a:r>
            <a:r>
              <a:rPr>
                <a:solidFill>
                  <a:srgbClr val="20794D"/>
                </a:solidFill>
                <a:latin typeface="Courier"/>
              </a:rPr>
              <a:t>"p"</a:t>
            </a:r>
            <a:r>
              <a:rPr>
                <a:solidFill>
                  <a:srgbClr val="003B4F"/>
                </a:solidFill>
                <a:latin typeface="Courier"/>
              </a:rPr>
              <a:t>, </a:t>
            </a:r>
            <a:r>
              <a:rPr>
                <a:solidFill>
                  <a:srgbClr val="20794D"/>
                </a:solidFill>
                <a:latin typeface="Courier"/>
              </a:rPr>
              <a:t>"z"</a:t>
            </a:r>
            <a:r>
              <a:rPr>
                <a:solidFill>
                  <a:srgbClr val="003B4F"/>
                </a:solidFill>
                <a:latin typeface="Courier"/>
              </a:rPr>
              <a:t>),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niter =</a:t>
            </a:r>
            <a:r>
              <a:rPr>
                <a:solidFill>
                  <a:srgbClr val="003B4F"/>
                </a:solidFill>
                <a:latin typeface="Courier"/>
              </a:rPr>
              <a:t> </a:t>
            </a:r>
            <a:r>
              <a:rPr>
                <a:solidFill>
                  <a:srgbClr val="AD0000"/>
                </a:solidFill>
                <a:latin typeface="Courier"/>
              </a:rPr>
              <a:t>11000</a:t>
            </a:r>
            <a:r>
              <a:rPr>
                <a:solidFill>
                  <a:srgbClr val="003B4F"/>
                </a:solidFill>
                <a:latin typeface="Courier"/>
              </a:rPr>
              <a:t>, </a:t>
            </a:r>
            <a:r>
              <a:rPr>
                <a:solidFill>
                  <a:srgbClr val="657422"/>
                </a:solidFill>
                <a:latin typeface="Courier"/>
              </a:rPr>
              <a:t>nburnin =</a:t>
            </a:r>
            <a:r>
              <a:rPr>
                <a:solidFill>
                  <a:srgbClr val="003B4F"/>
                </a:solidFill>
                <a:latin typeface="Courier"/>
              </a:rPr>
              <a:t> </a:t>
            </a:r>
            <a:r>
              <a:rPr>
                <a:solidFill>
                  <a:srgbClr val="AD0000"/>
                </a:solidFill>
                <a:latin typeface="Courier"/>
              </a:rPr>
              <a:t>1000</a:t>
            </a:r>
            <a:r>
              <a:rPr>
                <a:solidFill>
                  <a:srgbClr val="003B4F"/>
                </a:solidFill>
                <a:latin typeface="Courier"/>
              </a:rPr>
              <a:t>,</a:t>
            </a:r>
            <a:br/>
            <a:r>
              <a:rPr>
                <a:solidFill>
                  <a:srgbClr val="003B4F"/>
                </a:solidFill>
                <a:latin typeface="Courier"/>
              </a:rPr>
              <a:t>  </a:t>
            </a:r>
            <a:r>
              <a:rPr>
                <a:solidFill>
                  <a:srgbClr val="657422"/>
                </a:solidFill>
                <a:latin typeface="Courier"/>
              </a:rPr>
              <a:t>setSeed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657422"/>
                </a:solidFill>
                <a:latin typeface="Courier"/>
              </a:rPr>
              <a:t>progressBar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samplesAsCodaMCMC =</a:t>
            </a:r>
            <a:r>
              <a:rPr>
                <a:solidFill>
                  <a:srgbClr val="003B4F"/>
                </a:solidFill>
                <a:latin typeface="Courier"/>
              </a:rPr>
              <a:t> </a:t>
            </a:r>
            <a:r>
              <a:rPr>
                <a:solidFill>
                  <a:srgbClr val="8F5902"/>
                </a:solidFill>
                <a:latin typeface="Courier"/>
              </a:rPr>
              <a:t>TRUE</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4758AB"/>
                </a:solidFill>
                <a:latin typeface="Courier"/>
              </a:rPr>
              <a:t>summarise_draws</a:t>
            </a:r>
            <a:r>
              <a:rPr>
                <a:solidFill>
                  <a:srgbClr val="003B4F"/>
                </a:solidFill>
                <a:latin typeface="Courier"/>
              </a:rPr>
              <a:t>(</a:t>
            </a:r>
            <a:r>
              <a:rPr>
                <a:solidFill>
                  <a:srgbClr val="4758AB"/>
                </a:solidFill>
                <a:latin typeface="Courier"/>
              </a:rPr>
              <a:t>as_draws</a:t>
            </a:r>
            <a:r>
              <a:rPr>
                <a:solidFill>
                  <a:srgbClr val="003B4F"/>
                </a:solidFill>
                <a:latin typeface="Courier"/>
              </a:rPr>
              <a:t>(hier_fit), </a:t>
            </a:r>
            <a:r>
              <a:rPr>
                <a:solidFill>
                  <a:srgbClr val="20794D"/>
                </a:solidFill>
                <a:latin typeface="Courier"/>
              </a:rPr>
              <a:t>"median"</a:t>
            </a:r>
            <a:r>
              <a:rPr>
                <a:solidFill>
                  <a:srgbClr val="003B4F"/>
                </a:solidFill>
                <a:latin typeface="Courier"/>
              </a:rPr>
              <a:t>, </a:t>
            </a:r>
            <a:r>
              <a:rPr>
                <a:solidFill>
                  <a:srgbClr val="5E5E5E"/>
                </a:solidFill>
                <a:latin typeface="Courier"/>
              </a:rPr>
              <a:t>~</a:t>
            </a:r>
            <a:r>
              <a:rPr>
                <a:solidFill>
                  <a:srgbClr val="4758AB"/>
                </a:solidFill>
                <a:latin typeface="Courier"/>
              </a:rPr>
              <a:t>quantile</a:t>
            </a:r>
            <a:r>
              <a:rPr>
                <a:solidFill>
                  <a:srgbClr val="003B4F"/>
                </a:solidFill>
                <a:latin typeface="Courier"/>
              </a:rPr>
              <a:t>(.x, </a:t>
            </a:r>
            <a:r>
              <a:rPr>
                <a:solidFill>
                  <a:srgbClr val="4758AB"/>
                </a:solidFill>
                <a:latin typeface="Courier"/>
              </a:rPr>
              <a:t>c</a:t>
            </a:r>
            <a:r>
              <a:rPr>
                <a:solidFill>
                  <a:srgbClr val="003B4F"/>
                </a:solidFill>
                <a:latin typeface="Courier"/>
              </a:rPr>
              <a:t>(</a:t>
            </a:r>
            <a:r>
              <a:rPr>
                <a:solidFill>
                  <a:srgbClr val="AD0000"/>
                </a:solidFill>
                <a:latin typeface="Courier"/>
              </a:rPr>
              <a:t>0.025</a:t>
            </a:r>
            <a:r>
              <a:rPr>
                <a:solidFill>
                  <a:srgbClr val="003B4F"/>
                </a:solidFill>
                <a:latin typeface="Courier"/>
              </a:rPr>
              <a:t>, </a:t>
            </a:r>
            <a:r>
              <a:rPr>
                <a:solidFill>
                  <a:srgbClr val="AD0000"/>
                </a:solidFill>
                <a:latin typeface="Courier"/>
              </a:rPr>
              <a:t>0.975</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 </a:t>
            </a:r>
            <a:r>
              <a:rPr>
                <a:solidFill>
                  <a:srgbClr val="20794D"/>
                </a:solidFill>
                <a:latin typeface="Courier"/>
              </a:rPr>
              <a:t>"ess_tail"</a:t>
            </a:r>
            <a:r>
              <a:rPr>
                <a:solidFill>
                  <a:srgbClr val="003B4F"/>
                </a:solidFill>
                <a:latin typeface="Courier"/>
              </a:rPr>
              <a:t>)</a:t>
            </a:r>
          </a:p>
          <a:p>
            <a:pPr lvl="0" indent="0">
              <a:buNone/>
            </a:pPr>
            <a:r>
              <a:rPr>
                <a:latin typeface="Courier"/>
              </a:rPr>
              <a:t># A tibble: 18 × 7
   variable  median   `2.5%` `97.5%`  rhat ess_bulk ess_tail
   &lt;chr&gt;      &lt;dbl&gt;    &lt;dbl&gt;   &lt;dbl&gt; &lt;dbl&gt;    &lt;dbl&gt;    &lt;dbl&gt;
 1 mu       -2.16   -2.50     -1.70   1.00    2283.    2491.
 2 p[1]      0.106   0.0701    0.185  1.00    5745.    9166.
 3 p[2]      0.0980  0.0639    0.138  1.00    9543.   10918.
 4 p[3]      0.108   0.0710    0.204  1.00    4693.    7839.
 5 p[4]      0.0930  0.0618    0.125  1.00    8730.   14240.
 6 p[5]      0.110   0.0726    0.245  1.00    3784.    5450.
 7 p[6]      0.0992  0.0619    0.148  1.00    8247.   10966.
 8 p[7]      0.0942  0.0601    0.129  1.00    8496.   11224.
 9 p[8]      0.111   0.0720    0.286  1.00    3570.    4729.
10 sigma     0.208   0.00931   0.828  1.00    1941.    2592.
11 z[1]      0.162  -1.61      1.90   1.00    8022.    9190.
12 z[2]     -0.248  -1.88      1.48   1.00    5990.    9070.
13 z[3]      0.248  -1.62      2.01   1.00    8162.    9511.
14 z[4]     -0.492  -2.06      1.28   1.00    4831.    7738.
15 z[5]      0.386  -1.54      2.19   1.00    7649.    8878.
16 z[6]     -0.191  -1.84      1.54   1.00    7237.    9286.
17 z[7]     -0.434  -2.03      1.44   1.00    4854.    7740.
18 z[8]      0.447  -1.61      2.34   1.00    6951.    9160.</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dr_h &lt;- </a:t>
            </a:r>
            <a:r>
              <a:rPr>
                <a:solidFill>
                  <a:srgbClr val="4758AB"/>
                </a:solidFill>
                <a:latin typeface="Courier"/>
              </a:rPr>
              <a:t>as.matrix</a:t>
            </a:r>
            <a:r>
              <a:rPr>
                <a:solidFill>
                  <a:srgbClr val="003B4F"/>
                </a:solidFill>
                <a:latin typeface="Courier"/>
              </a:rPr>
              <a:t>(hier_fit)</a:t>
            </a:r>
            <a:br/>
            <a:r>
              <a:rPr>
                <a:solidFill>
                  <a:srgbClr val="003B4F"/>
                </a:solidFill>
                <a:latin typeface="Courier"/>
              </a:rPr>
              <a:t>p_draws &lt;- dr_h[, </a:t>
            </a:r>
            <a:r>
              <a:rPr>
                <a:solidFill>
                  <a:srgbClr val="4758AB"/>
                </a:solidFill>
                <a:latin typeface="Courier"/>
              </a:rPr>
              <a:t>paste0</a:t>
            </a:r>
            <a:r>
              <a:rPr>
                <a:solidFill>
                  <a:srgbClr val="003B4F"/>
                </a:solidFill>
                <a:latin typeface="Courier"/>
              </a:rPr>
              <a:t>(</a:t>
            </a:r>
            <a:r>
              <a:rPr>
                <a:solidFill>
                  <a:srgbClr val="20794D"/>
                </a:solidFill>
                <a:latin typeface="Courier"/>
              </a:rPr>
              <a:t>"p["</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4758AB"/>
                </a:solidFill>
                <a:latin typeface="Courier"/>
              </a:rPr>
              <a:t>nrow</a:t>
            </a:r>
            <a:r>
              <a:rPr>
                <a:solidFill>
                  <a:srgbClr val="003B4F"/>
                </a:solidFill>
                <a:latin typeface="Courier"/>
              </a:rPr>
              <a:t>(hosp), </a:t>
            </a:r>
            <a:r>
              <a:rPr>
                <a:solidFill>
                  <a:srgbClr val="20794D"/>
                </a:solidFill>
                <a:latin typeface="Courier"/>
              </a:rPr>
              <a:t>"]"</a:t>
            </a:r>
            <a:r>
              <a:rPr>
                <a:solidFill>
                  <a:srgbClr val="003B4F"/>
                </a:solidFill>
                <a:latin typeface="Courier"/>
              </a:rPr>
              <a:t>)]</a:t>
            </a:r>
            <a:br/>
            <a:br/>
            <a:r>
              <a:rPr>
                <a:solidFill>
                  <a:srgbClr val="003B4F"/>
                </a:solidFill>
                <a:latin typeface="Courier"/>
              </a:rPr>
              <a:t>hosp_summ &lt;- hosp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raw     =</a:t>
            </a:r>
            <a:r>
              <a:rPr>
                <a:solidFill>
                  <a:srgbClr val="003B4F"/>
                </a:solidFill>
                <a:latin typeface="Courier"/>
              </a:rPr>
              <a:t> deaths </a:t>
            </a:r>
            <a:r>
              <a:rPr>
                <a:solidFill>
                  <a:srgbClr val="5E5E5E"/>
                </a:solidFill>
                <a:latin typeface="Courier"/>
              </a:rPr>
              <a:t>/</a:t>
            </a:r>
            <a:r>
              <a:rPr>
                <a:solidFill>
                  <a:srgbClr val="003B4F"/>
                </a:solidFill>
                <a:latin typeface="Courier"/>
              </a:rPr>
              <a:t> n,</a:t>
            </a:r>
            <a:br/>
            <a:r>
              <a:rPr>
                <a:solidFill>
                  <a:srgbClr val="003B4F"/>
                </a:solidFill>
                <a:latin typeface="Courier"/>
              </a:rPr>
              <a:t>         </a:t>
            </a:r>
            <a:r>
              <a:rPr>
                <a:solidFill>
                  <a:srgbClr val="657422"/>
                </a:solidFill>
                <a:latin typeface="Courier"/>
              </a:rPr>
              <a:t>partial =</a:t>
            </a:r>
            <a:r>
              <a:rPr>
                <a:solidFill>
                  <a:srgbClr val="003B4F"/>
                </a:solidFill>
                <a:latin typeface="Courier"/>
              </a:rPr>
              <a:t> </a:t>
            </a:r>
            <a:r>
              <a:rPr>
                <a:solidFill>
                  <a:srgbClr val="4758AB"/>
                </a:solidFill>
                <a:latin typeface="Courier"/>
              </a:rPr>
              <a:t>apply</a:t>
            </a:r>
            <a:r>
              <a:rPr>
                <a:solidFill>
                  <a:srgbClr val="003B4F"/>
                </a:solidFill>
                <a:latin typeface="Courier"/>
              </a:rPr>
              <a:t>(p_draws, </a:t>
            </a:r>
            <a:r>
              <a:rPr>
                <a:solidFill>
                  <a:srgbClr val="AD0000"/>
                </a:solidFill>
                <a:latin typeface="Courier"/>
              </a:rPr>
              <a:t>2</a:t>
            </a:r>
            <a:r>
              <a:rPr>
                <a:solidFill>
                  <a:srgbClr val="003B4F"/>
                </a:solidFill>
                <a:latin typeface="Courier"/>
              </a:rPr>
              <a:t>, median),</a:t>
            </a:r>
            <a:br/>
            <a:r>
              <a:rPr>
                <a:solidFill>
                  <a:srgbClr val="003B4F"/>
                </a:solidFill>
                <a:latin typeface="Courier"/>
              </a:rPr>
              <a:t>         </a:t>
            </a:r>
            <a:r>
              <a:rPr>
                <a:solidFill>
                  <a:srgbClr val="657422"/>
                </a:solidFill>
                <a:latin typeface="Courier"/>
              </a:rPr>
              <a:t>lo      =</a:t>
            </a:r>
            <a:r>
              <a:rPr>
                <a:solidFill>
                  <a:srgbClr val="003B4F"/>
                </a:solidFill>
                <a:latin typeface="Courier"/>
              </a:rPr>
              <a:t> </a:t>
            </a:r>
            <a:r>
              <a:rPr>
                <a:solidFill>
                  <a:srgbClr val="4758AB"/>
                </a:solidFill>
                <a:latin typeface="Courier"/>
              </a:rPr>
              <a:t>apply</a:t>
            </a:r>
            <a:r>
              <a:rPr>
                <a:solidFill>
                  <a:srgbClr val="003B4F"/>
                </a:solidFill>
                <a:latin typeface="Courier"/>
              </a:rPr>
              <a:t>(p_draws, </a:t>
            </a:r>
            <a:r>
              <a:rPr>
                <a:solidFill>
                  <a:srgbClr val="AD0000"/>
                </a:solidFill>
                <a:latin typeface="Courier"/>
              </a:rPr>
              <a:t>2</a:t>
            </a:r>
            <a:r>
              <a:rPr>
                <a:solidFill>
                  <a:srgbClr val="003B4F"/>
                </a:solidFill>
                <a:latin typeface="Courier"/>
              </a:rPr>
              <a:t>, quantile, </a:t>
            </a:r>
            <a:r>
              <a:rPr>
                <a:solidFill>
                  <a:srgbClr val="AD0000"/>
                </a:solidFill>
                <a:latin typeface="Courier"/>
              </a:rPr>
              <a:t>0.025</a:t>
            </a:r>
            <a:r>
              <a:rPr>
                <a:solidFill>
                  <a:srgbClr val="003B4F"/>
                </a:solidFill>
                <a:latin typeface="Courier"/>
              </a:rPr>
              <a:t>),</a:t>
            </a:r>
            <a:br/>
            <a:r>
              <a:rPr>
                <a:solidFill>
                  <a:srgbClr val="003B4F"/>
                </a:solidFill>
                <a:latin typeface="Courier"/>
              </a:rPr>
              <a:t>         </a:t>
            </a:r>
            <a:r>
              <a:rPr>
                <a:solidFill>
                  <a:srgbClr val="657422"/>
                </a:solidFill>
                <a:latin typeface="Courier"/>
              </a:rPr>
              <a:t>hi      =</a:t>
            </a:r>
            <a:r>
              <a:rPr>
                <a:solidFill>
                  <a:srgbClr val="003B4F"/>
                </a:solidFill>
                <a:latin typeface="Courier"/>
              </a:rPr>
              <a:t> </a:t>
            </a:r>
            <a:r>
              <a:rPr>
                <a:solidFill>
                  <a:srgbClr val="4758AB"/>
                </a:solidFill>
                <a:latin typeface="Courier"/>
              </a:rPr>
              <a:t>apply</a:t>
            </a:r>
            <a:r>
              <a:rPr>
                <a:solidFill>
                  <a:srgbClr val="003B4F"/>
                </a:solidFill>
                <a:latin typeface="Courier"/>
              </a:rPr>
              <a:t>(p_draws, </a:t>
            </a:r>
            <a:r>
              <a:rPr>
                <a:solidFill>
                  <a:srgbClr val="AD0000"/>
                </a:solidFill>
                <a:latin typeface="Courier"/>
              </a:rPr>
              <a:t>2</a:t>
            </a:r>
            <a:r>
              <a:rPr>
                <a:solidFill>
                  <a:srgbClr val="003B4F"/>
                </a:solidFill>
                <a:latin typeface="Courier"/>
              </a:rPr>
              <a:t>, quantile, </a:t>
            </a:r>
            <a:r>
              <a:rPr>
                <a:solidFill>
                  <a:srgbClr val="AD0000"/>
                </a:solidFill>
                <a:latin typeface="Courier"/>
              </a:rPr>
              <a:t>0.975</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P(mortality &gt; 15%)</a:t>
            </a:r>
            <a:r>
              <a:rPr>
                <a:solidFill>
                  <a:srgbClr val="20794D"/>
                </a:solidFill>
                <a:latin typeface="Courier"/>
              </a:rPr>
              <a:t>`</a:t>
            </a:r>
            <a:r>
              <a:rPr>
                <a:solidFill>
                  <a:srgbClr val="003B4F"/>
                </a:solidFill>
                <a:latin typeface="Courier"/>
              </a:rPr>
              <a:t> = </a:t>
            </a:r>
            <a:r>
              <a:rPr>
                <a:solidFill>
                  <a:srgbClr val="4758AB"/>
                </a:solidFill>
                <a:latin typeface="Courier"/>
              </a:rPr>
              <a:t>colMeans</a:t>
            </a:r>
            <a:r>
              <a:rPr>
                <a:solidFill>
                  <a:srgbClr val="003B4F"/>
                </a:solidFill>
                <a:latin typeface="Courier"/>
              </a:rPr>
              <a:t>(p_draws </a:t>
            </a:r>
            <a:r>
              <a:rPr>
                <a:solidFill>
                  <a:srgbClr val="5E5E5E"/>
                </a:solidFill>
                <a:latin typeface="Courier"/>
              </a:rPr>
              <a:t>&gt;</a:t>
            </a:r>
            <a:r>
              <a:rPr>
                <a:solidFill>
                  <a:srgbClr val="003B4F"/>
                </a:solidFill>
                <a:latin typeface="Courier"/>
              </a:rPr>
              <a:t> </a:t>
            </a:r>
            <a:r>
              <a:rPr>
                <a:solidFill>
                  <a:srgbClr val="AD0000"/>
                </a:solidFill>
                <a:latin typeface="Courier"/>
              </a:rPr>
              <a:t>0.15</a:t>
            </a:r>
            <a:r>
              <a:rPr>
                <a:solidFill>
                  <a:srgbClr val="003B4F"/>
                </a:solidFill>
                <a:latin typeface="Courier"/>
              </a:rPr>
              <a:t>),</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4758AB"/>
                </a:solidFill>
                <a:latin typeface="Courier"/>
              </a:rPr>
              <a:t>paste0</a:t>
            </a:r>
            <a:r>
              <a:rPr>
                <a:solidFill>
                  <a:srgbClr val="003B4F"/>
                </a:solidFill>
                <a:latin typeface="Courier"/>
              </a:rPr>
              <a:t>(hospital, </a:t>
            </a:r>
            <a:r>
              <a:rPr>
                <a:solidFill>
                  <a:srgbClr val="20794D"/>
                </a:solidFill>
                <a:latin typeface="Courier"/>
              </a:rPr>
              <a:t>" (n="</a:t>
            </a:r>
            <a:r>
              <a:rPr>
                <a:solidFill>
                  <a:srgbClr val="003B4F"/>
                </a:solidFill>
                <a:latin typeface="Courier"/>
              </a:rPr>
              <a:t>, n, </a:t>
            </a:r>
            <a:r>
              <a:rPr>
                <a:solidFill>
                  <a:srgbClr val="20794D"/>
                </a:solidFill>
                <a:latin typeface="Courier"/>
              </a:rPr>
              <a:t>")"</a:t>
            </a:r>
            <a:r>
              <a:rPr>
                <a:solidFill>
                  <a:srgbClr val="003B4F"/>
                </a:solidFill>
                <a:latin typeface="Courier"/>
              </a:rPr>
              <a:t>),</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4758AB"/>
                </a:solidFill>
                <a:latin typeface="Courier"/>
              </a:rPr>
              <a:t>fct_reorder</a:t>
            </a:r>
            <a:r>
              <a:rPr>
                <a:solidFill>
                  <a:srgbClr val="003B4F"/>
                </a:solidFill>
                <a:latin typeface="Courier"/>
              </a:rPr>
              <a:t>(label, n))</a:t>
            </a:r>
            <a:br/>
            <a:br/>
            <a:r>
              <a:rPr>
                <a:solidFill>
                  <a:srgbClr val="4758AB"/>
                </a:solidFill>
                <a:latin typeface="Courier"/>
              </a:rPr>
              <a:t>ggplot</a:t>
            </a:r>
            <a:r>
              <a:rPr>
                <a:solidFill>
                  <a:srgbClr val="003B4F"/>
                </a:solidFill>
                <a:latin typeface="Courier"/>
              </a:rPr>
              <a:t>(hosp_summ, </a:t>
            </a:r>
            <a:r>
              <a:rPr>
                <a:solidFill>
                  <a:srgbClr val="4758AB"/>
                </a:solidFill>
                <a:latin typeface="Courier"/>
              </a:rPr>
              <a:t>aes</a:t>
            </a:r>
            <a:r>
              <a:rPr>
                <a:solidFill>
                  <a:srgbClr val="003B4F"/>
                </a:solidFill>
                <a:latin typeface="Courier"/>
              </a:rPr>
              <a:t>(</a:t>
            </a:r>
            <a:r>
              <a:rPr>
                <a:solidFill>
                  <a:srgbClr val="657422"/>
                </a:solidFill>
                <a:latin typeface="Courier"/>
              </a:rPr>
              <a:t>y =</a:t>
            </a:r>
            <a:r>
              <a:rPr>
                <a:solidFill>
                  <a:srgbClr val="003B4F"/>
                </a:solidFill>
                <a:latin typeface="Courier"/>
              </a:rPr>
              <a:t> label))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xintercept =</a:t>
            </a:r>
            <a:r>
              <a:rPr>
                <a:solidFill>
                  <a:srgbClr val="003B4F"/>
                </a:solidFill>
                <a:latin typeface="Courier"/>
              </a:rPr>
              <a:t> </a:t>
            </a:r>
            <a:r>
              <a:rPr>
                <a:solidFill>
                  <a:srgbClr val="4758AB"/>
                </a:solidFill>
                <a:latin typeface="Courier"/>
              </a:rPr>
              <a:t>sum</a:t>
            </a:r>
            <a:r>
              <a:rPr>
                <a:solidFill>
                  <a:srgbClr val="003B4F"/>
                </a:solidFill>
                <a:latin typeface="Courier"/>
              </a:rPr>
              <a:t>(hosp</a:t>
            </a:r>
            <a:r>
              <a:rPr>
                <a:solidFill>
                  <a:srgbClr val="5E5E5E"/>
                </a:solidFill>
                <a:latin typeface="Courier"/>
              </a:rPr>
              <a:t>$</a:t>
            </a:r>
            <a:r>
              <a:rPr>
                <a:solidFill>
                  <a:srgbClr val="003B4F"/>
                </a:solidFill>
                <a:latin typeface="Courier"/>
              </a:rPr>
              <a:t>deaths)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(hosp</a:t>
            </a:r>
            <a:r>
              <a:rPr>
                <a:solidFill>
                  <a:srgbClr val="5E5E5E"/>
                </a:solidFill>
                <a:latin typeface="Courier"/>
              </a:rPr>
              <a:t>$</a:t>
            </a:r>
            <a:r>
              <a:rPr>
                <a:solidFill>
                  <a:srgbClr val="003B4F"/>
                </a:solidFill>
                <a:latin typeface="Courier"/>
              </a:rPr>
              <a:t>n), </a:t>
            </a:r>
            <a:r>
              <a:rPr>
                <a:solidFill>
                  <a:srgbClr val="657422"/>
                </a:solidFill>
                <a:latin typeface="Courier"/>
              </a:rPr>
              <a:t>linetype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"grey50"</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geom_linerange</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xmin =</a:t>
            </a:r>
            <a:r>
              <a:rPr>
                <a:solidFill>
                  <a:srgbClr val="003B4F"/>
                </a:solidFill>
                <a:latin typeface="Courier"/>
              </a:rPr>
              <a:t> lo, </a:t>
            </a:r>
            <a:r>
              <a:rPr>
                <a:solidFill>
                  <a:srgbClr val="657422"/>
                </a:solidFill>
                <a:latin typeface="Courier"/>
              </a:rPr>
              <a:t>xmax =</a:t>
            </a:r>
            <a:r>
              <a:rPr>
                <a:solidFill>
                  <a:srgbClr val="003B4F"/>
                </a:solidFill>
                <a:latin typeface="Courier"/>
              </a:rPr>
              <a:t> hi), </a:t>
            </a:r>
            <a:r>
              <a:rPr>
                <a:solidFill>
                  <a:srgbClr val="657422"/>
                </a:solidFill>
                <a:latin typeface="Courier"/>
              </a:rPr>
              <a:t>colour =</a:t>
            </a:r>
            <a:r>
              <a:rPr>
                <a:solidFill>
                  <a:srgbClr val="003B4F"/>
                </a:solidFill>
                <a:latin typeface="Courier"/>
              </a:rPr>
              <a:t> </a:t>
            </a:r>
            <a:r>
              <a:rPr>
                <a:solidFill>
                  <a:srgbClr val="20794D"/>
                </a:solidFill>
                <a:latin typeface="Courier"/>
              </a:rPr>
              <a:t>"steelblue"</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partial, </a:t>
            </a:r>
            <a:r>
              <a:rPr>
                <a:solidFill>
                  <a:srgbClr val="657422"/>
                </a:solidFill>
                <a:latin typeface="Courier"/>
              </a:rPr>
              <a:t>colour =</a:t>
            </a:r>
            <a:r>
              <a:rPr>
                <a:solidFill>
                  <a:srgbClr val="003B4F"/>
                </a:solidFill>
                <a:latin typeface="Courier"/>
              </a:rPr>
              <a:t> </a:t>
            </a:r>
            <a:r>
              <a:rPr>
                <a:solidFill>
                  <a:srgbClr val="20794D"/>
                </a:solidFill>
                <a:latin typeface="Courier"/>
              </a:rPr>
              <a:t>"hierarchical (median, 95% CrI)"</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raw, </a:t>
            </a:r>
            <a:r>
              <a:rPr>
                <a:solidFill>
                  <a:srgbClr val="657422"/>
                </a:solidFill>
                <a:latin typeface="Courier"/>
              </a:rPr>
              <a:t>colour =</a:t>
            </a:r>
            <a:r>
              <a:rPr>
                <a:solidFill>
                  <a:srgbClr val="003B4F"/>
                </a:solidFill>
                <a:latin typeface="Courier"/>
              </a:rPr>
              <a:t> </a:t>
            </a:r>
            <a:r>
              <a:rPr>
                <a:solidFill>
                  <a:srgbClr val="20794D"/>
                </a:solidFill>
                <a:latin typeface="Courier"/>
              </a:rPr>
              <a:t>"raw proportion (no pooling)"</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shape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stroke =</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scale_colour_manual</a:t>
            </a:r>
            <a:r>
              <a:rPr>
                <a:solidFill>
                  <a:srgbClr val="003B4F"/>
                </a:solidFill>
                <a:latin typeface="Courier"/>
              </a:rPr>
              <a:t>(</a:t>
            </a:r>
            <a:r>
              <a:rPr>
                <a:solidFill>
                  <a:srgbClr val="657422"/>
                </a:solidFill>
                <a:latin typeface="Courier"/>
              </a:rPr>
              <a:t>values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"steelblue"</a:t>
            </a:r>
            <a:r>
              <a:rPr>
                <a:solidFill>
                  <a:srgbClr val="003B4F"/>
                </a:solidFill>
                <a:latin typeface="Courier"/>
              </a:rPr>
              <a:t>, </a:t>
            </a:r>
            <a:r>
              <a:rPr>
                <a:solidFill>
                  <a:srgbClr val="20794D"/>
                </a:solidFill>
                <a:latin typeface="Courier"/>
              </a:rPr>
              <a:t>"salmon"</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"in-hospital mortality"</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8F5902"/>
                </a:solidFill>
                <a:latin typeface="Courier"/>
              </a:rPr>
              <a:t>NULL</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8F5902"/>
                </a:solidFill>
                <a:latin typeface="Courier"/>
              </a:rPr>
              <a:t>NULL</a:t>
            </a:r>
            <a:r>
              <a:rPr>
                <a:solidFill>
                  <a:srgbClr val="003B4F"/>
                </a:solidFill>
                <a:latin typeface="Courier"/>
              </a:rPr>
              <a:t>,</a:t>
            </a:r>
            <a:br/>
            <a:r>
              <a:rPr>
                <a:solidFill>
                  <a:srgbClr val="003B4F"/>
                </a:solidFill>
                <a:latin typeface="Courier"/>
              </a:rPr>
              <a:t>       </a:t>
            </a:r>
            <a:r>
              <a:rPr>
                <a:solidFill>
                  <a:srgbClr val="657422"/>
                </a:solidFill>
                <a:latin typeface="Courier"/>
              </a:rPr>
              <a:t>caption =</a:t>
            </a:r>
            <a:r>
              <a:rPr>
                <a:solidFill>
                  <a:srgbClr val="003B4F"/>
                </a:solidFill>
                <a:latin typeface="Courier"/>
              </a:rPr>
              <a:t> </a:t>
            </a:r>
            <a:r>
              <a:rPr>
                <a:solidFill>
                  <a:srgbClr val="20794D"/>
                </a:solidFill>
                <a:latin typeface="Courier"/>
              </a:rPr>
              <a:t>"dashed line: complete pooling"</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"bottom"</a:t>
            </a:r>
            <a:r>
              <a:rPr>
                <a:solidFill>
                  <a:srgbClr val="003B4F"/>
                </a:solidFill>
                <a:latin typeface="Courier"/>
              </a:rPr>
              <a:t>)</a:t>
            </a:r>
            <a:br/>
            <a:br/>
            <a:r>
              <a:rPr>
                <a:solidFill>
                  <a:srgbClr val="003B4F"/>
                </a:solidFill>
                <a:latin typeface="Courier"/>
              </a:rPr>
              <a:t>hosp_summ </a:t>
            </a:r>
            <a:r>
              <a:rPr>
                <a:solidFill>
                  <a:srgbClr val="5E5E5E"/>
                </a:solidFill>
                <a:latin typeface="Courier"/>
              </a:rPr>
              <a:t>|&gt;</a:t>
            </a:r>
            <a:r>
              <a:rPr>
                <a:solidFill>
                  <a:srgbClr val="003B4F"/>
                </a:solidFill>
                <a:latin typeface="Courier"/>
              </a:rPr>
              <a:t> </a:t>
            </a:r>
            <a:r>
              <a:rPr>
                <a:solidFill>
                  <a:srgbClr val="4758AB"/>
                </a:solidFill>
                <a:latin typeface="Courier"/>
              </a:rPr>
              <a:t>select</a:t>
            </a:r>
            <a:r>
              <a:rPr>
                <a:solidFill>
                  <a:srgbClr val="003B4F"/>
                </a:solidFill>
                <a:latin typeface="Courier"/>
              </a:rPr>
              <a:t>(hospital, n, raw, partial, </a:t>
            </a:r>
            <a:r>
              <a:rPr>
                <a:solidFill>
                  <a:srgbClr val="20794D"/>
                </a:solidFill>
                <a:latin typeface="Courier"/>
              </a:rPr>
              <a:t>`</a:t>
            </a:r>
            <a:r>
              <a:rPr>
                <a:solidFill>
                  <a:srgbClr val="657422"/>
                </a:solidFill>
                <a:latin typeface="Courier"/>
              </a:rPr>
              <a:t>P(mortality &gt; 15%)</a:t>
            </a:r>
            <a:r>
              <a:rPr>
                <a:solidFill>
                  <a:srgbClr val="20794D"/>
                </a:solidFill>
                <a:latin typeface="Courier"/>
              </a:rPr>
              <a:t>`</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kable</a:t>
            </a:r>
            <a:r>
              <a:rPr>
                <a:solidFill>
                  <a:srgbClr val="003B4F"/>
                </a:solidFill>
                <a:latin typeface="Courier"/>
              </a:rPr>
              <a:t>(</a:t>
            </a:r>
            <a:r>
              <a:rPr>
                <a:solidFill>
                  <a:srgbClr val="657422"/>
                </a:solidFill>
                <a:latin typeface="Courier"/>
              </a:rPr>
              <a:t>digits =</a:t>
            </a:r>
            <a:r>
              <a:rPr>
                <a:solidFill>
                  <a:srgbClr val="003B4F"/>
                </a:solidFill>
                <a:latin typeface="Courier"/>
              </a:rPr>
              <a:t> </a:t>
            </a:r>
            <a:r>
              <a:rPr>
                <a:solidFill>
                  <a:srgbClr val="AD0000"/>
                </a:solidFill>
                <a:latin typeface="Courier"/>
              </a:rPr>
              <a:t>3</a:t>
            </a:r>
            <a:r>
              <a:rPr>
                <a:solidFill>
                  <a:srgbClr val="003B4F"/>
                </a:solidFill>
                <a:latin typeface="Courier"/>
              </a:rP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p:pic>
        <p:nvPicPr>
          <p:cNvPr descr="Chanco_STA623_BDA_2026_Henrion_Session5_files/figure-pptx/unnamed-chunk-27-1.png" id="0" name="Picture 1"/>
          <p:cNvPicPr>
            <a:picLocks noGrp="1" noChangeAspect="1"/>
          </p:cNvPicPr>
          <p:nvPr/>
        </p:nvPicPr>
        <p:blipFill>
          <a:blip r:embed="rId2"/>
          <a:stretch>
            <a:fillRect/>
          </a:stretch>
        </p:blipFill>
        <p:spPr bwMode="auto">
          <a:xfrm>
            <a:off x="838200" y="2146300"/>
            <a:ext cx="10515600" cy="40005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838200" y="1816100"/>
          <a:ext cx="10515600" cy="4660900"/>
        </p:xfrm>
        <a:graphic>
          <a:graphicData uri="http://schemas.openxmlformats.org/drawingml/2006/table">
            <a:tbl>
              <a:tblPr firstRow="1" bandRow="1">
                <a:tableStyleId>{5C22544A-7EE6-4342-B048-85BDC9FD1C3A}</a:tableStyleId>
              </a:tblPr>
              <a:tblGrid>
                <a:gridCol w="2095500"/>
                <a:gridCol w="2095500"/>
                <a:gridCol w="2095500"/>
                <a:gridCol w="2095500"/>
                <a:gridCol w="2095500"/>
              </a:tblGrid>
              <a:tr h="0">
                <a:tc>
                  <a:txBody>
                    <a:bodyPr/>
                    <a:lstStyle/>
                    <a:p>
                      <a:pPr lvl="0" indent="0" marL="0" algn="l">
                        <a:buNone/>
                      </a:pPr>
                      <a:r>
                        <a:rPr/>
                        <a:t>hospital</a:t>
                      </a:r>
                    </a:p>
                  </a:txBody>
                  <a:tcPr/>
                </a:tc>
                <a:tc>
                  <a:txBody>
                    <a:bodyPr/>
                    <a:lstStyle/>
                    <a:p>
                      <a:pPr lvl="0" indent="0" marL="0" algn="r">
                        <a:buNone/>
                      </a:pPr>
                      <a:r>
                        <a:rPr/>
                        <a:t>n</a:t>
                      </a:r>
                    </a:p>
                  </a:txBody>
                  <a:tcPr/>
                </a:tc>
                <a:tc>
                  <a:txBody>
                    <a:bodyPr/>
                    <a:lstStyle/>
                    <a:p>
                      <a:pPr lvl="0" indent="0" marL="0" algn="r">
                        <a:buNone/>
                      </a:pPr>
                      <a:r>
                        <a:rPr/>
                        <a:t>raw</a:t>
                      </a:r>
                    </a:p>
                  </a:txBody>
                  <a:tcPr/>
                </a:tc>
                <a:tc>
                  <a:txBody>
                    <a:bodyPr/>
                    <a:lstStyle/>
                    <a:p>
                      <a:pPr lvl="0" indent="0" marL="0" algn="r">
                        <a:buNone/>
                      </a:pPr>
                      <a:r>
                        <a:rPr/>
                        <a:t>partial</a:t>
                      </a:r>
                    </a:p>
                  </a:txBody>
                  <a:tcPr/>
                </a:tc>
                <a:tc>
                  <a:txBody>
                    <a:bodyPr/>
                    <a:lstStyle/>
                    <a:p>
                      <a:pPr lvl="0" indent="0" marL="0" algn="r">
                        <a:buNone/>
                      </a:pPr>
                      <a:r>
                        <a:rPr/>
                        <a:t>P(mortality &gt; 15%)</a:t>
                      </a:r>
                    </a:p>
                  </a:txBody>
                  <a:tcPr/>
                </a:tc>
              </a:tr>
              <a:tr h="0">
                <a:tc>
                  <a:txBody>
                    <a:bodyPr/>
                    <a:lstStyle/>
                    <a:p>
                      <a:pPr lvl="0" indent="0" marL="0" algn="l">
                        <a:buNone/>
                      </a:pPr>
                      <a:r>
                        <a:rPr/>
                        <a:t>A</a:t>
                      </a:r>
                    </a:p>
                  </a:txBody>
                </a:tc>
                <a:tc>
                  <a:txBody>
                    <a:bodyPr/>
                    <a:lstStyle/>
                    <a:p>
                      <a:pPr lvl="0" indent="0" marL="0" algn="r">
                        <a:buNone/>
                      </a:pPr>
                      <a:r>
                        <a:rPr/>
                        <a:t>45</a:t>
                      </a:r>
                    </a:p>
                  </a:txBody>
                </a:tc>
                <a:tc>
                  <a:txBody>
                    <a:bodyPr/>
                    <a:lstStyle/>
                    <a:p>
                      <a:pPr lvl="0" indent="0" marL="0" algn="r">
                        <a:buNone/>
                      </a:pPr>
                      <a:r>
                        <a:rPr/>
                        <a:t>0.133</a:t>
                      </a:r>
                    </a:p>
                  </a:txBody>
                </a:tc>
                <a:tc>
                  <a:txBody>
                    <a:bodyPr/>
                    <a:lstStyle/>
                    <a:p>
                      <a:pPr lvl="0" indent="0" marL="0" algn="r">
                        <a:buNone/>
                      </a:pPr>
                      <a:r>
                        <a:rPr/>
                        <a:t>0.106</a:t>
                      </a:r>
                    </a:p>
                  </a:txBody>
                </a:tc>
                <a:tc>
                  <a:txBody>
                    <a:bodyPr/>
                    <a:lstStyle/>
                    <a:p>
                      <a:pPr lvl="0" indent="0" marL="0" algn="r">
                        <a:buNone/>
                      </a:pPr>
                      <a:r>
                        <a:rPr/>
                        <a:t>0.095</a:t>
                      </a:r>
                    </a:p>
                  </a:txBody>
                </a:tc>
              </a:tr>
              <a:tr h="0">
                <a:tc>
                  <a:txBody>
                    <a:bodyPr/>
                    <a:lstStyle/>
                    <a:p>
                      <a:pPr lvl="0" indent="0" marL="0" algn="l">
                        <a:buNone/>
                      </a:pPr>
                      <a:r>
                        <a:rPr/>
                        <a:t>B</a:t>
                      </a:r>
                    </a:p>
                  </a:txBody>
                </a:tc>
                <a:tc>
                  <a:txBody>
                    <a:bodyPr/>
                    <a:lstStyle/>
                    <a:p>
                      <a:pPr lvl="0" indent="0" marL="0" algn="r">
                        <a:buNone/>
                      </a:pPr>
                      <a:r>
                        <a:rPr/>
                        <a:t>120</a:t>
                      </a:r>
                    </a:p>
                  </a:txBody>
                </a:tc>
                <a:tc>
                  <a:txBody>
                    <a:bodyPr/>
                    <a:lstStyle/>
                    <a:p>
                      <a:pPr lvl="0" indent="0" marL="0" algn="r">
                        <a:buNone/>
                      </a:pPr>
                      <a:r>
                        <a:rPr/>
                        <a:t>0.092</a:t>
                      </a:r>
                    </a:p>
                  </a:txBody>
                </a:tc>
                <a:tc>
                  <a:txBody>
                    <a:bodyPr/>
                    <a:lstStyle/>
                    <a:p>
                      <a:pPr lvl="0" indent="0" marL="0" algn="r">
                        <a:buNone/>
                      </a:pPr>
                      <a:r>
                        <a:rPr/>
                        <a:t>0.098</a:t>
                      </a:r>
                    </a:p>
                  </a:txBody>
                </a:tc>
                <a:tc>
                  <a:txBody>
                    <a:bodyPr/>
                    <a:lstStyle/>
                    <a:p>
                      <a:pPr lvl="0" indent="0" marL="0" algn="r">
                        <a:buNone/>
                      </a:pPr>
                      <a:r>
                        <a:rPr/>
                        <a:t>0.009</a:t>
                      </a:r>
                    </a:p>
                  </a:txBody>
                </a:tc>
              </a:tr>
              <a:tr h="0">
                <a:tc>
                  <a:txBody>
                    <a:bodyPr/>
                    <a:lstStyle/>
                    <a:p>
                      <a:pPr lvl="0" indent="0" marL="0" algn="l">
                        <a:buNone/>
                      </a:pPr>
                      <a:r>
                        <a:rPr/>
                        <a:t>C</a:t>
                      </a:r>
                    </a:p>
                  </a:txBody>
                </a:tc>
                <a:tc>
                  <a:txBody>
                    <a:bodyPr/>
                    <a:lstStyle/>
                    <a:p>
                      <a:pPr lvl="0" indent="0" marL="0" algn="r">
                        <a:buNone/>
                      </a:pPr>
                      <a:r>
                        <a:rPr/>
                        <a:t>32</a:t>
                      </a:r>
                    </a:p>
                  </a:txBody>
                </a:tc>
                <a:tc>
                  <a:txBody>
                    <a:bodyPr/>
                    <a:lstStyle/>
                    <a:p>
                      <a:pPr lvl="0" indent="0" marL="0" algn="r">
                        <a:buNone/>
                      </a:pPr>
                      <a:r>
                        <a:rPr/>
                        <a:t>0.156</a:t>
                      </a:r>
                    </a:p>
                  </a:txBody>
                </a:tc>
                <a:tc>
                  <a:txBody>
                    <a:bodyPr/>
                    <a:lstStyle/>
                    <a:p>
                      <a:pPr lvl="0" indent="0" marL="0" algn="r">
                        <a:buNone/>
                      </a:pPr>
                      <a:r>
                        <a:rPr/>
                        <a:t>0.108</a:t>
                      </a:r>
                    </a:p>
                  </a:txBody>
                </a:tc>
                <a:tc>
                  <a:txBody>
                    <a:bodyPr/>
                    <a:lstStyle/>
                    <a:p>
                      <a:pPr lvl="0" indent="0" marL="0" algn="r">
                        <a:buNone/>
                      </a:pPr>
                      <a:r>
                        <a:rPr/>
                        <a:t>0.129</a:t>
                      </a:r>
                    </a:p>
                  </a:txBody>
                </a:tc>
              </a:tr>
              <a:tr h="0">
                <a:tc>
                  <a:txBody>
                    <a:bodyPr/>
                    <a:lstStyle/>
                    <a:p>
                      <a:pPr lvl="0" indent="0" marL="0" algn="l">
                        <a:buNone/>
                      </a:pPr>
                      <a:r>
                        <a:rPr/>
                        <a:t>D</a:t>
                      </a:r>
                    </a:p>
                  </a:txBody>
                </a:tc>
                <a:tc>
                  <a:txBody>
                    <a:bodyPr/>
                    <a:lstStyle/>
                    <a:p>
                      <a:pPr lvl="0" indent="0" marL="0" algn="r">
                        <a:buNone/>
                      </a:pPr>
                      <a:r>
                        <a:rPr/>
                        <a:t>210</a:t>
                      </a:r>
                    </a:p>
                  </a:txBody>
                </a:tc>
                <a:tc>
                  <a:txBody>
                    <a:bodyPr/>
                    <a:lstStyle/>
                    <a:p>
                      <a:pPr lvl="0" indent="0" marL="0" algn="r">
                        <a:buNone/>
                      </a:pPr>
                      <a:r>
                        <a:rPr/>
                        <a:t>0.081</a:t>
                      </a:r>
                    </a:p>
                  </a:txBody>
                </a:tc>
                <a:tc>
                  <a:txBody>
                    <a:bodyPr/>
                    <a:lstStyle/>
                    <a:p>
                      <a:pPr lvl="0" indent="0" marL="0" algn="r">
                        <a:buNone/>
                      </a:pPr>
                      <a:r>
                        <a:rPr/>
                        <a:t>0.093</a:t>
                      </a:r>
                    </a:p>
                  </a:txBody>
                </a:tc>
                <a:tc>
                  <a:txBody>
                    <a:bodyPr/>
                    <a:lstStyle/>
                    <a:p>
                      <a:pPr lvl="0" indent="0" marL="0" algn="r">
                        <a:buNone/>
                      </a:pPr>
                      <a:r>
                        <a:rPr/>
                        <a:t>0.001</a:t>
                      </a:r>
                    </a:p>
                  </a:txBody>
                </a:tc>
              </a:tr>
              <a:tr h="0">
                <a:tc>
                  <a:txBody>
                    <a:bodyPr/>
                    <a:lstStyle/>
                    <a:p>
                      <a:pPr lvl="0" indent="0" marL="0" algn="l">
                        <a:buNone/>
                      </a:pPr>
                      <a:r>
                        <a:rPr/>
                        <a:t>E</a:t>
                      </a:r>
                    </a:p>
                  </a:txBody>
                </a:tc>
                <a:tc>
                  <a:txBody>
                    <a:bodyPr/>
                    <a:lstStyle/>
                    <a:p>
                      <a:pPr lvl="0" indent="0" marL="0" algn="r">
                        <a:buNone/>
                      </a:pPr>
                      <a:r>
                        <a:rPr/>
                        <a:t>18</a:t>
                      </a:r>
                    </a:p>
                  </a:txBody>
                </a:tc>
                <a:tc>
                  <a:txBody>
                    <a:bodyPr/>
                    <a:lstStyle/>
                    <a:p>
                      <a:pPr lvl="0" indent="0" marL="0" algn="r">
                        <a:buNone/>
                      </a:pPr>
                      <a:r>
                        <a:rPr/>
                        <a:t>0.222</a:t>
                      </a:r>
                    </a:p>
                  </a:txBody>
                </a:tc>
                <a:tc>
                  <a:txBody>
                    <a:bodyPr/>
                    <a:lstStyle/>
                    <a:p>
                      <a:pPr lvl="0" indent="0" marL="0" algn="r">
                        <a:buNone/>
                      </a:pPr>
                      <a:r>
                        <a:rPr/>
                        <a:t>0.110</a:t>
                      </a:r>
                    </a:p>
                  </a:txBody>
                </a:tc>
                <a:tc>
                  <a:txBody>
                    <a:bodyPr/>
                    <a:lstStyle/>
                    <a:p>
                      <a:pPr lvl="0" indent="0" marL="0" algn="r">
                        <a:buNone/>
                      </a:pPr>
                      <a:r>
                        <a:rPr/>
                        <a:t>0.181</a:t>
                      </a:r>
                    </a:p>
                  </a:txBody>
                </a:tc>
              </a:tr>
              <a:tr h="0">
                <a:tc>
                  <a:txBody>
                    <a:bodyPr/>
                    <a:lstStyle/>
                    <a:p>
                      <a:pPr lvl="0" indent="0" marL="0" algn="l">
                        <a:buNone/>
                      </a:pPr>
                      <a:r>
                        <a:rPr/>
                        <a:t>F</a:t>
                      </a:r>
                    </a:p>
                  </a:txBody>
                </a:tc>
                <a:tc>
                  <a:txBody>
                    <a:bodyPr/>
                    <a:lstStyle/>
                    <a:p>
                      <a:pPr lvl="0" indent="0" marL="0" algn="r">
                        <a:buNone/>
                      </a:pPr>
                      <a:r>
                        <a:rPr/>
                        <a:t>76</a:t>
                      </a:r>
                    </a:p>
                  </a:txBody>
                </a:tc>
                <a:tc>
                  <a:txBody>
                    <a:bodyPr/>
                    <a:lstStyle/>
                    <a:p>
                      <a:pPr lvl="0" indent="0" marL="0" algn="r">
                        <a:buNone/>
                      </a:pPr>
                      <a:r>
                        <a:rPr/>
                        <a:t>0.092</a:t>
                      </a:r>
                    </a:p>
                  </a:txBody>
                </a:tc>
                <a:tc>
                  <a:txBody>
                    <a:bodyPr/>
                    <a:lstStyle/>
                    <a:p>
                      <a:pPr lvl="0" indent="0" marL="0" algn="r">
                        <a:buNone/>
                      </a:pPr>
                      <a:r>
                        <a:rPr/>
                        <a:t>0.099</a:t>
                      </a:r>
                    </a:p>
                  </a:txBody>
                </a:tc>
                <a:tc>
                  <a:txBody>
                    <a:bodyPr/>
                    <a:lstStyle/>
                    <a:p>
                      <a:pPr lvl="0" indent="0" marL="0" algn="r">
                        <a:buNone/>
                      </a:pPr>
                      <a:r>
                        <a:rPr/>
                        <a:t>0.021</a:t>
                      </a:r>
                    </a:p>
                  </a:txBody>
                </a:tc>
              </a:tr>
              <a:tr h="0">
                <a:tc>
                  <a:txBody>
                    <a:bodyPr/>
                    <a:lstStyle/>
                    <a:p>
                      <a:pPr lvl="0" indent="0" marL="0" algn="l">
                        <a:buNone/>
                      </a:pPr>
                      <a:r>
                        <a:rPr/>
                        <a:t>G</a:t>
                      </a:r>
                    </a:p>
                  </a:txBody>
                </a:tc>
                <a:tc>
                  <a:txBody>
                    <a:bodyPr/>
                    <a:lstStyle/>
                    <a:p>
                      <a:pPr lvl="0" indent="0" marL="0" algn="r">
                        <a:buNone/>
                      </a:pPr>
                      <a:r>
                        <a:rPr/>
                        <a:t>150</a:t>
                      </a:r>
                    </a:p>
                  </a:txBody>
                </a:tc>
                <a:tc>
                  <a:txBody>
                    <a:bodyPr/>
                    <a:lstStyle/>
                    <a:p>
                      <a:pPr lvl="0" indent="0" marL="0" algn="r">
                        <a:buNone/>
                      </a:pPr>
                      <a:r>
                        <a:rPr/>
                        <a:t>0.080</a:t>
                      </a:r>
                    </a:p>
                  </a:txBody>
                </a:tc>
                <a:tc>
                  <a:txBody>
                    <a:bodyPr/>
                    <a:lstStyle/>
                    <a:p>
                      <a:pPr lvl="0" indent="0" marL="0" algn="r">
                        <a:buNone/>
                      </a:pPr>
                      <a:r>
                        <a:rPr/>
                        <a:t>0.094</a:t>
                      </a:r>
                    </a:p>
                  </a:txBody>
                </a:tc>
                <a:tc>
                  <a:txBody>
                    <a:bodyPr/>
                    <a:lstStyle/>
                    <a:p>
                      <a:pPr lvl="0" indent="0" marL="0" algn="r">
                        <a:buNone/>
                      </a:pPr>
                      <a:r>
                        <a:rPr/>
                        <a:t>0.002</a:t>
                      </a:r>
                    </a:p>
                  </a:txBody>
                </a:tc>
              </a:tr>
              <a:tr h="0">
                <a:tc>
                  <a:txBody>
                    <a:bodyPr/>
                    <a:lstStyle/>
                    <a:p>
                      <a:pPr lvl="0" indent="0" marL="0" algn="l">
                        <a:buNone/>
                      </a:pPr>
                      <a:r>
                        <a:rPr/>
                        <a:t>H</a:t>
                      </a:r>
                    </a:p>
                  </a:txBody>
                </a:tc>
                <a:tc>
                  <a:txBody>
                    <a:bodyPr/>
                    <a:lstStyle/>
                    <a:p>
                      <a:pPr lvl="0" indent="0" marL="0" algn="r">
                        <a:buNone/>
                      </a:pPr>
                      <a:r>
                        <a:rPr/>
                        <a:t>9</a:t>
                      </a:r>
                    </a:p>
                  </a:txBody>
                </a:tc>
                <a:tc>
                  <a:txBody>
                    <a:bodyPr/>
                    <a:lstStyle/>
                    <a:p>
                      <a:pPr lvl="0" indent="0" marL="0" algn="r">
                        <a:buNone/>
                      </a:pPr>
                      <a:r>
                        <a:rPr/>
                        <a:t>0.333</a:t>
                      </a:r>
                    </a:p>
                  </a:txBody>
                </a:tc>
                <a:tc>
                  <a:txBody>
                    <a:bodyPr/>
                    <a:lstStyle/>
                    <a:p>
                      <a:pPr lvl="0" indent="0" marL="0" algn="r">
                        <a:buNone/>
                      </a:pPr>
                      <a:r>
                        <a:rPr/>
                        <a:t>0.111</a:t>
                      </a:r>
                    </a:p>
                  </a:txBody>
                </a:tc>
                <a:tc>
                  <a:txBody>
                    <a:bodyPr/>
                    <a:lstStyle/>
                    <a:p>
                      <a:pPr lvl="0" indent="0" marL="0" algn="r">
                        <a:buNone/>
                      </a:pPr>
                      <a:r>
                        <a:rPr/>
                        <a:t>0.206</a:t>
                      </a:r>
                    </a:p>
                  </a:txBody>
                </a:tc>
              </a:tr>
            </a:tbl>
          </a:graphicData>
        </a:graphic>
      </p:graphicFrame>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The hierarchical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Estimates are </a:t>
                </a:r>
                <a:r>
                  <a:rPr b="1"/>
                  <a:t>shrunk</a:t>
                </a:r>
                <a:r>
                  <a:rPr/>
                  <a:t> towards the overall mean, and small hospitals are shrunk the most, because their own data carry the least information. Hospital H’s estimate moves a long way towards the average and its interval stays wide: the data do not support singling it out. Large hospitals barely move. The amount of shrinkage is not chosen by the analyst; it is learned from the data through </a:t>
                </a:r>
                <a14:m>
                  <m:oMath xmlns:m="http://schemas.openxmlformats.org/officeDocument/2006/math">
                    <m:r>
                      <m:t>σ</m:t>
                    </m:r>
                  </m:oMath>
                </a14:m>
                <a:r>
                  <a:rPr/>
                  <a:t>.</a:t>
                </a:r>
              </a:p>
              <a:p>
                <a:pPr lvl="0" indent="0" marL="0">
                  <a:buNone/>
                </a:pPr>
                <a:r>
                  <a:rPr/>
                  <a:t>Hierarchical models extend naturally to: multi-centre trials, repeated measurements on patients, small-area estimation, meta-analysis (studies as groups), and spatial models for disease mapping. In all of these the Bayesian formulation (with MCMC or INLA) is often the most practical way to fit the model and propagate all sources of uncertainty.</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Why the non-centred parameterisation?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The same model can be written in the </a:t>
                </a:r>
                <a:r>
                  <a:rPr b="1"/>
                  <a:t>centred</a:t>
                </a:r>
                <a:r>
                  <a:rPr/>
                  <a:t> parameterisation, with the hospital log-odds </a:t>
                </a:r>
                <a14:m>
                  <m:oMath xmlns:m="http://schemas.openxmlformats.org/officeDocument/2006/math">
                    <m:sSub>
                      <m:e>
                        <m:r>
                          <m:t>θ</m:t>
                        </m:r>
                      </m:e>
                      <m:sub>
                        <m:r>
                          <m:t>j</m:t>
                        </m:r>
                      </m:sub>
                    </m:sSub>
                  </m:oMath>
                </a14:m>
                <a:r>
                  <a:rPr/>
                  <a:t> as parameters:</a:t>
                </a:r>
              </a:p>
              <a:p>
                <a:pPr lvl="0" indent="0" marL="0">
                  <a:buNone/>
                </a:pPr>
                <a14:m>
                  <m:oMathPara xmlns:m="http://schemas.openxmlformats.org/officeDocument/2006/math">
                    <m:oMathParaPr>
                      <m:jc m:val="center"/>
                    </m:oMathParaPr>
                    <m:oMath>
                      <m:r>
                        <m:t> </m:t>
                      </m:r>
                    </m:oMath>
                  </m:oMathPara>
                </a14:m>
              </a:p>
              <a:p>
                <a:pPr lvl="0" indent="0" marL="0">
                  <a:buNone/>
                </a:pPr>
                <a14:m>
                  <m:oMathPara xmlns:m="http://schemas.openxmlformats.org/officeDocument/2006/math">
                    <m:oMathParaPr>
                      <m:jc m:val="center"/>
                    </m:oMathParaPr>
                    <m:oMath>
                      <m:r>
                        <m:rPr>
                          <m:nor/>
                          <m:sty m:val="p"/>
                        </m:rPr>
                        <m:t>logit</m:t>
                      </m:r>
                      <m:r>
                        <m:rPr>
                          <m:sty m:val="p"/>
                        </m:rPr>
                        <m:t>(</m:t>
                      </m:r>
                      <m:sSub>
                        <m:e>
                          <m:r>
                            <m:t>p</m:t>
                          </m:r>
                        </m:e>
                        <m:sub>
                          <m:r>
                            <m:t>j</m:t>
                          </m:r>
                        </m:sub>
                      </m:sSub>
                      <m:r>
                        <m:rPr>
                          <m:sty m:val="p"/>
                        </m:rPr>
                        <m:t>)</m:t>
                      </m:r>
                      <m:r>
                        <m:rPr>
                          <m:sty m:val="p"/>
                        </m:rPr>
                        <m:t>=</m:t>
                      </m:r>
                      <m:sSub>
                        <m:e>
                          <m:r>
                            <m:t>θ</m:t>
                          </m:r>
                        </m:e>
                        <m:sub>
                          <m:r>
                            <m:t>j</m:t>
                          </m:r>
                        </m:sub>
                      </m:sSub>
                      <m:r>
                        <m:rPr>
                          <m:sty m:val="p"/>
                        </m:rPr>
                        <m:t>,</m:t>
                      </m:r>
                      <m:r>
                        <m:t>  </m:t>
                      </m:r>
                      <m:sSub>
                        <m:e>
                          <m:r>
                            <m:t>θ</m:t>
                          </m:r>
                        </m:e>
                        <m:sub>
                          <m:r>
                            <m:t>j</m:t>
                          </m:r>
                        </m:sub>
                      </m:sSub>
                      <m:r>
                        <m:rPr>
                          <m:sty m:val="p"/>
                        </m:rPr>
                        <m:t>∼</m:t>
                      </m:r>
                      <m:r>
                        <m:rPr>
                          <m:scr m:val="script"/>
                          <m:sty m:val="p"/>
                        </m:rPr>
                        <m:t>N</m:t>
                      </m:r>
                      <m:r>
                        <m:rPr>
                          <m:sty m:val="p"/>
                        </m:rPr>
                        <m:t>(</m:t>
                      </m:r>
                      <m:r>
                        <m:t>μ</m:t>
                      </m:r>
                      <m:r>
                        <m:rPr>
                          <m:sty m:val="p"/>
                        </m:rPr>
                        <m:t>,</m:t>
                      </m:r>
                      <m:sSup>
                        <m:e>
                          <m:r>
                            <m:t>σ</m:t>
                          </m:r>
                        </m:e>
                        <m:sup>
                          <m:r>
                            <m:t>2</m:t>
                          </m:r>
                        </m:sup>
                      </m:sSup>
                      <m:r>
                        <m:rPr>
                          <m:sty m:val="p"/>
                        </m:rPr>
                        <m:t>)</m:t>
                      </m:r>
                      <m:r>
                        <m:rPr>
                          <m:sty m:val="p"/>
                        </m:rPr>
                        <m:t>.</m:t>
                      </m:r>
                    </m:oMath>
                  </m:oMathPara>
                </a14:m>
              </a:p>
              <a:p>
                <a:pPr lvl="0" indent="0" marL="0">
                  <a:spcBef>
                    <a:spcPts val="3000"/>
                  </a:spcBef>
                  <a:buNone/>
                </a:pPr>
                <a:r>
                  <a:rPr b="1"/>
                  <a:t>Why the non-centred parameterisation?</a:t>
                </a:r>
              </a:p>
              <a:p>
                <a:pPr lvl="0" indent="0">
                  <a:buNone/>
                </a:pPr>
                <a:r>
                  <a:rPr>
                    <a:solidFill>
                      <a:srgbClr val="003B4F"/>
                    </a:solidFill>
                    <a:latin typeface="Courier"/>
                  </a:rPr>
                  <a:t>hier_code_c &lt;- </a:t>
                </a:r>
                <a:r>
                  <a:rPr>
                    <a:solidFill>
                      <a:srgbClr val="4758AB"/>
                    </a:solidFill>
                    <a:latin typeface="Courier"/>
                  </a:rPr>
                  <a:t>nimbleCode</a:t>
                </a:r>
                <a:r>
                  <a:rPr>
                    <a:solidFill>
                      <a:srgbClr val="003B4F"/>
                    </a:solidFill>
                    <a:latin typeface="Courier"/>
                  </a:rPr>
                  <a:t>({</a:t>
                </a:r>
                <a:br/>
                <a:r>
                  <a:rPr>
                    <a:solidFill>
                      <a:srgbClr val="003B4F"/>
                    </a:solidFill>
                    <a:latin typeface="Courier"/>
                  </a:rPr>
                  <a:t>  </a:t>
                </a:r>
                <a:r>
                  <a:rPr b="1">
                    <a:solidFill>
                      <a:srgbClr val="003B4F"/>
                    </a:solidFill>
                    <a:latin typeface="Courier"/>
                  </a:rPr>
                  <a:t>for</a:t>
                </a:r>
                <a:r>
                  <a:rPr>
                    <a:solidFill>
                      <a:srgbClr val="003B4F"/>
                    </a:solidFill>
                    <a:latin typeface="Courier"/>
                  </a:rPr>
                  <a:t> (j </a:t>
                </a:r>
                <a:r>
                  <a:rPr b="1">
                    <a:solidFill>
                      <a:srgbClr val="003B4F"/>
                    </a:solidFill>
                    <a:latin typeface="Courier"/>
                  </a:rPr>
                  <a:t>in</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J) {</a:t>
                </a:r>
                <a:br/>
                <a:r>
                  <a:rPr>
                    <a:solidFill>
                      <a:srgbClr val="003B4F"/>
                    </a:solidFill>
                    <a:latin typeface="Courier"/>
                  </a:rPr>
                  <a:t>    deaths[j] </a:t>
                </a:r>
                <a:r>
                  <a:rPr>
                    <a:solidFill>
                      <a:srgbClr val="5E5E5E"/>
                    </a:solidFill>
                    <a:latin typeface="Courier"/>
                  </a:rPr>
                  <a:t>~</a:t>
                </a:r>
                <a:r>
                  <a:rPr>
                    <a:solidFill>
                      <a:srgbClr val="003B4F"/>
                    </a:solidFill>
                    <a:latin typeface="Courier"/>
                  </a:rPr>
                  <a:t> </a:t>
                </a:r>
                <a:r>
                  <a:rPr>
                    <a:solidFill>
                      <a:srgbClr val="4758AB"/>
                    </a:solidFill>
                    <a:latin typeface="Courier"/>
                  </a:rPr>
                  <a:t>dbin</a:t>
                </a:r>
                <a:r>
                  <a:rPr>
                    <a:solidFill>
                      <a:srgbClr val="003B4F"/>
                    </a:solidFill>
                    <a:latin typeface="Courier"/>
                  </a:rPr>
                  <a:t>(p[j], n[j])</a:t>
                </a:r>
                <a:br/>
                <a:r>
                  <a:rPr>
                    <a:solidFill>
                      <a:srgbClr val="003B4F"/>
                    </a:solidFill>
                    <a:latin typeface="Courier"/>
                  </a:rPr>
                  <a:t>    </a:t>
                </a:r>
                <a:r>
                  <a:rPr>
                    <a:solidFill>
                      <a:srgbClr val="4758AB"/>
                    </a:solidFill>
                    <a:latin typeface="Courier"/>
                  </a:rPr>
                  <a:t>logit</a:t>
                </a:r>
                <a:r>
                  <a:rPr>
                    <a:solidFill>
                      <a:srgbClr val="003B4F"/>
                    </a:solidFill>
                    <a:latin typeface="Courier"/>
                  </a:rPr>
                  <a:t>(p[j]) &lt;- theta[j]</a:t>
                </a:r>
                <a:br/>
                <a:r>
                  <a:rPr>
                    <a:solidFill>
                      <a:srgbClr val="003B4F"/>
                    </a:solidFill>
                    <a:latin typeface="Courier"/>
                  </a:rPr>
                  <a:t>    theta[j]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(mu, </a:t>
                </a:r>
                <a:r>
                  <a:rPr>
                    <a:solidFill>
                      <a:srgbClr val="657422"/>
                    </a:solidFill>
                    <a:latin typeface="Courier"/>
                  </a:rPr>
                  <a:t>sd =</a:t>
                </a:r>
                <a:r>
                  <a:rPr>
                    <a:solidFill>
                      <a:srgbClr val="003B4F"/>
                    </a:solidFill>
                    <a:latin typeface="Courier"/>
                  </a:rPr>
                  <a:t> sigma)</a:t>
                </a:r>
                <a:br/>
                <a:r>
                  <a:rPr>
                    <a:solidFill>
                      <a:srgbClr val="003B4F"/>
                    </a:solidFill>
                    <a:latin typeface="Courier"/>
                  </a:rPr>
                  <a:t>  }</a:t>
                </a:r>
                <a:br/>
                <a:r>
                  <a:rPr>
                    <a:solidFill>
                      <a:srgbClr val="003B4F"/>
                    </a:solidFill>
                    <a:latin typeface="Courier"/>
                  </a:rPr>
                  <a:t>  mu    </a:t>
                </a:r>
                <a:r>
                  <a:rPr>
                    <a:solidFill>
                      <a:srgbClr val="5E5E5E"/>
                    </a:solidFill>
                    <a:latin typeface="Courier"/>
                  </a:rPr>
                  <a:t>~</a:t>
                </a:r>
                <a:r>
                  <a:rPr>
                    <a:solidFill>
                      <a:srgbClr val="003B4F"/>
                    </a:solidFill>
                    <a:latin typeface="Courier"/>
                  </a:rPr>
                  <a:t> </a:t>
                </a:r>
                <a:r>
                  <a:rPr>
                    <a:solidFill>
                      <a:srgbClr val="4758AB"/>
                    </a:solidFill>
                    <a:latin typeface="Courier"/>
                  </a:rPr>
                  <a:t>dnorm</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sigma </a:t>
                </a:r>
                <a:r>
                  <a:rPr>
                    <a:solidFill>
                      <a:srgbClr val="5E5E5E"/>
                    </a:solidFill>
                    <a:latin typeface="Courier"/>
                  </a:rPr>
                  <a:t>~</a:t>
                </a:r>
                <a:r>
                  <a:rPr>
                    <a:solidFill>
                      <a:srgbClr val="003B4F"/>
                    </a:solidFill>
                    <a:latin typeface="Courier"/>
                  </a:rPr>
                  <a:t> </a:t>
                </a:r>
                <a:r>
                  <a:rPr>
                    <a:solidFill>
                      <a:srgbClr val="4758AB"/>
                    </a:solidFill>
                    <a:latin typeface="Courier"/>
                  </a:rPr>
                  <a:t>dexp</a:t>
                </a:r>
                <a:r>
                  <a:rPr>
                    <a:solidFill>
                      <a:srgbClr val="003B4F"/>
                    </a:solidFill>
                    <a:latin typeface="Courier"/>
                  </a:rPr>
                  <a:t>(</a:t>
                </a:r>
                <a:r>
                  <a:rPr>
                    <a:solidFill>
                      <a:srgbClr val="AD0000"/>
                    </a:solidFill>
                    <a:latin typeface="Courier"/>
                  </a:rPr>
                  <a:t>1</a:t>
                </a:r>
                <a:r>
                  <a:rPr>
                    <a:solidFill>
                      <a:srgbClr val="003B4F"/>
                    </a:solidFill>
                    <a:latin typeface="Courier"/>
                  </a:rPr>
                  <a:t>)</a:t>
                </a:r>
                <a:br/>
                <a:r>
                  <a:rPr>
                    <a:solidFill>
                      <a:srgbClr val="003B4F"/>
                    </a:solidFill>
                    <a:latin typeface="Courier"/>
                  </a:rPr>
                  <a:t>})</a:t>
                </a:r>
                <a:br/>
                <a:br/>
                <a:r>
                  <a:rPr>
                    <a:solidFill>
                      <a:srgbClr val="003B4F"/>
                    </a:solidFill>
                    <a:latin typeface="Courier"/>
                  </a:rPr>
                  <a:t>hier_fit_c &lt;- </a:t>
                </a:r>
                <a:r>
                  <a:rPr>
                    <a:solidFill>
                      <a:srgbClr val="4758AB"/>
                    </a:solidFill>
                    <a:latin typeface="Courier"/>
                  </a:rPr>
                  <a:t>nimbleMCMC</a:t>
                </a:r>
                <a:r>
                  <a:rPr>
                    <a:solidFill>
                      <a:srgbClr val="003B4F"/>
                    </a:solidFill>
                    <a:latin typeface="Courier"/>
                  </a:rPr>
                  <a:t>(hier_code_c,</a:t>
                </a:r>
                <a:br/>
                <a:r>
                  <a:rPr>
                    <a:solidFill>
                      <a:srgbClr val="003B4F"/>
                    </a:solidFill>
                    <a:latin typeface="Courier"/>
                  </a:rPr>
                  <a:t>  </a:t>
                </a:r>
                <a:r>
                  <a:rPr>
                    <a:solidFill>
                      <a:srgbClr val="657422"/>
                    </a:solidFill>
                    <a:latin typeface="Courier"/>
                  </a:rPr>
                  <a:t>constants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J =</a:t>
                </a:r>
                <a:r>
                  <a:rPr>
                    <a:solidFill>
                      <a:srgbClr val="003B4F"/>
                    </a:solidFill>
                    <a:latin typeface="Courier"/>
                  </a:rPr>
                  <a:t> </a:t>
                </a:r>
                <a:r>
                  <a:rPr>
                    <a:solidFill>
                      <a:srgbClr val="4758AB"/>
                    </a:solidFill>
                    <a:latin typeface="Courier"/>
                  </a:rPr>
                  <a:t>nrow</a:t>
                </a:r>
                <a:r>
                  <a:rPr>
                    <a:solidFill>
                      <a:srgbClr val="003B4F"/>
                    </a:solidFill>
                    <a:latin typeface="Courier"/>
                  </a:rPr>
                  <a:t>(hosp), </a:t>
                </a:r>
                <a:r>
                  <a:rPr>
                    <a:solidFill>
                      <a:srgbClr val="657422"/>
                    </a:solidFill>
                    <a:latin typeface="Courier"/>
                  </a:rPr>
                  <a:t>n =</a:t>
                </a:r>
                <a:r>
                  <a:rPr>
                    <a:solidFill>
                      <a:srgbClr val="003B4F"/>
                    </a:solidFill>
                    <a:latin typeface="Courier"/>
                  </a:rPr>
                  <a:t> hosp</a:t>
                </a:r>
                <a:r>
                  <a:rPr>
                    <a:solidFill>
                      <a:srgbClr val="5E5E5E"/>
                    </a:solidFill>
                    <a:latin typeface="Courier"/>
                  </a:rPr>
                  <a:t>$</a:t>
                </a:r>
                <a:r>
                  <a:rPr>
                    <a:solidFill>
                      <a:srgbClr val="003B4F"/>
                    </a:solidFill>
                    <a:latin typeface="Courier"/>
                  </a:rPr>
                  <a:t>n),</a:t>
                </a:r>
                <a:br/>
                <a:r>
                  <a:rPr>
                    <a:solidFill>
                      <a:srgbClr val="003B4F"/>
                    </a:solidFill>
                    <a:latin typeface="Courier"/>
                  </a:rPr>
                  <a:t>  </a:t>
                </a:r>
                <a:r>
                  <a:rPr>
                    <a:solidFill>
                      <a:srgbClr val="657422"/>
                    </a:solidFill>
                    <a:latin typeface="Courier"/>
                  </a:rPr>
                  <a:t>data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deaths =</a:t>
                </a:r>
                <a:r>
                  <a:rPr>
                    <a:solidFill>
                      <a:srgbClr val="003B4F"/>
                    </a:solidFill>
                    <a:latin typeface="Courier"/>
                  </a:rPr>
                  <a:t> hosp</a:t>
                </a:r>
                <a:r>
                  <a:rPr>
                    <a:solidFill>
                      <a:srgbClr val="5E5E5E"/>
                    </a:solidFill>
                    <a:latin typeface="Courier"/>
                  </a:rPr>
                  <a:t>$</a:t>
                </a:r>
                <a:r>
                  <a:rPr>
                    <a:solidFill>
                      <a:srgbClr val="003B4F"/>
                    </a:solidFill>
                    <a:latin typeface="Courier"/>
                  </a:rPr>
                  <a:t>deaths),</a:t>
                </a:r>
                <a:br/>
                <a:r>
                  <a:rPr>
                    <a:solidFill>
                      <a:srgbClr val="003B4F"/>
                    </a:solidFill>
                    <a:latin typeface="Courier"/>
                  </a:rPr>
                  <a:t>  </a:t>
                </a:r>
                <a:r>
                  <a:rPr>
                    <a:solidFill>
                      <a:srgbClr val="657422"/>
                    </a:solidFill>
                    <a:latin typeface="Courier"/>
                  </a:rPr>
                  <a:t>inits =</a:t>
                </a:r>
                <a:r>
                  <a:rPr>
                    <a:solidFill>
                      <a:srgbClr val="003B4F"/>
                    </a:solidFill>
                    <a:latin typeface="Courier"/>
                  </a:rPr>
                  <a:t> </a:t>
                </a:r>
                <a:r>
                  <a:rPr b="1">
                    <a:solidFill>
                      <a:srgbClr val="003B4F"/>
                    </a:solidFill>
                    <a:latin typeface="Courier"/>
                  </a:rPr>
                  <a:t>function</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mu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sigma =</a:t>
                </a:r>
                <a:r>
                  <a:rPr>
                    <a:solidFill>
                      <a:srgbClr val="003B4F"/>
                    </a:solidFill>
                    <a:latin typeface="Courier"/>
                  </a:rPr>
                  <a:t> </a:t>
                </a:r>
                <a:r>
                  <a:rPr>
                    <a:solidFill>
                      <a:srgbClr val="4758AB"/>
                    </a:solidFill>
                    <a:latin typeface="Courier"/>
                  </a:rPr>
                  <a:t>runif</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0.1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theta =</a:t>
                </a:r>
                <a:r>
                  <a:rPr>
                    <a:solidFill>
                      <a:srgbClr val="003B4F"/>
                    </a:solidFill>
                    <a:latin typeface="Courier"/>
                  </a:rPr>
                  <a:t> </a:t>
                </a:r>
                <a:r>
                  <a:rPr>
                    <a:solidFill>
                      <a:srgbClr val="4758AB"/>
                    </a:solidFill>
                    <a:latin typeface="Courier"/>
                  </a:rPr>
                  <a:t>rnorm</a:t>
                </a:r>
                <a:r>
                  <a:rPr>
                    <a:solidFill>
                      <a:srgbClr val="003B4F"/>
                    </a:solidFill>
                    <a:latin typeface="Courier"/>
                  </a:rPr>
                  <a:t>(</a:t>
                </a:r>
                <a:r>
                  <a:rPr>
                    <a:solidFill>
                      <a:srgbClr val="4758AB"/>
                    </a:solidFill>
                    <a:latin typeface="Courier"/>
                  </a:rPr>
                  <a:t>nrow</a:t>
                </a:r>
                <a:r>
                  <a:rPr>
                    <a:solidFill>
                      <a:srgbClr val="003B4F"/>
                    </a:solidFill>
                    <a:latin typeface="Courier"/>
                  </a:rPr>
                  <a:t>(hosp), </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0.3</a:t>
                </a:r>
                <a:r>
                  <a:rPr>
                    <a:solidFill>
                      <a:srgbClr val="003B4F"/>
                    </a:solidFill>
                    <a:latin typeface="Courier"/>
                  </a:rPr>
                  <a:t>)),</a:t>
                </a:r>
                <a:br/>
                <a:r>
                  <a:rPr>
                    <a:solidFill>
                      <a:srgbClr val="003B4F"/>
                    </a:solidFill>
                    <a:latin typeface="Courier"/>
                  </a:rPr>
                  <a:t>  </a:t>
                </a:r>
                <a:r>
                  <a:rPr>
                    <a:solidFill>
                      <a:srgbClr val="657422"/>
                    </a:solidFill>
                    <a:latin typeface="Courier"/>
                  </a:rPr>
                  <a:t>monitors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"mu"</a:t>
                </a:r>
                <a:r>
                  <a:rPr>
                    <a:solidFill>
                      <a:srgbClr val="003B4F"/>
                    </a:solidFill>
                    <a:latin typeface="Courier"/>
                  </a:rPr>
                  <a:t>, </a:t>
                </a:r>
                <a:r>
                  <a:rPr>
                    <a:solidFill>
                      <a:srgbClr val="20794D"/>
                    </a:solidFill>
                    <a:latin typeface="Courier"/>
                  </a:rPr>
                  <a:t>"sigma"</a:t>
                </a:r>
                <a:r>
                  <a:rPr>
                    <a:solidFill>
                      <a:srgbClr val="003B4F"/>
                    </a:solidFill>
                    <a:latin typeface="Courier"/>
                  </a:rPr>
                  <a:t>, </a:t>
                </a:r>
                <a:r>
                  <a:rPr>
                    <a:solidFill>
                      <a:srgbClr val="20794D"/>
                    </a:solidFill>
                    <a:latin typeface="Courier"/>
                  </a:rPr>
                  <a:t>"theta"</a:t>
                </a:r>
                <a:r>
                  <a:rPr>
                    <a:solidFill>
                      <a:srgbClr val="003B4F"/>
                    </a:solidFill>
                    <a:latin typeface="Courier"/>
                  </a:rPr>
                  <a:t>), </a:t>
                </a:r>
                <a:r>
                  <a:rPr>
                    <a:solidFill>
                      <a:srgbClr val="657422"/>
                    </a:solidFill>
                    <a:latin typeface="Courier"/>
                  </a:rPr>
                  <a:t>nchains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niter =</a:t>
                </a:r>
                <a:r>
                  <a:rPr>
                    <a:solidFill>
                      <a:srgbClr val="003B4F"/>
                    </a:solidFill>
                    <a:latin typeface="Courier"/>
                  </a:rPr>
                  <a:t> </a:t>
                </a:r>
                <a:r>
                  <a:rPr>
                    <a:solidFill>
                      <a:srgbClr val="AD0000"/>
                    </a:solidFill>
                    <a:latin typeface="Courier"/>
                  </a:rPr>
                  <a:t>11000</a:t>
                </a:r>
                <a:r>
                  <a:rPr>
                    <a:solidFill>
                      <a:srgbClr val="003B4F"/>
                    </a:solidFill>
                    <a:latin typeface="Courier"/>
                  </a:rPr>
                  <a:t>, </a:t>
                </a:r>
                <a:r>
                  <a:rPr>
                    <a:solidFill>
                      <a:srgbClr val="657422"/>
                    </a:solidFill>
                    <a:latin typeface="Courier"/>
                  </a:rPr>
                  <a:t>nburnin =</a:t>
                </a:r>
                <a:r>
                  <a:rPr>
                    <a:solidFill>
                      <a:srgbClr val="003B4F"/>
                    </a:solidFill>
                    <a:latin typeface="Courier"/>
                  </a:rPr>
                  <a:t> </a:t>
                </a:r>
                <a:r>
                  <a:rPr>
                    <a:solidFill>
                      <a:srgbClr val="AD0000"/>
                    </a:solidFill>
                    <a:latin typeface="Courier"/>
                  </a:rPr>
                  <a:t>1000</a:t>
                </a:r>
                <a:r>
                  <a:rPr>
                    <a:solidFill>
                      <a:srgbClr val="003B4F"/>
                    </a:solidFill>
                    <a:latin typeface="Courier"/>
                  </a:rPr>
                  <a:t>,</a:t>
                </a:r>
                <a:br/>
                <a:r>
                  <a:rPr>
                    <a:solidFill>
                      <a:srgbClr val="003B4F"/>
                    </a:solidFill>
                    <a:latin typeface="Courier"/>
                  </a:rPr>
                  <a:t>  </a:t>
                </a:r>
                <a:r>
                  <a:rPr>
                    <a:solidFill>
                      <a:srgbClr val="657422"/>
                    </a:solidFill>
                    <a:latin typeface="Courier"/>
                  </a:rPr>
                  <a:t>setSeed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657422"/>
                    </a:solidFill>
                    <a:latin typeface="Courier"/>
                  </a:rPr>
                  <a:t>progressBar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samplesAsCodaMCMC =</a:t>
                </a:r>
                <a:r>
                  <a:rPr>
                    <a:solidFill>
                      <a:srgbClr val="003B4F"/>
                    </a:solidFill>
                    <a:latin typeface="Courier"/>
                  </a:rPr>
                  <a:t> </a:t>
                </a:r>
                <a:r>
                  <a:rPr>
                    <a:solidFill>
                      <a:srgbClr val="8F5902"/>
                    </a:solidFill>
                    <a:latin typeface="Courier"/>
                  </a:rPr>
                  <a:t>TRUE</a:t>
                </a:r>
                <a:r>
                  <a:rPr>
                    <a:solidFill>
                      <a:srgbClr val="003B4F"/>
                    </a:solidFill>
                    <a:latin typeface="Courier"/>
                  </a:rPr>
                  <a:t>)</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Why the non-centred parameterisation?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Same data, same priors, same number of iterations:</a:t>
                </a:r>
              </a:p>
              <a:p>
                <a:pPr lvl="0" indent="0">
                  <a:buNone/>
                </a:pPr>
                <a:r>
                  <a:rPr>
                    <a:solidFill>
                      <a:srgbClr val="4758AB"/>
                    </a:solidFill>
                    <a:latin typeface="Courier"/>
                  </a:rPr>
                  <a:t>bind_rows</a:t>
                </a:r>
                <a:r>
                  <a:rPr>
                    <a:solidFill>
                      <a:srgbClr val="003B4F"/>
                    </a:solidFill>
                    <a:latin typeface="Courier"/>
                  </a:rPr>
                  <a:t>(</a:t>
                </a:r>
                <a:br/>
                <a:r>
                  <a:rPr>
                    <a:solidFill>
                      <a:srgbClr val="003B4F"/>
                    </a:solidFill>
                    <a:latin typeface="Courier"/>
                  </a:rPr>
                  <a:t>  </a:t>
                </a:r>
                <a:r>
                  <a:rPr>
                    <a:solidFill>
                      <a:srgbClr val="20794D"/>
                    </a:solidFill>
                    <a:latin typeface="Courier"/>
                  </a:rPr>
                  <a:t>`</a:t>
                </a:r>
                <a:r>
                  <a:rPr>
                    <a:solidFill>
                      <a:srgbClr val="657422"/>
                    </a:solidFill>
                    <a:latin typeface="Courier"/>
                  </a:rPr>
                  <a:t>non-centred</a:t>
                </a:r>
                <a:r>
                  <a:rPr>
                    <a:solidFill>
                      <a:srgbClr val="20794D"/>
                    </a:solidFill>
                    <a:latin typeface="Courier"/>
                  </a:rPr>
                  <a:t>`</a:t>
                </a:r>
                <a:r>
                  <a:rPr>
                    <a:solidFill>
                      <a:srgbClr val="003B4F"/>
                    </a:solidFill>
                    <a:latin typeface="Courier"/>
                  </a:rPr>
                  <a:t> = </a:t>
                </a:r>
                <a:r>
                  <a:rPr>
                    <a:solidFill>
                      <a:srgbClr val="4758AB"/>
                    </a:solidFill>
                    <a:latin typeface="Courier"/>
                  </a:rPr>
                  <a:t>summarise_draws</a:t>
                </a:r>
                <a:r>
                  <a:rPr>
                    <a:solidFill>
                      <a:srgbClr val="003B4F"/>
                    </a:solidFill>
                    <a:latin typeface="Courier"/>
                  </a:rPr>
                  <a:t>(</a:t>
                </a:r>
                <a:r>
                  <a:rPr>
                    <a:solidFill>
                      <a:srgbClr val="4758AB"/>
                    </a:solidFill>
                    <a:latin typeface="Courier"/>
                  </a:rPr>
                  <a:t>subset_draws</a:t>
                </a:r>
                <a:r>
                  <a:rPr>
                    <a:solidFill>
                      <a:srgbClr val="003B4F"/>
                    </a:solidFill>
                    <a:latin typeface="Courier"/>
                  </a:rPr>
                  <a:t>(</a:t>
                </a:r>
                <a:r>
                  <a:rPr>
                    <a:solidFill>
                      <a:srgbClr val="4758AB"/>
                    </a:solidFill>
                    <a:latin typeface="Courier"/>
                  </a:rPr>
                  <a:t>as_draws</a:t>
                </a:r>
                <a:r>
                  <a:rPr>
                    <a:solidFill>
                      <a:srgbClr val="003B4F"/>
                    </a:solidFill>
                    <a:latin typeface="Courier"/>
                  </a:rPr>
                  <a:t>(hier_fit), </a:t>
                </a:r>
                <a:r>
                  <a:rPr>
                    <a:solidFill>
                      <a:srgbClr val="657422"/>
                    </a:solidFill>
                    <a:latin typeface="Courier"/>
                  </a:rPr>
                  <a:t>variable =</a:t>
                </a:r>
                <a:r>
                  <a:rPr>
                    <a:solidFill>
                      <a:srgbClr val="003B4F"/>
                    </a:solidFill>
                    <a:latin typeface="Courier"/>
                  </a:rPr>
                  <a:t> </a:t>
                </a:r>
                <a:r>
                  <a:rPr>
                    <a:solidFill>
                      <a:srgbClr val="20794D"/>
                    </a:solidFill>
                    <a:latin typeface="Courier"/>
                  </a:rPr>
                  <a:t>"sigma"</a:t>
                </a:r>
                <a:r>
                  <a:rPr>
                    <a:solidFill>
                      <a:srgbClr val="003B4F"/>
                    </a:solidFill>
                    <a:latin typeface="Courier"/>
                  </a:rPr>
                  <a:t>), </a:t>
                </a:r>
                <a:r>
                  <a:rPr>
                    <a:solidFill>
                      <a:srgbClr val="20794D"/>
                    </a:solidFill>
                    <a:latin typeface="Courier"/>
                  </a:rPr>
                  <a:t>"median"</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 </a:t>
                </a:r>
                <a:r>
                  <a:rPr>
                    <a:solidFill>
                      <a:srgbClr val="20794D"/>
                    </a:solidFill>
                    <a:latin typeface="Courier"/>
                  </a:rPr>
                  <a:t>"ess_tail"</a:t>
                </a:r>
                <a:r>
                  <a:rPr>
                    <a:solidFill>
                      <a:srgbClr val="003B4F"/>
                    </a:solidFill>
                    <a:latin typeface="Courier"/>
                  </a:rPr>
                  <a:t>),</a:t>
                </a:r>
                <a:br/>
                <a:r>
                  <a:rPr>
                    <a:solidFill>
                      <a:srgbClr val="003B4F"/>
                    </a:solidFill>
                    <a:latin typeface="Courier"/>
                  </a:rPr>
                  <a:t>  </a:t>
                </a:r>
                <a:r>
                  <a:rPr>
                    <a:solidFill>
                      <a:srgbClr val="657422"/>
                    </a:solidFill>
                    <a:latin typeface="Courier"/>
                  </a:rPr>
                  <a:t>centred       =</a:t>
                </a:r>
                <a:r>
                  <a:rPr>
                    <a:solidFill>
                      <a:srgbClr val="003B4F"/>
                    </a:solidFill>
                    <a:latin typeface="Courier"/>
                  </a:rPr>
                  <a:t> </a:t>
                </a:r>
                <a:r>
                  <a:rPr>
                    <a:solidFill>
                      <a:srgbClr val="4758AB"/>
                    </a:solidFill>
                    <a:latin typeface="Courier"/>
                  </a:rPr>
                  <a:t>summarise_draws</a:t>
                </a:r>
                <a:r>
                  <a:rPr>
                    <a:solidFill>
                      <a:srgbClr val="003B4F"/>
                    </a:solidFill>
                    <a:latin typeface="Courier"/>
                  </a:rPr>
                  <a:t>(</a:t>
                </a:r>
                <a:r>
                  <a:rPr>
                    <a:solidFill>
                      <a:srgbClr val="4758AB"/>
                    </a:solidFill>
                    <a:latin typeface="Courier"/>
                  </a:rPr>
                  <a:t>subset_draws</a:t>
                </a:r>
                <a:r>
                  <a:rPr>
                    <a:solidFill>
                      <a:srgbClr val="003B4F"/>
                    </a:solidFill>
                    <a:latin typeface="Courier"/>
                  </a:rPr>
                  <a:t>(</a:t>
                </a:r>
                <a:r>
                  <a:rPr>
                    <a:solidFill>
                      <a:srgbClr val="4758AB"/>
                    </a:solidFill>
                    <a:latin typeface="Courier"/>
                  </a:rPr>
                  <a:t>as_draws</a:t>
                </a:r>
                <a:r>
                  <a:rPr>
                    <a:solidFill>
                      <a:srgbClr val="003B4F"/>
                    </a:solidFill>
                    <a:latin typeface="Courier"/>
                  </a:rPr>
                  <a:t>(hier_fit_c), </a:t>
                </a:r>
                <a:r>
                  <a:rPr>
                    <a:solidFill>
                      <a:srgbClr val="657422"/>
                    </a:solidFill>
                    <a:latin typeface="Courier"/>
                  </a:rPr>
                  <a:t>variable =</a:t>
                </a:r>
                <a:r>
                  <a:rPr>
                    <a:solidFill>
                      <a:srgbClr val="003B4F"/>
                    </a:solidFill>
                    <a:latin typeface="Courier"/>
                  </a:rPr>
                  <a:t> </a:t>
                </a:r>
                <a:r>
                  <a:rPr>
                    <a:solidFill>
                      <a:srgbClr val="20794D"/>
                    </a:solidFill>
                    <a:latin typeface="Courier"/>
                  </a:rPr>
                  <a:t>"sigma"</a:t>
                </a:r>
                <a:r>
                  <a:rPr>
                    <a:solidFill>
                      <a:srgbClr val="003B4F"/>
                    </a:solidFill>
                    <a:latin typeface="Courier"/>
                  </a:rPr>
                  <a:t>), </a:t>
                </a:r>
                <a:r>
                  <a:rPr>
                    <a:solidFill>
                      <a:srgbClr val="20794D"/>
                    </a:solidFill>
                    <a:latin typeface="Courier"/>
                  </a:rPr>
                  <a:t>"median"</a:t>
                </a:r>
                <a:r>
                  <a:rPr>
                    <a:solidFill>
                      <a:srgbClr val="003B4F"/>
                    </a:solidFill>
                    <a:latin typeface="Courier"/>
                  </a:rPr>
                  <a:t>, </a:t>
                </a:r>
                <a:r>
                  <a:rPr>
                    <a:solidFill>
                      <a:srgbClr val="20794D"/>
                    </a:solidFill>
                    <a:latin typeface="Courier"/>
                  </a:rPr>
                  <a:t>"rhat"</a:t>
                </a:r>
                <a:r>
                  <a:rPr>
                    <a:solidFill>
                      <a:srgbClr val="003B4F"/>
                    </a:solidFill>
                    <a:latin typeface="Courier"/>
                  </a:rPr>
                  <a:t>, </a:t>
                </a:r>
                <a:r>
                  <a:rPr>
                    <a:solidFill>
                      <a:srgbClr val="20794D"/>
                    </a:solidFill>
                    <a:latin typeface="Courier"/>
                  </a:rPr>
                  <a:t>"ess_bulk"</a:t>
                </a:r>
                <a:r>
                  <a:rPr>
                    <a:solidFill>
                      <a:srgbClr val="003B4F"/>
                    </a:solidFill>
                    <a:latin typeface="Courier"/>
                  </a:rPr>
                  <a:t>, </a:t>
                </a:r>
                <a:r>
                  <a:rPr>
                    <a:solidFill>
                      <a:srgbClr val="20794D"/>
                    </a:solidFill>
                    <a:latin typeface="Courier"/>
                  </a:rPr>
                  <a:t>"ess_tail"</a:t>
                </a:r>
                <a:r>
                  <a:rPr>
                    <a:solidFill>
                      <a:srgbClr val="003B4F"/>
                    </a:solidFill>
                    <a:latin typeface="Courier"/>
                  </a:rPr>
                  <a:t>),</a:t>
                </a:r>
                <a:br/>
                <a:r>
                  <a:rPr>
                    <a:solidFill>
                      <a:srgbClr val="003B4F"/>
                    </a:solidFill>
                    <a:latin typeface="Courier"/>
                  </a:rPr>
                  <a:t>  </a:t>
                </a:r>
                <a:r>
                  <a:rPr>
                    <a:solidFill>
                      <a:srgbClr val="657422"/>
                    </a:solidFill>
                    <a:latin typeface="Courier"/>
                  </a:rPr>
                  <a:t>.id =</a:t>
                </a:r>
                <a:r>
                  <a:rPr>
                    <a:solidFill>
                      <a:srgbClr val="003B4F"/>
                    </a:solidFill>
                    <a:latin typeface="Courier"/>
                  </a:rPr>
                  <a:t> </a:t>
                </a:r>
                <a:r>
                  <a:rPr>
                    <a:solidFill>
                      <a:srgbClr val="20794D"/>
                    </a:solidFill>
                    <a:latin typeface="Courier"/>
                  </a:rPr>
                  <a:t>"parameterisation"</a:t>
                </a:r>
                <a:r>
                  <a:rPr>
                    <a:solidFill>
                      <a:srgbClr val="003B4F"/>
                    </a:solidFill>
                    <a:latin typeface="Courier"/>
                  </a:rPr>
                  <a:t>)</a:t>
                </a:r>
              </a:p>
              <a:p>
                <a:pPr lvl="0" indent="0">
                  <a:buNone/>
                </a:pPr>
                <a:r>
                  <a:rPr>
                    <a:latin typeface="Courier"/>
                  </a:rPr>
                  <a:t># A tibble: 2 × 6
  parameterisation variable median  rhat ess_bulk ess_tail
  &lt;chr&gt;            &lt;chr&gt;     &lt;dbl&gt; &lt;dbl&gt;    &lt;dbl&gt;    &lt;dbl&gt;
1 non-centred      sigma     0.208  1.00    1941.    2592.
2 centred          sigma     0.233  1.04     130.     192.</a:t>
                </a:r>
              </a:p>
              <a:p>
                <a:pPr lvl="0" indent="0" marL="0">
                  <a:buNone/>
                </a:pPr>
                <a14:m>
                  <m:oMath xmlns:m="http://schemas.openxmlformats.org/officeDocument/2006/math">
                    <m:r>
                      <m:t>σ</m:t>
                    </m:r>
                  </m:oMath>
                </a14:m>
                <a:r>
                  <a:rPr/>
                  <a:t> mixes far worse in the centred version. A pair plot of </a:t>
                </a:r>
                <a14:m>
                  <m:oMath xmlns:m="http://schemas.openxmlformats.org/officeDocument/2006/math">
                    <m:r>
                      <m:rPr>
                        <m:sty m:val="p"/>
                      </m:rPr>
                      <m:t>log</m:t>
                    </m:r>
                    <m:r>
                      <m:t>σ</m:t>
                    </m:r>
                  </m:oMath>
                </a14:m>
                <a:r>
                  <a:rPr/>
                  <a:t> against the effect of the smallest hospital, H, shows why.</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Why the non-centred parameterisation?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a:buNone/>
            </a:pPr>
            <a:r>
              <a:rPr>
                <a:solidFill>
                  <a:srgbClr val="003B4F"/>
                </a:solidFill>
                <a:latin typeface="Courier"/>
              </a:rPr>
              <a:t>dr_nc &lt;- </a:t>
            </a:r>
            <a:r>
              <a:rPr>
                <a:solidFill>
                  <a:srgbClr val="4758AB"/>
                </a:solidFill>
                <a:latin typeface="Courier"/>
              </a:rPr>
              <a:t>as.matrix</a:t>
            </a:r>
            <a:r>
              <a:rPr>
                <a:solidFill>
                  <a:srgbClr val="003B4F"/>
                </a:solidFill>
                <a:latin typeface="Courier"/>
              </a:rPr>
              <a:t>(hier_fit); dr_c &lt;- </a:t>
            </a:r>
            <a:r>
              <a:rPr>
                <a:solidFill>
                  <a:srgbClr val="4758AB"/>
                </a:solidFill>
                <a:latin typeface="Courier"/>
              </a:rPr>
              <a:t>as.matrix</a:t>
            </a:r>
            <a:r>
              <a:rPr>
                <a:solidFill>
                  <a:srgbClr val="003B4F"/>
                </a:solidFill>
                <a:latin typeface="Courier"/>
              </a:rPr>
              <a:t>(hier_fit_c)</a:t>
            </a:r>
            <a:br/>
            <a:r>
              <a:rPr>
                <a:solidFill>
                  <a:srgbClr val="4758AB"/>
                </a:solidFill>
                <a:latin typeface="Courier"/>
              </a:rPr>
              <a:t>bind_rows</a:t>
            </a:r>
            <a:r>
              <a:rPr>
                <a:solidFill>
                  <a:srgbClr val="003B4F"/>
                </a:solidFill>
                <a:latin typeface="Courier"/>
              </a:rPr>
              <a:t>(</a:t>
            </a:r>
            <a:br/>
            <a:r>
              <a:rPr>
                <a:solidFill>
                  <a:srgbClr val="003B4F"/>
                </a:solidFill>
                <a:latin typeface="Courier"/>
              </a:rPr>
              <a:t>  </a:t>
            </a:r>
            <a:r>
              <a:rPr>
                <a:solidFill>
                  <a:srgbClr val="4758AB"/>
                </a:solidFill>
                <a:latin typeface="Courier"/>
              </a:rPr>
              <a:t>tibble</a:t>
            </a:r>
            <a:r>
              <a:rPr>
                <a:solidFill>
                  <a:srgbClr val="003B4F"/>
                </a:solidFill>
                <a:latin typeface="Courier"/>
              </a:rPr>
              <a:t>(</a:t>
            </a:r>
            <a:r>
              <a:rPr>
                <a:solidFill>
                  <a:srgbClr val="657422"/>
                </a:solidFill>
                <a:latin typeface="Courier"/>
              </a:rPr>
              <a:t>parameterisation =</a:t>
            </a:r>
            <a:r>
              <a:rPr>
                <a:solidFill>
                  <a:srgbClr val="003B4F"/>
                </a:solidFill>
                <a:latin typeface="Courier"/>
              </a:rPr>
              <a:t> </a:t>
            </a:r>
            <a:r>
              <a:rPr>
                <a:solidFill>
                  <a:srgbClr val="20794D"/>
                </a:solidFill>
                <a:latin typeface="Courier"/>
              </a:rPr>
              <a:t>"centred: theta[H] vs log(sigma)"</a:t>
            </a:r>
            <a:r>
              <a:rPr>
                <a:solidFill>
                  <a:srgbClr val="003B4F"/>
                </a:solidFill>
                <a:latin typeface="Courier"/>
              </a:rPr>
              <a:t>,</a:t>
            </a:r>
            <a:br/>
            <a:r>
              <a:rPr>
                <a:solidFill>
                  <a:srgbClr val="003B4F"/>
                </a:solidFill>
                <a:latin typeface="Courier"/>
              </a:rPr>
              <a:t>         </a:t>
            </a:r>
            <a:r>
              <a:rPr>
                <a:solidFill>
                  <a:srgbClr val="657422"/>
                </a:solidFill>
                <a:latin typeface="Courier"/>
              </a:rPr>
              <a:t>effect =</a:t>
            </a:r>
            <a:r>
              <a:rPr>
                <a:solidFill>
                  <a:srgbClr val="003B4F"/>
                </a:solidFill>
                <a:latin typeface="Courier"/>
              </a:rPr>
              <a:t> dr_c[, </a:t>
            </a:r>
            <a:r>
              <a:rPr>
                <a:solidFill>
                  <a:srgbClr val="20794D"/>
                </a:solidFill>
                <a:latin typeface="Courier"/>
              </a:rPr>
              <a:t>"theta[8]"</a:t>
            </a:r>
            <a:r>
              <a:rPr>
                <a:solidFill>
                  <a:srgbClr val="003B4F"/>
                </a:solidFill>
                <a:latin typeface="Courier"/>
              </a:rPr>
              <a:t>], </a:t>
            </a:r>
            <a:r>
              <a:rPr>
                <a:solidFill>
                  <a:srgbClr val="657422"/>
                </a:solidFill>
                <a:latin typeface="Courier"/>
              </a:rPr>
              <a:t>log_sigma =</a:t>
            </a:r>
            <a:r>
              <a:rPr>
                <a:solidFill>
                  <a:srgbClr val="003B4F"/>
                </a:solidFill>
                <a:latin typeface="Courier"/>
              </a:rPr>
              <a:t> </a:t>
            </a:r>
            <a:r>
              <a:rPr>
                <a:solidFill>
                  <a:srgbClr val="4758AB"/>
                </a:solidFill>
                <a:latin typeface="Courier"/>
              </a:rPr>
              <a:t>log</a:t>
            </a:r>
            <a:r>
              <a:rPr>
                <a:solidFill>
                  <a:srgbClr val="003B4F"/>
                </a:solidFill>
                <a:latin typeface="Courier"/>
              </a:rPr>
              <a:t>(dr_c[, </a:t>
            </a:r>
            <a:r>
              <a:rPr>
                <a:solidFill>
                  <a:srgbClr val="20794D"/>
                </a:solidFill>
                <a:latin typeface="Courier"/>
              </a:rPr>
              <a:t>"sigma"</a:t>
            </a:r>
            <a:r>
              <a:rPr>
                <a:solidFill>
                  <a:srgbClr val="003B4F"/>
                </a:solidFill>
                <a:latin typeface="Courier"/>
              </a:rPr>
              <a:t>])),</a:t>
            </a:r>
            <a:br/>
            <a:r>
              <a:rPr>
                <a:solidFill>
                  <a:srgbClr val="003B4F"/>
                </a:solidFill>
                <a:latin typeface="Courier"/>
              </a:rPr>
              <a:t>  </a:t>
            </a:r>
            <a:r>
              <a:rPr>
                <a:solidFill>
                  <a:srgbClr val="4758AB"/>
                </a:solidFill>
                <a:latin typeface="Courier"/>
              </a:rPr>
              <a:t>tibble</a:t>
            </a:r>
            <a:r>
              <a:rPr>
                <a:solidFill>
                  <a:srgbClr val="003B4F"/>
                </a:solidFill>
                <a:latin typeface="Courier"/>
              </a:rPr>
              <a:t>(</a:t>
            </a:r>
            <a:r>
              <a:rPr>
                <a:solidFill>
                  <a:srgbClr val="657422"/>
                </a:solidFill>
                <a:latin typeface="Courier"/>
              </a:rPr>
              <a:t>parameterisation =</a:t>
            </a:r>
            <a:r>
              <a:rPr>
                <a:solidFill>
                  <a:srgbClr val="003B4F"/>
                </a:solidFill>
                <a:latin typeface="Courier"/>
              </a:rPr>
              <a:t> </a:t>
            </a:r>
            <a:r>
              <a:rPr>
                <a:solidFill>
                  <a:srgbClr val="20794D"/>
                </a:solidFill>
                <a:latin typeface="Courier"/>
              </a:rPr>
              <a:t>"non-centred: z[H] vs log(sigma)"</a:t>
            </a:r>
            <a:r>
              <a:rPr>
                <a:solidFill>
                  <a:srgbClr val="003B4F"/>
                </a:solidFill>
                <a:latin typeface="Courier"/>
              </a:rPr>
              <a:t>,</a:t>
            </a:r>
            <a:br/>
            <a:r>
              <a:rPr>
                <a:solidFill>
                  <a:srgbClr val="003B4F"/>
                </a:solidFill>
                <a:latin typeface="Courier"/>
              </a:rPr>
              <a:t>         </a:t>
            </a:r>
            <a:r>
              <a:rPr>
                <a:solidFill>
                  <a:srgbClr val="657422"/>
                </a:solidFill>
                <a:latin typeface="Courier"/>
              </a:rPr>
              <a:t>effect =</a:t>
            </a:r>
            <a:r>
              <a:rPr>
                <a:solidFill>
                  <a:srgbClr val="003B4F"/>
                </a:solidFill>
                <a:latin typeface="Courier"/>
              </a:rPr>
              <a:t> dr_nc[, </a:t>
            </a:r>
            <a:r>
              <a:rPr>
                <a:solidFill>
                  <a:srgbClr val="20794D"/>
                </a:solidFill>
                <a:latin typeface="Courier"/>
              </a:rPr>
              <a:t>"z[8]"</a:t>
            </a:r>
            <a:r>
              <a:rPr>
                <a:solidFill>
                  <a:srgbClr val="003B4F"/>
                </a:solidFill>
                <a:latin typeface="Courier"/>
              </a:rPr>
              <a:t>], </a:t>
            </a:r>
            <a:r>
              <a:rPr>
                <a:solidFill>
                  <a:srgbClr val="657422"/>
                </a:solidFill>
                <a:latin typeface="Courier"/>
              </a:rPr>
              <a:t>log_sigma =</a:t>
            </a:r>
            <a:r>
              <a:rPr>
                <a:solidFill>
                  <a:srgbClr val="003B4F"/>
                </a:solidFill>
                <a:latin typeface="Courier"/>
              </a:rPr>
              <a:t> </a:t>
            </a:r>
            <a:r>
              <a:rPr>
                <a:solidFill>
                  <a:srgbClr val="4758AB"/>
                </a:solidFill>
                <a:latin typeface="Courier"/>
              </a:rPr>
              <a:t>log</a:t>
            </a:r>
            <a:r>
              <a:rPr>
                <a:solidFill>
                  <a:srgbClr val="003B4F"/>
                </a:solidFill>
                <a:latin typeface="Courier"/>
              </a:rPr>
              <a:t>(dr_nc[, </a:t>
            </a:r>
            <a:r>
              <a:rPr>
                <a:solidFill>
                  <a:srgbClr val="20794D"/>
                </a:solidFill>
                <a:latin typeface="Courier"/>
              </a:rPr>
              <a:t>"sigma"</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(effect, log_sigma))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0.4</a:t>
            </a: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"steelblue"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parameterisation, </a:t>
            </a:r>
            <a:r>
              <a:rPr>
                <a:solidFill>
                  <a:srgbClr val="657422"/>
                </a:solidFill>
                <a:latin typeface="Courier"/>
              </a:rPr>
              <a:t>scales =</a:t>
            </a:r>
            <a:r>
              <a:rPr>
                <a:solidFill>
                  <a:srgbClr val="003B4F"/>
                </a:solidFill>
                <a:latin typeface="Courier"/>
              </a:rPr>
              <a:t> </a:t>
            </a:r>
            <a:r>
              <a:rPr>
                <a:solidFill>
                  <a:srgbClr val="20794D"/>
                </a:solidFill>
                <a:latin typeface="Courier"/>
              </a:rPr>
              <a:t>"free"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"hospital H effect"</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4758AB"/>
                </a:solidFill>
                <a:latin typeface="Courier"/>
              </a:rPr>
              <a:t>expression</a:t>
            </a:r>
            <a:r>
              <a:rPr>
                <a:solidFill>
                  <a:srgbClr val="003B4F"/>
                </a:solidFill>
                <a:latin typeface="Courier"/>
              </a:rPr>
              <a:t>(</a:t>
            </a:r>
            <a:r>
              <a:rPr>
                <a:solidFill>
                  <a:srgbClr val="4758AB"/>
                </a:solidFill>
                <a:latin typeface="Courier"/>
              </a:rPr>
              <a:t>log</a:t>
            </a:r>
            <a:r>
              <a:rPr>
                <a:solidFill>
                  <a:srgbClr val="003B4F"/>
                </a:solidFill>
                <a:latin typeface="Courier"/>
              </a:rPr>
              <a:t>(sigma)))</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Why the non-centred parameterisation?</a:t>
            </a:r>
          </a:p>
        </p:txBody>
      </p:sp>
      <p:pic>
        <p:nvPicPr>
          <p:cNvPr descr="Chanco_STA623_BDA_2026_Henrion_Session5_files/figure-pptx/unnamed-chunk-31-1.png" id="0" name="Picture 1"/>
          <p:cNvPicPr>
            <a:picLocks noGrp="1" noChangeAspect="1"/>
          </p:cNvPicPr>
          <p:nvPr/>
        </p:nvPicPr>
        <p:blipFill>
          <a:blip r:embed="rId2"/>
          <a:stretch>
            <a:fillRect/>
          </a:stretch>
        </p:blipFill>
        <p:spPr bwMode="auto">
          <a:xfrm>
            <a:off x="838200" y="1892300"/>
            <a:ext cx="10515600" cy="45085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Why the non-centred parameterisation?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In the centred version the draws form a </a:t>
                </a:r>
                <a:r>
                  <a:rPr b="1"/>
                  <a:t>funnel</a:t>
                </a:r>
                <a:r>
                  <a:rPr/>
                  <a:t>. When </a:t>
                </a:r>
                <a14:m>
                  <m:oMath xmlns:m="http://schemas.openxmlformats.org/officeDocument/2006/math">
                    <m:r>
                      <m:t>σ</m:t>
                    </m:r>
                  </m:oMath>
                </a14:m>
                <a:r>
                  <a:rPr/>
                  <a:t> is large, </a:t>
                </a:r>
                <a14:m>
                  <m:oMath xmlns:m="http://schemas.openxmlformats.org/officeDocument/2006/math">
                    <m:sSub>
                      <m:e>
                        <m:r>
                          <m:t>θ</m:t>
                        </m:r>
                      </m:e>
                      <m:sub>
                        <m:r>
                          <m:t>H</m:t>
                        </m:r>
                      </m:sub>
                    </m:sSub>
                  </m:oMath>
                </a14:m>
                <a:r>
                  <a:rPr/>
                  <a:t> can vary widely; when </a:t>
                </a:r>
                <a14:m>
                  <m:oMath xmlns:m="http://schemas.openxmlformats.org/officeDocument/2006/math">
                    <m:r>
                      <m:t>σ</m:t>
                    </m:r>
                  </m:oMath>
                </a14:m>
                <a:r>
                  <a:rPr/>
                  <a:t> is small, every </a:t>
                </a:r>
                <a14:m>
                  <m:oMath xmlns:m="http://schemas.openxmlformats.org/officeDocument/2006/math">
                    <m:sSub>
                      <m:e>
                        <m:r>
                          <m:t>θ</m:t>
                        </m:r>
                      </m:e>
                      <m:sub>
                        <m:r>
                          <m:t>j</m:t>
                        </m:r>
                      </m:sub>
                    </m:sSub>
                  </m:oMath>
                </a14:m>
                <a:r>
                  <a:rPr/>
                  <a:t> is forced close to </a:t>
                </a:r>
                <a14:m>
                  <m:oMath xmlns:m="http://schemas.openxmlformats.org/officeDocument/2006/math">
                    <m:r>
                      <m:t>μ</m:t>
                    </m:r>
                  </m:oMath>
                </a14:m>
                <a:r>
                  <a:rPr/>
                  <a:t>, and the neck of the funnel becomes very narrow. A sampler whose step sizes suit the wide top of the funnel cannot get far into the neck, so small values of </a:t>
                </a:r>
                <a14:m>
                  <m:oMath xmlns:m="http://schemas.openxmlformats.org/officeDocument/2006/math">
                    <m:r>
                      <m:t>σ</m:t>
                    </m:r>
                  </m:oMath>
                </a14:m>
                <a:r>
                  <a:rPr/>
                  <a:t> are visited rarely and in long, sticky stretches: this is what the low ESS and high </a:t>
                </a:r>
                <a14:m>
                  <m:oMath xmlns:m="http://schemas.openxmlformats.org/officeDocument/2006/math">
                    <m:acc>
                      <m:accPr>
                        <m:chr m:val="̂"/>
                      </m:accPr>
                      <m:e>
                        <m:r>
                          <m:t>R</m:t>
                        </m:r>
                      </m:e>
                    </m:acc>
                  </m:oMath>
                </a14:m>
                <a:r>
                  <a:rPr/>
                  <a:t> for </a:t>
                </a:r>
                <a14:m>
                  <m:oMath xmlns:m="http://schemas.openxmlformats.org/officeDocument/2006/math">
                    <m:r>
                      <m:t>σ</m:t>
                    </m:r>
                  </m:oMath>
                </a14:m>
                <a:r>
                  <a:rPr/>
                  <a:t> are signalling. In the non-centred version, </a:t>
                </a:r>
                <a14:m>
                  <m:oMath xmlns:m="http://schemas.openxmlformats.org/officeDocument/2006/math">
                    <m:sSub>
                      <m:e>
                        <m:r>
                          <m:t>z</m:t>
                        </m:r>
                      </m:e>
                      <m:sub>
                        <m:r>
                          <m:t>j</m:t>
                        </m:r>
                      </m:sub>
                    </m:sSub>
                  </m:oMath>
                </a14:m>
                <a:r>
                  <a:rPr/>
                  <a:t> and </a:t>
                </a:r>
                <a14:m>
                  <m:oMath xmlns:m="http://schemas.openxmlformats.org/officeDocument/2006/math">
                    <m:r>
                      <m:t>σ</m:t>
                    </m:r>
                  </m:oMath>
                </a14:m>
                <a:r>
                  <a:rPr/>
                  <a:t> are independent in the prior, the pair plot is a shapeless cloud, and the sampler moves freely, including to very small values of </a:t>
                </a:r>
                <a14:m>
                  <m:oMath xmlns:m="http://schemas.openxmlformats.org/officeDocument/2006/math">
                    <m:r>
                      <m:t>σ</m:t>
                    </m:r>
                  </m:oMath>
                </a14:m>
                <a:r>
                  <a:rPr/>
                  <a:t>.</a:t>
                </a:r>
              </a:p>
              <a:p>
                <a:pPr lvl="0" indent="0" marL="0">
                  <a:buNone/>
                </a:pPr>
                <a:r>
                  <a:rPr/>
                  <a:t>Which parameterisation samples better depends on how much information the data carry about each group. With small groups, or a small </a:t>
                </a:r>
                <a14:m>
                  <m:oMath xmlns:m="http://schemas.openxmlformats.org/officeDocument/2006/math">
                    <m:r>
                      <m:t>σ</m:t>
                    </m:r>
                  </m:oMath>
                </a14:m>
                <a:r>
                  <a:rPr/>
                  <a:t>, as here, the non-centred version is usually better; with large, informative groups the centred version can be better (Practical 5). The pair plot, not a rule of thumb, tells you which situation you are in.</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lvl="0" indent="0" marL="0">
              <a:buNone/>
            </a:pPr>
            <a:r>
              <a:rPr/>
              <a:t>Reporting a Bayesian analysis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lvl="0" indent="0" marL="0">
              <a:buNone/>
            </a:pPr>
            <a:r>
              <a:rPr/>
              <a:t>Reporting a Bayesian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Following the Bayesian Analysis Reporting Guidelines (Kruschke, 2021), a report should include:</a:t>
                </a:r>
              </a:p>
              <a:p>
                <a:pPr lvl="0"/>
                <a:r>
                  <a:rPr/>
                  <a:t>The </a:t>
                </a:r>
                <a:r>
                  <a:rPr b="1"/>
                  <a:t>model</a:t>
                </a:r>
                <a:r>
                  <a:rPr/>
                  <a:t> (sampling model and all priors), with a justification of the priors and a prior predictive check where priors matter;</a:t>
                </a:r>
              </a:p>
              <a:p>
                <a:pPr lvl="0"/>
                <a:r>
                  <a:rPr/>
                  <a:t>The </a:t>
                </a:r>
                <a:r>
                  <a:rPr b="1"/>
                  <a:t>computation</a:t>
                </a:r>
                <a:r>
                  <a:rPr/>
                  <a:t>: software and version, samplers if non-default, number of chains, iterations, burn-in, and convergence diagnostics (</a:t>
                </a:r>
                <a14:m>
                  <m:oMath xmlns:m="http://schemas.openxmlformats.org/officeDocument/2006/math">
                    <m:acc>
                      <m:accPr>
                        <m:chr m:val="̂"/>
                      </m:accPr>
                      <m:e>
                        <m:r>
                          <m:t>R</m:t>
                        </m:r>
                      </m:e>
                    </m:acc>
                  </m:oMath>
                </a14:m>
                <a:r>
                  <a:rPr/>
                  <a:t>, ESS);</a:t>
                </a:r>
              </a:p>
              <a:p>
                <a:pPr lvl="0"/>
                <a:r>
                  <a:rPr b="1"/>
                  <a:t>Posterior summaries</a:t>
                </a:r>
                <a:r>
                  <a:rPr/>
                  <a:t> on interpretable scales: medians or means, credible intervals (say which type), and posterior probabilities of clinically meaningful events;</a:t>
                </a:r>
              </a:p>
              <a:p>
                <a:pPr lvl="0"/>
                <a:r>
                  <a:rPr b="1"/>
                  <a:t>Model checks</a:t>
                </a:r>
                <a:r>
                  <a:rPr/>
                  <a:t> (posterior predictive checks) and, where relevant, model comparison (LOO);</a:t>
                </a:r>
              </a:p>
              <a:p>
                <a:pPr lvl="0"/>
                <a:r>
                  <a:rPr/>
                  <a:t>A </a:t>
                </a:r>
                <a:r>
                  <a:rPr b="1"/>
                  <a:t>sensitivity analysis</a:t>
                </a:r>
                <a:r>
                  <a:rPr/>
                  <a:t> to the priors and to key modelling choices;</a:t>
                </a:r>
              </a:p>
              <a:p>
                <a:pPr lvl="0"/>
                <a:r>
                  <a:rPr b="1"/>
                  <a:t>Code and data</a:t>
                </a:r>
                <a:r>
                  <a:rPr/>
                  <a:t> (or simulated data) to reproduce the analysis.</a:t>
                </a:r>
              </a:p>
            </p:txBody>
          </p:sp>
        </mc:Choice>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indent="0" marL="0">
              <a:buNone/>
            </a:pPr>
            <a:r>
              <a:rPr/>
              <a:t>[end of STA623 Bayesian Data analysis Session 5]</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idx="12" sz="quarter" type="sldNum"/>
          </p:nvPr>
        </p:nvSpPr>
        <p:spPr/>
        <p:txBody>
          <a:bodyPr/>
          <a:lstStyle/>
          <a:p>
            <a:fld id="{E1C5CB42-CF14-4293-8971-6DCD1AAE8BE7}"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Words>
  <Application>Microsoft Office PowerPoint</Application>
  <PresentationFormat>Widescreen</PresentationFormat>
  <Paragraphs>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STA623 Bayesian Data Analysis</dc:title>
  <dc:creator>Marc Henrion</dc:creator>
  <cp:keywords/>
  <dcterms:created xsi:type="dcterms:W3CDTF">2026-10-01T18:55:30Z</dcterms:created>
  <dcterms:modified xsi:type="dcterms:W3CDTF">2026-10-01T18:55:30Z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2026-10-02</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Session 5: Bayesian regression, model checking, comparison, hierarchical models</vt:lpwstr>
  </property>
  <property fmtid="{D5CDD505-2E9C-101B-9397-08002B2CF9AE}" pid="12" name="toc-title">
    <vt:lpwstr>Table of contents</vt:lpwstr>
  </property>
</Properties>
</file>