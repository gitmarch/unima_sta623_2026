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1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5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FE552-82FF-41CD-AE9B-C5B295BA4F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 b="1"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8C47A7-1C60-48ED-9106-1A4E50CD85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26500"/>
            <a:ext cx="9144000" cy="12313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256D4-A46F-42D5-9B93-520AF7ED2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CD99309-7B5F-490B-9BDE-AAF9B5F8DC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24400" y="5580025"/>
            <a:ext cx="2743200" cy="311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C2113EE3-8373-4C14-933F-C1E589D5B246}" type="datetime1">
              <a:rPr lang="en-GB" smtClean="0"/>
              <a:t>25/09/2026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1206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685800" indent="-228600">
              <a:buClr>
                <a:srgbClr val="C00000"/>
              </a:buClr>
              <a:buFont typeface="Arial" panose="020B0604020202020204" pitchFamily="34" charset="0"/>
              <a:buChar char="•"/>
              <a:defRPr/>
            </a:lvl2pPr>
            <a:lvl3pPr marL="1143000" indent="-228600">
              <a:buClrTx/>
              <a:buFont typeface="Arial" panose="020B0604020202020204" pitchFamily="34" charset="0"/>
              <a:buChar char="•"/>
              <a:defRPr/>
            </a:lvl3pPr>
            <a:lvl4pPr>
              <a:buClr>
                <a:srgbClr val="C00000"/>
              </a:buClr>
              <a:defRPr/>
            </a:lvl4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0030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11042-BDFA-4708-84AB-F848A1D5D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400" b="1"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6FC57D-47CF-4AB3-8F41-D74240EA1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AAC92-EEED-4232-ACDE-84003A647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8679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C85BE-B3D8-4FF3-B29D-02E829750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9358A-6410-47DE-B7D5-0F708CD13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2pPr>
              <a:buClr>
                <a:srgbClr val="C00000"/>
              </a:buClr>
              <a:defRPr/>
            </a:lvl2pPr>
            <a:lvl3pPr>
              <a:buClrTx/>
              <a:defRPr/>
            </a:lvl3pPr>
            <a:lvl4pPr>
              <a:buClr>
                <a:srgbClr val="C00000"/>
              </a:buClr>
              <a:defRPr/>
            </a:lvl4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4B0D16-5BFA-42AC-ADC2-646F18F108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2pPr>
              <a:buClr>
                <a:srgbClr val="C00000"/>
              </a:buClr>
              <a:defRPr/>
            </a:lvl2pPr>
            <a:lvl3pPr>
              <a:buClrTx/>
              <a:defRPr/>
            </a:lvl3pPr>
            <a:lvl4pPr>
              <a:buClr>
                <a:srgbClr val="C00000"/>
              </a:buClr>
              <a:defRPr/>
            </a:lvl4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92B6E7-0296-4DDC-8A37-ADBF0331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995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0E6CF-0013-49C7-AEB8-8E9137471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3B4A6D-F116-4484-8C9C-A4639CC18B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21EE16-2CAA-4269-9363-D2817EE0DF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135FF5-1094-4B0C-B250-AD8B448C6F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D47F8F-0A27-4035-ACD4-A78ECFE4A2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EF0084-C4B2-4571-BB9F-0F21077EB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2715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237DD-A251-437C-AEDD-CB5B4426A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CF1F1D-CD28-4160-A015-F8A9E022C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195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68FEFF-33E8-4DF3-9F82-C8924C647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6113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C315F-F711-43BA-8C23-8D50769E3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8A54E-07B9-4B62-B101-F97969B049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C278EB-CD3C-4569-8B41-D3DDD3B400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D33D4-F2B4-4E27-98BD-BC927283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0229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D806B-9951-41F8-8355-56988956D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42C372-A8E3-48FB-BC6D-03E9BE45A1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7AF29B-6E7F-438B-A4F0-E7B08FC248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CB0398-38BC-4D55-98B4-91433EB43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0211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C010A-D0D2-45E6-B04B-900AFC280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9A6CE9-1503-44AE-9C80-F0F8D874EA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5A2AA1-1B6B-4E88-A09D-356FC6852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4426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E5E3CF-3D05-44C8-88C8-D98ADD5B83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F504C6-15EF-447C-AD59-74FEC0CCC5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67EC9-ADE0-4807-A12B-A966A05B8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6076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1E1190-2136-48F0-AC05-CF8B70904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720" y="365125"/>
            <a:ext cx="1033311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345448-651E-4B5A-868C-102A5658F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515600" cy="4667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570DB5-9A54-43D6-A1BD-EE919D586D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799" y="6542081"/>
            <a:ext cx="2743200" cy="3159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B768418-2B2A-4DD4-AF20-A6EC6C03C46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" y="78603"/>
            <a:ext cx="12192001" cy="228029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7925" tIns="38963" rIns="77925" bIns="38963" anchor="ctr"/>
          <a:lstStyle/>
          <a:p>
            <a:endParaRPr lang="en-US">
              <a:latin typeface="Calibri" pitchFamily="34" charset="0"/>
            </a:endParaRPr>
          </a:p>
        </p:txBody>
      </p:sp>
      <p:pic>
        <p:nvPicPr>
          <p:cNvPr id="8" name="Picture 7" descr="CoM new.jpg">
            <a:extLst>
              <a:ext uri="{FF2B5EF4-FFF2-40B4-BE49-F238E27FC236}">
                <a16:creationId xmlns:a16="http://schemas.microsoft.com/office/drawing/2014/main" id="{CA1A8323-4ADE-4BE5-B7CC-3ABBBDEC976A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88" y="365126"/>
            <a:ext cx="750719" cy="89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7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gitMarcH/UNIMA_STA623_2026" TargetMode="Externa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bayesrulesbook.com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FE552-82FF-41CD-AE9B-C5B295BA4F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marL="0" lvl="0" indent="0">
              <a:buNone/>
            </a:pPr>
            <a:r>
              <a:t>STA623 Bayesian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8C47A7-1C60-48ED-9106-1A4E50CD85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26500"/>
            <a:ext cx="9144000" cy="1231300"/>
          </a:xfrm>
        </p:spPr>
        <p:txBody>
          <a:bodyPr/>
          <a:lstStyle/>
          <a:p>
            <a:pPr marL="0" lvl="0" indent="0">
              <a:buNone/>
            </a:pPr>
            <a:r>
              <a:t>Session 1: Bayesian reasoning: prior, likelihood, posterior</a:t>
            </a:r>
            <a:br/>
            <a:br/>
            <a:r>
              <a:t>Marc Henrion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CD99309-7B5F-490B-9BDE-AAF9B5F8DC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24400" y="5580025"/>
            <a:ext cx="2743200" cy="311224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2026-09-28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256D4-A46F-42D5-9B93-520AF7ED2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1</a:t>
            </a:fld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11042-BDFA-4708-84AB-F848A1D5D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marL="0" lvl="0" indent="0">
              <a:buNone/>
            </a:pPr>
            <a:r>
              <a:t>Preliminaries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AAC92-EEED-4232-ACDE-84003A647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2</a:t>
            </a:fld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How this course is organised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The course is built around one idea: </a:t>
            </a:r>
            <a:r>
              <a:rPr b="1"/>
              <a:t>a Bayesian analysis is a posterior distribution, and in practice we obtain posterior distributions by computing, not by integrating by hand.</a:t>
            </a:r>
            <a:r>
              <a:t> Mathematics is kept to what you need to understand </a:t>
            </a:r>
            <a:r>
              <a:rPr i="1"/>
              <a:t>what</a:t>
            </a:r>
            <a:r>
              <a:t> the computer is doing and </a:t>
            </a:r>
            <a:r>
              <a:rPr i="1"/>
              <a:t>why</a:t>
            </a:r>
            <a:r>
              <a:t> it can go wrong.</a:t>
            </a:r>
          </a:p>
          <a:p>
            <a:pPr marL="0" lvl="0" indent="0">
              <a:buNone/>
            </a:pPr>
            <a:r>
              <a:t>Longer derivations (conjugate posteriors, Jeffreys priors, the full normal model, loss functions) are in the </a:t>
            </a:r>
            <a:r>
              <a:rPr b="1"/>
              <a:t>appendices</a:t>
            </a:r>
            <a:r>
              <a:t>. You might be asked to derive a sonjugate prior in the exam, but for the other derivations, while they are useful for understanding and for self-study, you are not expected to be able to reproduce them in the exam.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3</a:t>
            </a:fld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How this course is organised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66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Lecture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Topic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Main computational 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Practical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Bayesian reasoning: prior, likelihood, posterior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Grid approximation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Priors, conjugate models, posterior summaries &amp; prediction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Exact formulae + simulation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Monte Carlo and Markov chain Monte Carlo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Hand-written Metropolis &amp; Gibbs samplers in </a:t>
                      </a:r>
                      <a:r>
                        <a:rPr>
                          <a:latin typeface="Courier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MCMC in practice: </a:t>
                      </a:r>
                      <a:r>
                        <a:rPr>
                          <a:latin typeface="Courier"/>
                        </a:rPr>
                        <a:t>NIMBLE</a:t>
                      </a:r>
                      <a:r>
                        <a:t> and convergence diagnostics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>
                          <a:latin typeface="Courier"/>
                        </a:rPr>
                        <a:t>NIMBLE</a:t>
                      </a:r>
                      <a:r>
                        <a:t>, </a:t>
                      </a:r>
                      <a:r>
                        <a:rPr>
                          <a:latin typeface="Courier"/>
                        </a:rPr>
                        <a:t>posterior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Bayesian regression, model checking, comparison, hierarchical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>
                          <a:latin typeface="Courier"/>
                        </a:rPr>
                        <a:t>NIMBLE</a:t>
                      </a:r>
                      <a:r>
                        <a:t>, </a:t>
                      </a:r>
                      <a:r>
                        <a:rPr>
                          <a:latin typeface="Courier"/>
                        </a:rPr>
                        <a:t>loo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4</a:t>
            </a:fld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C315F-F711-43BA-8C23-8D50769E3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marL="0" lvl="0" indent="0">
              <a:buNone/>
            </a:pPr>
            <a:r>
              <a:t>Code notes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C278EB-CD3C-4569-8B41-D3DDD3B4004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/>
            <a:r>
              <a:t>These notes have been prepared using </a:t>
            </a:r>
            <a:r>
              <a:rPr>
                <a:latin typeface="Courier"/>
              </a:rPr>
              <a:t>quarto</a:t>
            </a:r>
            <a:r>
              <a:t> - qmd shared on GitHub.</a:t>
            </a:r>
          </a:p>
          <a:p>
            <a:pPr lvl="0"/>
            <a:r>
              <a:t>All code is </a:t>
            </a:r>
            <a:r>
              <a:rPr>
                <a:latin typeface="Courier"/>
              </a:rPr>
              <a:t>R</a:t>
            </a:r>
            <a:r>
              <a:t>; Bayesian models are specified in </a:t>
            </a:r>
            <a:r>
              <a:rPr>
                <a:latin typeface="Courier"/>
              </a:rPr>
              <a:t>NIMBLE</a:t>
            </a:r>
            <a:r>
              <a:t> (a dialect of </a:t>
            </a:r>
            <a:r>
              <a:rPr>
                <a:latin typeface="Courier"/>
              </a:rPr>
              <a:t>BUGS</a:t>
            </a:r>
            <a:r>
              <a:t>).</a:t>
            </a:r>
          </a:p>
          <a:p>
            <a:pPr lvl="0"/>
            <a:r>
              <a:rPr>
                <a:latin typeface="Courier"/>
              </a:rPr>
              <a:t>R</a:t>
            </a:r>
            <a:r>
              <a:t> packages used: </a:t>
            </a:r>
            <a:r>
              <a:rPr>
                <a:latin typeface="Courier"/>
              </a:rPr>
              <a:t>tidyverse</a:t>
            </a:r>
            <a:r>
              <a:t>, </a:t>
            </a:r>
            <a:r>
              <a:rPr>
                <a:latin typeface="Courier"/>
              </a:rPr>
              <a:t>gridExtra</a:t>
            </a:r>
            <a:r>
              <a:t>, </a:t>
            </a:r>
            <a:r>
              <a:rPr>
                <a:latin typeface="Courier"/>
              </a:rPr>
              <a:t>HDInterval</a:t>
            </a:r>
            <a:r>
              <a:t>, </a:t>
            </a:r>
            <a:r>
              <a:rPr>
                <a:latin typeface="Courier"/>
              </a:rPr>
              <a:t>nimble</a:t>
            </a:r>
            <a:r>
              <a:t>, </a:t>
            </a:r>
            <a:r>
              <a:rPr>
                <a:latin typeface="Courier"/>
              </a:rPr>
              <a:t>coda</a:t>
            </a:r>
            <a:r>
              <a:t>, </a:t>
            </a:r>
            <a:r>
              <a:rPr>
                <a:latin typeface="Courier"/>
              </a:rPr>
              <a:t>posterior</a:t>
            </a:r>
            <a:r>
              <a:t>, </a:t>
            </a:r>
            <a:r>
              <a:rPr>
                <a:latin typeface="Courier"/>
              </a:rPr>
              <a:t>loo</a:t>
            </a:r>
            <a:r>
              <a:t> (plus </a:t>
            </a:r>
            <a:r>
              <a:rPr>
                <a:latin typeface="Courier"/>
              </a:rPr>
              <a:t>MCMCvis</a:t>
            </a:r>
            <a:r>
              <a:t> optionally). Install them all before the first practical: </a:t>
            </a:r>
            <a:r>
              <a:rPr>
                <a:latin typeface="Courier"/>
              </a:rPr>
              <a:t>NIMBLE</a:t>
            </a:r>
            <a:r>
              <a:t> needs a working C++ compiler (Rtools on Windows, Xcode command line tools on macOS).</a:t>
            </a:r>
          </a:p>
          <a:p>
            <a:pPr lvl="0"/>
            <a:r>
              <a:t>Course materials: </a:t>
            </a:r>
            <a:r>
              <a:rPr>
                <a:hlinkClick r:id="rId2"/>
              </a:rPr>
              <a:t>https://github.com/gitMarcH/UNIMA_STA623_2026</a:t>
            </a:r>
          </a:p>
        </p:txBody>
      </p:sp>
      <p:pic>
        <p:nvPicPr>
          <p:cNvPr id="3" name="Picture 1" descr="images/QR_GitHubRepo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842000" y="977900"/>
            <a:ext cx="4864100" cy="4864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D33D4-F2B4-4E27-98BD-BC927283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5</a:t>
            </a:fld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License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The quarto code is subject to an MIT license (Marc Henrion).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The compiled html is subject to a CC BY 4.0 license (Marc Henrion).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6</a:t>
            </a:fld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References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marL="0" lvl="0" indent="0">
                  <a:buNone/>
                </a:pPr>
                <a:r>
                  <a:rPr b="1"/>
                  <a:t>Core texts:</a:t>
                </a:r>
              </a:p>
              <a:p>
                <a:pPr marL="457200" lvl="0" indent="-457200">
                  <a:buAutoNum type="arabicPeriod"/>
                </a:pPr>
                <a:r>
                  <a:t>Hoff, P.D. (2009). </a:t>
                </a:r>
                <a:r>
                  <a:rPr i="1"/>
                  <a:t>A First Course in Bayesian Statistical Methods</a:t>
                </a:r>
                <a:r>
                  <a:t>. Springer.</a:t>
                </a:r>
              </a:p>
              <a:p>
                <a:pPr marL="457200" lvl="0" indent="-457200">
                  <a:buAutoNum type="arabicPeriod"/>
                </a:pPr>
                <a:r>
                  <a:t>McElreath, R. (2020). </a:t>
                </a:r>
                <a:r>
                  <a:rPr i="1"/>
                  <a:t>Statistical Rethinking</a:t>
                </a:r>
                <a:r>
                  <a:t>. 2</a:t>
                </a:r>
                <a:r>
                  <a:rPr baseline="30000"/>
                  <a:t>nd</a:t>
                </a:r>
                <a:r>
                  <a:t> ed. CRC Press. (Very accessible, computation-first.)</a:t>
                </a:r>
              </a:p>
              <a:p>
                <a:pPr marL="457200" lvl="0" indent="-457200">
                  <a:buAutoNum type="arabicPeriod"/>
                </a:pPr>
                <a:r>
                  <a:t>Johnson, A.A., Ott, M.Q., Dogucu, M. (2022). </a:t>
                </a:r>
                <a:r>
                  <a:rPr i="1"/>
                  <a:t>Bayes Rules! An Introduction to Applied Bayesian Modeling</a:t>
                </a:r>
                <a:r>
                  <a:t>. CRC Press. Free online: </a:t>
                </a:r>
                <a:r>
                  <a:rPr>
                    <a:hlinkClick r:id="rId2"/>
                  </a:rPr>
                  <a:t>https://www.bayesrulesbook.com</a:t>
                </a:r>
              </a:p>
              <a:p>
                <a:pPr marL="457200" lvl="0" indent="-457200">
                  <a:buAutoNum type="arabicPeriod"/>
                </a:pPr>
                <a:r>
                  <a:t>Gelman, A., Carlin, J.B., Stern, H.S., Dunson, D.B., Vehtari, A., Rubin, D.B. (2013). </a:t>
                </a:r>
                <a:r>
                  <a:rPr i="1"/>
                  <a:t>Bayesian Data Analysis</a:t>
                </a:r>
                <a:r>
                  <a:t>. 3</a:t>
                </a:r>
                <a:r>
                  <a:rPr baseline="30000"/>
                  <a:t>rd</a:t>
                </a:r>
                <a:r>
                  <a:t> ed. CRC Press. (Reference text; free PDF from the authors’ website.)</a:t>
                </a:r>
              </a:p>
              <a:p>
                <a:pPr marL="0" lvl="0" indent="0">
                  <a:buNone/>
                </a:pPr>
                <a:r>
                  <a:rPr b="1"/>
                  <a:t>Papers you will meet in Lectures 4 and 5:</a:t>
                </a:r>
              </a:p>
              <a:p>
                <a:pPr marL="457200" lvl="0" indent="-457200">
                  <a:buAutoNum type="arabicPeriod" startAt="5"/>
                </a:pPr>
                <a:r>
                  <a:t>Gelman, A. et al. (2020). Bayesian workflow. </a:t>
                </a:r>
                <a:r>
                  <a:rPr i="1"/>
                  <a:t>arXiv:2011.01808</a:t>
                </a:r>
                <a:r>
                  <a:t>.</a:t>
                </a:r>
              </a:p>
              <a:p>
                <a:pPr marL="457200" lvl="0" indent="-457200">
                  <a:buAutoNum type="arabicPeriod" startAt="5"/>
                </a:pPr>
                <a:r>
                  <a:t>Vehtari, A., Gelman, A., Simpson, D., Carpenter, B., Bürkner, P.-C. (2021). Rank-normalization, folding, and localization: an improved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acc>
                  </m:oMath>
                </a14:m>
                <a:r>
                  <a:t> for assessing convergence of MCMC. </a:t>
                </a:r>
                <a:r>
                  <a:rPr i="1"/>
                  <a:t>Bayesian Analysis</a:t>
                </a:r>
                <a:r>
                  <a:t> 16(2), 667-718.</a:t>
                </a:r>
              </a:p>
              <a:p>
                <a:pPr marL="457200" lvl="0" indent="-457200">
                  <a:buAutoNum type="arabicPeriod" startAt="5"/>
                </a:pPr>
                <a:r>
                  <a:t>Vehtari, A., Gelman, A., Gabry, J. (2017). Practical Bayesian model evaluation using leave-one-out cross-validation and WAIC. </a:t>
                </a:r>
                <a:r>
                  <a:rPr i="1"/>
                  <a:t>Statistics and Computing</a:t>
                </a:r>
                <a:r>
                  <a:t> 27, 1413-1432.</a:t>
                </a:r>
              </a:p>
              <a:p>
                <a:pPr marL="457200" lvl="0" indent="-457200">
                  <a:buAutoNum type="arabicPeriod" startAt="5"/>
                </a:pPr>
                <a:r>
                  <a:t>de Valpine, P. et al. (2017). Programming with models: writing statistical algorithms for general model structures with NIMBLE. </a:t>
                </a:r>
                <a:r>
                  <a:rPr i="1"/>
                  <a:t>J. Comput. Graph. Stat.</a:t>
                </a:r>
                <a:r>
                  <a:t> 26(2), 403-413.</a:t>
                </a:r>
              </a:p>
              <a:p>
                <a:pPr marL="457200" lvl="0" indent="-457200">
                  <a:buAutoNum type="arabicPeriod" startAt="5"/>
                </a:pPr>
                <a:r>
                  <a:t>Kruschke, J.K. (2021). Bayesian analysis reporting guidelines. </a:t>
                </a:r>
                <a:r>
                  <a:rPr i="1"/>
                  <a:t>Nature Human Behaviour</a:t>
                </a:r>
                <a:r>
                  <a:t> 5, 1282-1291.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03" t="-21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7</a:t>
            </a:fld>
            <a:endParaRPr 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Notation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𝑌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t>: random variables (data before they are observed);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𝑦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t>: observed values.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𝒚</m:t>
                    </m:r>
                    <m:r>
                      <a:rPr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t>.</a:t>
                </a:r>
              </a:p>
              <a:p>
                <a:pPr lvl="0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t>: a generic parameter (or vector of parameters).</a:t>
                </a:r>
              </a:p>
              <a:p>
                <a:pPr lvl="0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𝑝</m:t>
                    </m:r>
                    <m:r>
                      <a:rPr>
                        <a:latin typeface="Cambria Math" panose="02040503050406030204" pitchFamily="18" charset="0"/>
                      </a:rPr>
                      <m:t>(⋅)</m:t>
                    </m:r>
                  </m:oMath>
                </a14:m>
                <a:r>
                  <a:t>: a probability mass or density function; which one is meant is clear from its argument.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𝑝</m:t>
                    </m:r>
                    <m:r>
                      <a:rPr>
                        <a:latin typeface="Cambria Math" panose="02040503050406030204" pitchFamily="18" charset="0"/>
                      </a:rPr>
                      <m:t>(</m:t>
                    </m:r>
                    <m:r>
                      <a:rPr>
                        <a:latin typeface="Cambria Math" panose="02040503050406030204" pitchFamily="18" charset="0"/>
                      </a:rPr>
                      <m:t>𝜃</m:t>
                    </m:r>
                    <m:r>
                      <a:rPr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t> is the prior,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𝑝</m:t>
                    </m:r>
                    <m:r>
                      <a:rPr>
                        <a:latin typeface="Cambria Math" panose="02040503050406030204" pitchFamily="18" charset="0"/>
                      </a:rPr>
                      <m:t>(</m:t>
                    </m:r>
                    <m:r>
                      <a:rPr>
                        <a:latin typeface="Cambria Math" panose="02040503050406030204" pitchFamily="18" charset="0"/>
                      </a:rPr>
                      <m:t>𝑦</m:t>
                    </m:r>
                    <m:r>
                      <a:rPr>
                        <a:latin typeface="Cambria Math" panose="02040503050406030204" pitchFamily="18" charset="0"/>
                      </a:rPr>
                      <m:t>∣</m:t>
                    </m:r>
                    <m:r>
                      <a:rPr>
                        <a:latin typeface="Cambria Math" panose="02040503050406030204" pitchFamily="18" charset="0"/>
                      </a:rPr>
                      <m:t>𝜃</m:t>
                    </m:r>
                    <m:r>
                      <a:rPr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t> the sampling model / likelihood,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𝑝</m:t>
                    </m:r>
                    <m:r>
                      <a:rPr>
                        <a:latin typeface="Cambria Math" panose="02040503050406030204" pitchFamily="18" charset="0"/>
                      </a:rPr>
                      <m:t>(</m:t>
                    </m:r>
                    <m:r>
                      <a:rPr>
                        <a:latin typeface="Cambria Math" panose="02040503050406030204" pitchFamily="18" charset="0"/>
                      </a:rPr>
                      <m:t>𝜃</m:t>
                    </m:r>
                    <m:r>
                      <a:rPr>
                        <a:latin typeface="Cambria Math" panose="02040503050406030204" pitchFamily="18" charset="0"/>
                      </a:rPr>
                      <m:t>∣</m:t>
                    </m:r>
                    <m:r>
                      <a:rPr>
                        <a:latin typeface="Cambria Math" panose="02040503050406030204" pitchFamily="18" charset="0"/>
                      </a:rPr>
                      <m:t>𝑦</m:t>
                    </m:r>
                    <m:r>
                      <a:rPr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t> the posterior.</a:t>
                </a:r>
              </a:p>
              <a:p>
                <a:pPr lvl="0"/>
                <a14:m>
                  <m:oMath xmlns:m="http://schemas.openxmlformats.org/officeDocument/2006/math"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(1)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,…,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t>: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t> simulated draws of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t>.</a:t>
                </a:r>
              </a:p>
              <a:p>
                <a:pPr lvl="0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𝐸</m:t>
                    </m:r>
                    <m:r>
                      <a:rPr>
                        <a:latin typeface="Cambria Math" panose="02040503050406030204" pitchFamily="18" charset="0"/>
                      </a:rPr>
                      <m:t>[⋅]</m:t>
                    </m:r>
                  </m:oMath>
                </a14:m>
                <a:r>
                  <a:t>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i="0"/>
                      <m:t>Var</m:t>
                    </m:r>
                    <m:r>
                      <a:rPr>
                        <a:latin typeface="Cambria Math" panose="02040503050406030204" pitchFamily="18" charset="0"/>
                      </a:rPr>
                      <m:t>(⋅)</m:t>
                    </m:r>
                  </m:oMath>
                </a14:m>
                <a:r>
                  <a:t>: expectation and variance.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∼</m:t>
                        </m:r>
                      </m:e>
                      <m:sub>
                        <m:r>
                          <m:rPr>
                            <m:nor/>
                          </m:rPr>
                          <a:rPr i="0"/>
                          <m:t>iid</m:t>
                        </m:r>
                      </m:sub>
                    </m:sSub>
                  </m:oMath>
                </a14:m>
                <a:r>
                  <a:t>: independent and identically distributed.</a:t>
                </a:r>
              </a:p>
              <a:p>
                <a:pPr lvl="0"/>
                <a:r>
                  <a:t>Distributions are parameterised as in </a:t>
                </a:r>
                <a:r>
                  <a:rPr>
                    <a:latin typeface="Courier"/>
                  </a:rPr>
                  <a:t>R</a:t>
                </a:r>
                <a:r>
                  <a:t> unless stated otherwise, e.g. 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i="0"/>
                      <m:t>Gamma</m:t>
                    </m:r>
                    <m:r>
                      <a:rPr>
                        <a:latin typeface="Cambria Math" panose="02040503050406030204" pitchFamily="18" charset="0"/>
                      </a:rPr>
                      <m:t>(</m:t>
                    </m:r>
                    <m:r>
                      <a:rPr>
                        <a:latin typeface="Cambria Math" panose="02040503050406030204" pitchFamily="18" charset="0"/>
                      </a:rPr>
                      <m:t>𝑎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𝑏</m:t>
                    </m:r>
                    <m:r>
                      <a:rPr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t> has shape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t> and </a:t>
                </a:r>
                <a:r>
                  <a:rPr i="1"/>
                  <a:t>rate</a:t>
                </a:r>
                <a:r>
                  <a:t>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t> (mean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𝑎</m:t>
                    </m:r>
                    <m:r>
                      <a:rPr>
                        <a:latin typeface="Cambria Math" panose="02040503050406030204" pitchFamily="18" charset="0"/>
                      </a:rPr>
                      <m:t>/</m:t>
                    </m:r>
                    <m:r>
                      <a:rPr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t>).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981" b="-5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8</a:t>
            </a:fld>
            <a:endParaRPr 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11042-BDFA-4708-84AB-F848A1D5D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marL="0" lvl="0" indent="0">
              <a:buNone/>
            </a:pPr>
            <a:r>
              <a:t>Morning quiz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AAC92-EEED-4232-ACDE-84003A647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9</a:t>
            </a:fld>
            <a:endParaRPr 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11042-BDFA-4708-84AB-F848A1D5D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marL="0" lvl="0" indent="0">
              <a:buNone/>
            </a:pPr>
            <a:r>
              <a:t>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AAC92-EEED-4232-ACDE-84003A647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10</a:t>
            </a:fld>
            <a:endParaRPr lang="en-GB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Introduction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lvl="0" indent="0">
                  <a:buNone/>
                </a:pPr>
                <a:r>
                  <a:t>Probabilities can be used informally to express information and our beliefs about unknown quanities.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This can be made formal.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Probabilities can be used to express rational beliefs and there is a relationship between probability and information.</a:t>
                </a:r>
              </a:p>
              <a:p>
                <a:pPr marL="0" lvl="0" indent="0">
                  <a:buNone/>
                </a:pPr>
                <a:r>
                  <a:t>Bayes’ rule provides a rational way of updating beliefs in the light of new information.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This process of </a:t>
                </a:r>
                <a:r>
                  <a:rPr b="1"/>
                  <a:t>inductive learning</a:t>
                </a:r>
                <a:r>
                  <a:t> is referred to as </a:t>
                </a:r>
                <a:r>
                  <a:rPr b="1"/>
                  <a:t>Bayesian inference</a:t>
                </a:r>
                <a:r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9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11</a:t>
            </a:fld>
            <a:endParaRPr lang="en-GB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11042-BDFA-4708-84AB-F848A1D5D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marL="0" lvl="0" indent="0">
              <a:buNone/>
            </a:pPr>
            <a:r>
              <a:t>Bayesian reasoning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AAC92-EEED-4232-ACDE-84003A647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12</a:t>
            </a:fld>
            <a:endParaRPr lang="en-GB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Bayesian reasoning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Bayesian methods provide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/>
          </a:p>
          <a:p>
            <a:pPr lvl="0"/>
            <a:r>
              <a:t>Statistical estimators with desirable properties.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/>
          </a:p>
          <a:p>
            <a:pPr lvl="0"/>
            <a:r>
              <a:t>Parsimonious descriptions of data.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/>
          </a:p>
          <a:p>
            <a:pPr lvl="0"/>
            <a:r>
              <a:t>A computational framework for model estimation, selection and validation.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13</a:t>
            </a:fld>
            <a:endParaRPr lang="en-GB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Two ways of thinking about the unknown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66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Frequentist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Bayesian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Parameter 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Fixed, 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Uncertain: has a distribution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Probability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Long-run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Degree of belief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Estimate + SE, CI, p-value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Posterior p(θ | 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95% interval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95% of such intervals cover 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P(l ≤ θ ≤ u | y) = 0.95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Prior knowledge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Informal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Formal, via p(θ)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14</a:t>
            </a:fld>
            <a:endParaRPr lang="en-GB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Two ways of thinking about the unknown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Both are legitimate; they answer different questions. In large samples with vague priors, they often give numerically similar answers. The Bayesian approach becomes especially attractive when:</a:t>
            </a:r>
          </a:p>
          <a:p>
            <a:pPr lvl="0"/>
            <a:r>
              <a:t>We want direct probability statements about parameters (“what is the probability that the new regimen reduces mortality?”);</a:t>
            </a:r>
          </a:p>
          <a:p>
            <a:pPr lvl="0"/>
            <a:r>
              <a:t>Data are sparse and genuine prior information exists;</a:t>
            </a:r>
          </a:p>
          <a:p>
            <a:pPr lvl="0"/>
            <a:r>
              <a:t>Models are complex (hierarchical, spatial, missing data, measurement error), where Bayesian computation is often </a:t>
            </a:r>
            <a:r>
              <a:rPr i="1"/>
              <a:t>easier</a:t>
            </a:r>
            <a:r>
              <a:t> than maximum likelihood.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15</a:t>
            </a:fld>
            <a:endParaRPr lang="en-GB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only probability rules you need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For events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𝐴</m:t>
                </m:r>
              </m:oMath>
            </a14:m>
            <a:r>
              <a:t> and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𝐵</m:t>
                </m:r>
              </m:oMath>
            </a14:m>
            <a:r>
              <a:t> (see Appendix A for the full refresher):</a:t>
            </a:r>
          </a:p>
          <a:p>
            <a:pPr lvl="0"/>
            <a:r>
              <a:rPr b="1"/>
              <a:t>Conditional probability</a:t>
            </a:r>
            <a:r>
              <a:t>: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𝑃</m:t>
                </m:r>
                <m:r>
                  <a:rPr>
                    <a:latin typeface="Cambria Math" panose="02040503050406030204" pitchFamily="18" charset="0"/>
                  </a:rPr>
                  <m:t>(</m:t>
                </m:r>
                <m:r>
                  <a:rPr>
                    <a:latin typeface="Cambria Math" panose="02040503050406030204" pitchFamily="18" charset="0"/>
                  </a:rPr>
                  <m:t>𝐴</m:t>
                </m:r>
                <m:r>
                  <a:rPr>
                    <a:latin typeface="Cambria Math" panose="02040503050406030204" pitchFamily="18" charset="0"/>
                  </a:rPr>
                  <m:t>∣</m:t>
                </m:r>
                <m:r>
                  <a:rPr>
                    <a:latin typeface="Cambria Math" panose="02040503050406030204" pitchFamily="18" charset="0"/>
                  </a:rPr>
                  <m:t>𝐵</m:t>
                </m:r>
                <m:r>
                  <a:rPr>
                    <a:latin typeface="Cambria Math" panose="02040503050406030204" pitchFamily="18" charset="0"/>
                  </a:rPr>
                  <m:t>)=</m:t>
                </m:r>
                <m:r>
                  <a:rPr>
                    <a:latin typeface="Cambria Math" panose="02040503050406030204" pitchFamily="18" charset="0"/>
                  </a:rPr>
                  <m:t>𝑃</m:t>
                </m:r>
                <m:r>
                  <a:rPr>
                    <a:latin typeface="Cambria Math" panose="02040503050406030204" pitchFamily="18" charset="0"/>
                  </a:rPr>
                  <m:t>(</m:t>
                </m:r>
                <m:r>
                  <a:rPr>
                    <a:latin typeface="Cambria Math" panose="02040503050406030204" pitchFamily="18" charset="0"/>
                  </a:rPr>
                  <m:t>𝐴</m:t>
                </m:r>
                <m:r>
                  <a:rPr>
                    <a:latin typeface="Cambria Math" panose="02040503050406030204" pitchFamily="18" charset="0"/>
                  </a:rPr>
                  <m:t>∩</m:t>
                </m:r>
                <m:r>
                  <a:rPr>
                    <a:latin typeface="Cambria Math" panose="02040503050406030204" pitchFamily="18" charset="0"/>
                  </a:rPr>
                  <m:t>𝐵</m:t>
                </m:r>
                <m:r>
                  <a:rPr>
                    <a:latin typeface="Cambria Math" panose="02040503050406030204" pitchFamily="18" charset="0"/>
                  </a:rPr>
                  <m:t>)/</m:t>
                </m:r>
                <m:r>
                  <a:rPr>
                    <a:latin typeface="Cambria Math" panose="02040503050406030204" pitchFamily="18" charset="0"/>
                  </a:rPr>
                  <m:t>𝑃</m:t>
                </m:r>
                <m:r>
                  <a:rPr>
                    <a:latin typeface="Cambria Math" panose="02040503050406030204" pitchFamily="18" charset="0"/>
                  </a:rPr>
                  <m:t>(</m:t>
                </m:r>
                <m:r>
                  <a:rPr>
                    <a:latin typeface="Cambria Math" panose="02040503050406030204" pitchFamily="18" charset="0"/>
                  </a:rPr>
                  <m:t>𝐵</m:t>
                </m:r>
                <m:r>
                  <a:rPr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, for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𝑃</m:t>
                </m:r>
                <m:r>
                  <a:rPr>
                    <a:latin typeface="Cambria Math" panose="02040503050406030204" pitchFamily="18" charset="0"/>
                  </a:rPr>
                  <m:t>(</m:t>
                </m:r>
                <m:r>
                  <a:rPr>
                    <a:latin typeface="Cambria Math" panose="02040503050406030204" pitchFamily="18" charset="0"/>
                  </a:rPr>
                  <m:t>𝐵</m:t>
                </m:r>
                <m:r>
                  <a:rPr>
                    <a:latin typeface="Cambria Math" panose="02040503050406030204" pitchFamily="18" charset="0"/>
                  </a:rPr>
                  <m:t>)&gt;0</m:t>
                </m:r>
              </m:oMath>
            </a14:m>
            <a:r>
              <a:t>.</a:t>
            </a:r>
          </a:p>
          <a:p>
            <a:pPr lvl="0"/>
            <a:r>
              <a:rPr b="1"/>
              <a:t>Multiplication rule</a:t>
            </a:r>
            <a:r>
              <a:t>: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𝑃</m:t>
                </m:r>
                <m:r>
                  <a:rPr>
                    <a:latin typeface="Cambria Math" panose="02040503050406030204" pitchFamily="18" charset="0"/>
                  </a:rPr>
                  <m:t>(</m:t>
                </m:r>
                <m:r>
                  <a:rPr>
                    <a:latin typeface="Cambria Math" panose="02040503050406030204" pitchFamily="18" charset="0"/>
                  </a:rPr>
                  <m:t>𝐴</m:t>
                </m:r>
                <m:r>
                  <a:rPr>
                    <a:latin typeface="Cambria Math" panose="02040503050406030204" pitchFamily="18" charset="0"/>
                  </a:rPr>
                  <m:t>∩</m:t>
                </m:r>
                <m:r>
                  <a:rPr>
                    <a:latin typeface="Cambria Math" panose="02040503050406030204" pitchFamily="18" charset="0"/>
                  </a:rPr>
                  <m:t>𝐵</m:t>
                </m:r>
                <m:r>
                  <a:rPr>
                    <a:latin typeface="Cambria Math" panose="02040503050406030204" pitchFamily="18" charset="0"/>
                  </a:rPr>
                  <m:t>)=</m:t>
                </m:r>
                <m:r>
                  <a:rPr>
                    <a:latin typeface="Cambria Math" panose="02040503050406030204" pitchFamily="18" charset="0"/>
                  </a:rPr>
                  <m:t>𝑃</m:t>
                </m:r>
                <m:r>
                  <a:rPr>
                    <a:latin typeface="Cambria Math" panose="02040503050406030204" pitchFamily="18" charset="0"/>
                  </a:rPr>
                  <m:t>(</m:t>
                </m:r>
                <m:r>
                  <a:rPr>
                    <a:latin typeface="Cambria Math" panose="02040503050406030204" pitchFamily="18" charset="0"/>
                  </a:rPr>
                  <m:t>𝐴</m:t>
                </m:r>
                <m:r>
                  <a:rPr>
                    <a:latin typeface="Cambria Math" panose="02040503050406030204" pitchFamily="18" charset="0"/>
                  </a:rPr>
                  <m:t>∣</m:t>
                </m:r>
                <m:r>
                  <a:rPr>
                    <a:latin typeface="Cambria Math" panose="02040503050406030204" pitchFamily="18" charset="0"/>
                  </a:rPr>
                  <m:t>𝐵</m:t>
                </m:r>
                <m:r>
                  <a:rPr>
                    <a:latin typeface="Cambria Math" panose="02040503050406030204" pitchFamily="18" charset="0"/>
                  </a:rPr>
                  <m:t>)</m:t>
                </m:r>
                <m:r>
                  <a:rPr>
                    <a:latin typeface="Cambria Math" panose="02040503050406030204" pitchFamily="18" charset="0"/>
                  </a:rPr>
                  <m:t>𝑃</m:t>
                </m:r>
                <m:r>
                  <a:rPr>
                    <a:latin typeface="Cambria Math" panose="02040503050406030204" pitchFamily="18" charset="0"/>
                  </a:rPr>
                  <m:t>(</m:t>
                </m:r>
                <m:r>
                  <a:rPr>
                    <a:latin typeface="Cambria Math" panose="02040503050406030204" pitchFamily="18" charset="0"/>
                  </a:rPr>
                  <m:t>𝐵</m:t>
                </m:r>
                <m:r>
                  <a:rPr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.</a:t>
            </a:r>
          </a:p>
          <a:p>
            <a:pPr lvl="0"/>
            <a:r>
              <a:rPr b="1"/>
              <a:t>Law of total probability</a:t>
            </a:r>
            <a:r>
              <a:t>: if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𝐵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,…,</m:t>
                </m:r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𝐵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𝑘</m:t>
                    </m:r>
                  </m:sub>
                </m:sSub>
              </m:oMath>
            </a14:m>
            <a:r>
              <a:t> partition the outcome space,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𝑃</m:t>
                </m:r>
                <m:r>
                  <a:rPr>
                    <a:latin typeface="Cambria Math" panose="02040503050406030204" pitchFamily="18" charset="0"/>
                  </a:rPr>
                  <m:t>(</m:t>
                </m:r>
                <m:r>
                  <a:rPr>
                    <a:latin typeface="Cambria Math" panose="02040503050406030204" pitchFamily="18" charset="0"/>
                  </a:rPr>
                  <m:t>𝐴</m:t>
                </m:r>
                <m:r>
                  <a:rPr>
                    <a:latin typeface="Cambria Math" panose="02040503050406030204" pitchFamily="18" charset="0"/>
                  </a:rPr>
                  <m:t>)=</m:t>
                </m:r>
                <m:nary>
                  <m:naryPr>
                    <m:chr m:val="∑"/>
                    <m:limLoc m:val="undOvr"/>
                    <m:ctrlPr>
                      <a:rPr>
                        <a:latin typeface="Cambria Math" panose="02040503050406030204" pitchFamily="18" charset="0"/>
                      </a:rPr>
                    </m:ctrlPr>
                  </m:naryPr>
                  <m:sub>
                    <m:r>
                      <a:rPr>
                        <a:latin typeface="Cambria Math" panose="02040503050406030204" pitchFamily="18" charset="0"/>
                      </a:rPr>
                      <m:t>𝑗</m:t>
                    </m:r>
                  </m:sub>
                  <m:sup>
                    <m:r>
                      <a:rPr>
                        <a:latin typeface="Cambria Math" panose="02040503050406030204" pitchFamily="18" charset="0"/>
                      </a:rPr>
                      <m:t>​</m:t>
                    </m:r>
                  </m:sup>
                  <m:e>
                    <m:r>
                      <a:rPr>
                        <a:latin typeface="Cambria Math" panose="02040503050406030204" pitchFamily="18" charset="0"/>
                      </a:rPr>
                      <m:t>𝑃</m:t>
                    </m:r>
                  </m:e>
                </m:nary>
                <m:r>
                  <a:rPr>
                    <a:latin typeface="Cambria Math" panose="02040503050406030204" pitchFamily="18" charset="0"/>
                  </a:rPr>
                  <m:t>(</m:t>
                </m:r>
                <m:r>
                  <a:rPr>
                    <a:latin typeface="Cambria Math" panose="02040503050406030204" pitchFamily="18" charset="0"/>
                  </a:rPr>
                  <m:t>𝐴</m:t>
                </m:r>
                <m:r>
                  <a:rPr>
                    <a:latin typeface="Cambria Math" panose="02040503050406030204" pitchFamily="18" charset="0"/>
                  </a:rPr>
                  <m:t>∣</m:t>
                </m:r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𝐵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𝑗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)</m:t>
                </m:r>
                <m:r>
                  <a:rPr>
                    <a:latin typeface="Cambria Math" panose="02040503050406030204" pitchFamily="18" charset="0"/>
                  </a:rPr>
                  <m:t>𝑃</m:t>
                </m:r>
                <m:r>
                  <a:rPr>
                    <a:latin typeface="Cambria Math" panose="02040503050406030204" pitchFamily="18" charset="0"/>
                  </a:rPr>
                  <m:t>(</m:t>
                </m:r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𝐵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𝑗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.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Combining the three gives </a:t>
            </a:r>
            <a:r>
              <a:rPr b="1"/>
              <a:t>Bayes’ rule</a:t>
            </a:r>
            <a:r>
              <a:t>: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𝑃</m:t>
                  </m:r>
                  <m:r>
                    <a:rPr>
                      <a:latin typeface="Cambria Math" panose="02040503050406030204" pitchFamily="18" charset="0"/>
                    </a:rPr>
                    <m:t>(</m:t>
                  </m:r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𝐵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𝑖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∣</m:t>
                  </m:r>
                  <m:r>
                    <a:rPr>
                      <a:latin typeface="Cambria Math" panose="02040503050406030204" pitchFamily="18" charset="0"/>
                    </a:rPr>
                    <m:t>𝐴</m:t>
                  </m:r>
                  <m:r>
                    <a:rPr>
                      <a:latin typeface="Cambria Math" panose="02040503050406030204" pitchFamily="18" charset="0"/>
                    </a:rPr>
                    <m:t>)=</m:t>
                  </m:r>
                  <m:f>
                    <m:f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fPr>
                    <m:num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) 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num>
                    <m:den>
                      <m:nary>
                        <m:naryPr>
                          <m:chr m:val="∑"/>
                          <m:limLoc m:val="undOvr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nary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) 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den>
                  </m:f>
                  <m:r>
                    <a:rPr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16</a:t>
            </a:fld>
            <a:endParaRPr lang="en-GB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Example: a malaria rapid diagnostic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A malaria RDT has</a:t>
            </a:r>
          </a:p>
          <a:p>
            <a:pPr lvl="0"/>
            <a:r>
              <a:t>Sensitivity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𝑃</m:t>
                </m:r>
                <m:r>
                  <a:rPr>
                    <a:latin typeface="Cambria Math" panose="02040503050406030204" pitchFamily="18" charset="0"/>
                  </a:rPr>
                  <m:t>(</m:t>
                </m:r>
                <m:r>
                  <a:rPr>
                    <a:latin typeface="Cambria Math" panose="02040503050406030204" pitchFamily="18" charset="0"/>
                  </a:rPr>
                  <m:t>𝑇</m:t>
                </m:r>
                <m:r>
                  <a:rPr>
                    <a:latin typeface="Cambria Math" panose="02040503050406030204" pitchFamily="18" charset="0"/>
                  </a:rPr>
                  <m:t>∣</m:t>
                </m:r>
                <m:r>
                  <a:rPr>
                    <a:latin typeface="Cambria Math" panose="02040503050406030204" pitchFamily="18" charset="0"/>
                  </a:rPr>
                  <m:t>𝐷</m:t>
                </m:r>
                <m:r>
                  <a:rPr>
                    <a:latin typeface="Cambria Math" panose="02040503050406030204" pitchFamily="18" charset="0"/>
                  </a:rPr>
                  <m:t>)=0.95</m:t>
                </m:r>
              </m:oMath>
            </a14:m>
            <a:r>
              <a:t> and</a:t>
            </a:r>
          </a:p>
          <a:p>
            <a:pPr lvl="0"/>
            <a:r>
              <a:t>Specificity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𝑃</m:t>
                </m:r>
                <m:r>
                  <a:rPr>
                    <a:latin typeface="Cambria Math" panose="02040503050406030204" pitchFamily="18" charset="0"/>
                  </a:rPr>
                  <m:t>(</m:t>
                </m:r>
                <m:acc>
                  <m:accPr>
                    <m:chr m:val="‾"/>
                    <m:ctrlPr>
                      <a:rPr>
                        <a:latin typeface="Cambria Math" panose="02040503050406030204" pitchFamily="18" charset="0"/>
                      </a:rPr>
                    </m:ctrlPr>
                  </m:accPr>
                  <m:e>
                    <m:r>
                      <a:rPr>
                        <a:latin typeface="Cambria Math" panose="02040503050406030204" pitchFamily="18" charset="0"/>
                      </a:rPr>
                      <m:t>𝑇</m:t>
                    </m:r>
                  </m:e>
                </m:acc>
                <m:r>
                  <a:rPr>
                    <a:latin typeface="Cambria Math" panose="02040503050406030204" pitchFamily="18" charset="0"/>
                  </a:rPr>
                  <m:t>∣</m:t>
                </m:r>
                <m:acc>
                  <m:accPr>
                    <m:chr m:val="‾"/>
                    <m:ctrlPr>
                      <a:rPr>
                        <a:latin typeface="Cambria Math" panose="02040503050406030204" pitchFamily="18" charset="0"/>
                      </a:rPr>
                    </m:ctrlPr>
                  </m:accPr>
                  <m:e>
                    <m:r>
                      <a:rPr>
                        <a:latin typeface="Cambria Math" panose="02040503050406030204" pitchFamily="18" charset="0"/>
                      </a:rPr>
                      <m:t>𝐷</m:t>
                    </m:r>
                  </m:e>
                </m:acc>
                <m:r>
                  <a:rPr>
                    <a:latin typeface="Cambria Math" panose="02040503050406030204" pitchFamily="18" charset="0"/>
                  </a:rPr>
                  <m:t>)=0.90</m:t>
                </m:r>
              </m:oMath>
            </a14:m>
            <a:r>
              <a:t>.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What is the probability that a child with a positive test actually has malaria,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𝑃</m:t>
                </m:r>
                <m:r>
                  <a:rPr>
                    <a:latin typeface="Cambria Math" panose="02040503050406030204" pitchFamily="18" charset="0"/>
                  </a:rPr>
                  <m:t>(</m:t>
                </m:r>
                <m:r>
                  <a:rPr>
                    <a:latin typeface="Cambria Math" panose="02040503050406030204" pitchFamily="18" charset="0"/>
                  </a:rPr>
                  <m:t>𝐷</m:t>
                </m:r>
                <m:r>
                  <a:rPr>
                    <a:latin typeface="Cambria Math" panose="02040503050406030204" pitchFamily="18" charset="0"/>
                  </a:rPr>
                  <m:t>∣</m:t>
                </m:r>
                <m:r>
                  <a:rPr>
                    <a:latin typeface="Cambria Math" panose="02040503050406030204" pitchFamily="18" charset="0"/>
                  </a:rPr>
                  <m:t>𝑇</m:t>
                </m:r>
                <m:r>
                  <a:rPr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?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17</a:t>
            </a:fld>
            <a:endParaRPr lang="en-GB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Example: a malaria rapid diagnostic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We can write, using Bayes’ Rule: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/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𝑃</m:t>
                  </m:r>
                  <m:r>
                    <a:rPr>
                      <a:latin typeface="Cambria Math" panose="02040503050406030204" pitchFamily="18" charset="0"/>
                    </a:rPr>
                    <m:t>(</m:t>
                  </m:r>
                  <m:r>
                    <a:rPr>
                      <a:latin typeface="Cambria Math" panose="02040503050406030204" pitchFamily="18" charset="0"/>
                    </a:rPr>
                    <m:t>𝐷</m:t>
                  </m:r>
                  <m:r>
                    <a:rPr>
                      <a:latin typeface="Cambria Math" panose="02040503050406030204" pitchFamily="18" charset="0"/>
                    </a:rPr>
                    <m:t>∣</m:t>
                  </m:r>
                  <m:r>
                    <a:rPr>
                      <a:latin typeface="Cambria Math" panose="02040503050406030204" pitchFamily="18" charset="0"/>
                    </a:rPr>
                    <m:t>𝑇</m:t>
                  </m:r>
                  <m:r>
                    <a:rPr>
                      <a:latin typeface="Cambria Math" panose="02040503050406030204" pitchFamily="18" charset="0"/>
                    </a:rPr>
                    <m:t>)=</m:t>
                  </m:r>
                  <m:f>
                    <m:f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fPr>
                    <m:num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num>
                    <m:den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>
                          <a:latin typeface="Cambria Math" panose="02040503050406030204" pitchFamily="18" charset="0"/>
                        </a:rPr>
                        <m:t>∣</m:t>
                      </m:r>
                      <m:acc>
                        <m:accPr>
                          <m:chr m:val="‾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acc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‾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acc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den>
                  </m:f>
                  <m:r>
                    <a:rPr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/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The answer depends on the </a:t>
            </a:r>
            <a:r>
              <a:rPr b="1"/>
              <a:t>prior</a:t>
            </a:r>
            <a:r>
              <a:t> probability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𝑃</m:t>
                </m:r>
                <m:r>
                  <a:rPr>
                    <a:latin typeface="Cambria Math" panose="02040503050406030204" pitchFamily="18" charset="0"/>
                  </a:rPr>
                  <m:t>(</m:t>
                </m:r>
                <m:r>
                  <a:rPr>
                    <a:latin typeface="Cambria Math" panose="02040503050406030204" pitchFamily="18" charset="0"/>
                  </a:rPr>
                  <m:t>𝐷</m:t>
                </m:r>
                <m:r>
                  <a:rPr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, i.e. the prevalence where the child lives. Rather than computing one number, let us compute it for every prevalence: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18</a:t>
            </a:fld>
            <a:endParaRPr lang="en-GB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Example: a malaria rapid diagnostic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sens &lt;- </a:t>
            </a:r>
            <a:r>
              <a:rPr>
                <a:solidFill>
                  <a:srgbClr val="AD0000"/>
                </a:solidFill>
                <a:latin typeface="Courier"/>
              </a:rPr>
              <a:t>0.95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spec &lt;- </a:t>
            </a:r>
            <a:r>
              <a:rPr>
                <a:solidFill>
                  <a:srgbClr val="AD0000"/>
                </a:solidFill>
                <a:latin typeface="Courier"/>
              </a:rPr>
              <a:t>0.90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ppv &lt;- </a:t>
            </a:r>
            <a:r>
              <a:rPr b="1">
                <a:solidFill>
                  <a:srgbClr val="003B4F"/>
                </a:solidFill>
                <a:latin typeface="Courier"/>
              </a:rPr>
              <a:t>function</a:t>
            </a:r>
            <a:r>
              <a:rPr>
                <a:solidFill>
                  <a:srgbClr val="003B4F"/>
                </a:solidFill>
                <a:latin typeface="Courier"/>
              </a:rPr>
              <a:t>(prev) sens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prev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(sens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prev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spec)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prev))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tibble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prevalence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seq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0.001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500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ppv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ppv</a:t>
            </a:r>
            <a:r>
              <a:rPr>
                <a:solidFill>
                  <a:srgbClr val="003B4F"/>
                </a:solidFill>
                <a:latin typeface="Courier"/>
              </a:rPr>
              <a:t>(prevalence))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(prevalence, ppv))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colour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"steelblue"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geom_vline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xintercept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0.02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0.30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linetype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colour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"grey50"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"prior probability P(D) (prevalence)"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"posterior probability P(D | T+)"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19</a:t>
            </a:fld>
            <a:endParaRPr lang="en-GB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Example: a malaria rapid diagnostic test</a:t>
            </a:r>
          </a:p>
        </p:txBody>
      </p:sp>
      <p:pic>
        <p:nvPicPr>
          <p:cNvPr id="3" name="Picture 1" descr="Chanco_STA623_BDA_2026_Henrion_Session1_files/figure-pptx/unnamed-chunk-2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50900" y="1816100"/>
            <a:ext cx="10490200" cy="466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20</a:t>
            </a:fld>
            <a:endParaRPr lang="en-GB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Example: a malaria rapid diagnostic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In a low-transmission setting (2% prevalence) a positive result gives only a 16% probability of malaria; in a high-transmission setting (30%) it gives 80%.</a:t>
            </a:r>
          </a:p>
          <a:p>
            <a:pPr marL="0" lvl="0" indent="0">
              <a:buNone/>
            </a:pPr>
            <a:r>
              <a:t>Same test &amp; data, different prior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⇒</m:t>
                </m:r>
              </m:oMath>
            </a14:m>
            <a:r>
              <a:t> different conclusion.</a:t>
            </a:r>
          </a:p>
          <a:p>
            <a:pPr marL="0" lvl="0" indent="0">
              <a:buNone/>
            </a:pPr>
            <a:r>
              <a:t>This is Bayesian inference in miniature: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/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m>
                    <m:mPr>
                      <m:plcHide m:val="on"/>
                      <m:mcs>
                        <m:mc>
                          <m:mcPr>
                            <m:count m:val="5"/>
                            <m:mcJc m:val="center"/>
                          </m:mcPr>
                        </m:mc>
                      </m:mcs>
                      <m:ctrlPr>
                        <a:rPr>
                          <a:latin typeface="Cambria Math" panose="02040503050406030204" pitchFamily="18" charset="0"/>
                        </a:rPr>
                      </m:ctrlPr>
                    </m:mPr>
                    <m:m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∝</m:t>
                        </m:r>
                      </m:e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×</m:t>
                        </m:r>
                      </m:e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mr>
                    <m:mr>
                      <m:e>
                        <m:r>
                          <m:rPr>
                            <m:nor/>
                          </m:rPr>
                          <a:rPr i="0"/>
                          <m:t>posterior</m:t>
                        </m:r>
                      </m:e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∝</m:t>
                        </m:r>
                      </m:e>
                      <m:e>
                        <m:r>
                          <m:rPr>
                            <m:nor/>
                          </m:rPr>
                          <a:rPr i="0"/>
                          <m:t>likelihood</m:t>
                        </m:r>
                      </m:e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×</m:t>
                        </m:r>
                      </m:e>
                      <m:e>
                        <m:r>
                          <m:rPr>
                            <m:nor/>
                          </m:rPr>
                          <a:rPr i="0"/>
                          <m:t>prior</m:t>
                        </m:r>
                      </m:e>
                    </m:mr>
                  </m:m>
                </m:oMath>
              </m:oMathPara>
            </a14:m>
            <a:endParaRPr/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The denominator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𝑃</m:t>
                </m:r>
                <m:r>
                  <a:rPr>
                    <a:latin typeface="Cambria Math" panose="02040503050406030204" pitchFamily="18" charset="0"/>
                  </a:rPr>
                  <m:t>(</m:t>
                </m:r>
                <m:r>
                  <a:rPr>
                    <a:latin typeface="Cambria Math" panose="02040503050406030204" pitchFamily="18" charset="0"/>
                  </a:rPr>
                  <m:t>𝑇</m:t>
                </m:r>
                <m:r>
                  <a:rPr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does not depend on the hypothesis; it just makes the posterior probabilities add up to 1.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21</a:t>
            </a:fld>
            <a:endParaRPr lang="en-GB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From hypotheses to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Usually the “hypotheses” are the possible values of a parameter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𝜃</m:t>
                </m:r>
              </m:oMath>
            </a14:m>
            <a:r>
              <a:t>, and the “evidence” is a dataset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𝒚</m:t>
                </m:r>
              </m:oMath>
            </a14:m>
            <a:r>
              <a:t>. Bayes’ rule for densities is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/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𝑝</m:t>
                  </m:r>
                  <m:r>
                    <a:rPr>
                      <a:latin typeface="Cambria Math" panose="02040503050406030204" pitchFamily="18" charset="0"/>
                    </a:rPr>
                    <m:t>(</m:t>
                  </m:r>
                  <m:r>
                    <a:rPr>
                      <a:latin typeface="Cambria Math" panose="02040503050406030204" pitchFamily="18" charset="0"/>
                    </a:rPr>
                    <m:t>𝜃</m:t>
                  </m:r>
                  <m:r>
                    <a:rPr>
                      <a:latin typeface="Cambria Math" panose="02040503050406030204" pitchFamily="18" charset="0"/>
                    </a:rPr>
                    <m:t>∣</m:t>
                  </m:r>
                  <m:r>
                    <a:rPr>
                      <a:latin typeface="Cambria Math" panose="02040503050406030204" pitchFamily="18" charset="0"/>
                    </a:rPr>
                    <m:t>𝒚</m:t>
                  </m:r>
                  <m:r>
                    <a:rPr>
                      <a:latin typeface="Cambria Math" panose="02040503050406030204" pitchFamily="18" charset="0"/>
                    </a:rPr>
                    <m:t>)=</m:t>
                  </m:r>
                  <m:f>
                    <m:f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fPr>
                    <m:num>
                      <m:r>
                        <a:rPr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>
                          <a:latin typeface="Cambria Math" panose="02040503050406030204" pitchFamily="18" charset="0"/>
                        </a:rPr>
                        <m:t>) 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num>
                    <m:den>
                      <m:r>
                        <a:rPr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den>
                  </m:f>
                  <m:r>
                    <a:rPr>
                      <a:latin typeface="Cambria Math" panose="02040503050406030204" pitchFamily="18" charset="0"/>
                    </a:rPr>
                    <m:t>,  </m:t>
                  </m:r>
                  <m:r>
                    <a:rPr>
                      <a:latin typeface="Cambria Math" panose="02040503050406030204" pitchFamily="18" charset="0"/>
                    </a:rPr>
                    <m:t>𝑝</m:t>
                  </m:r>
                  <m:r>
                    <a:rPr>
                      <a:latin typeface="Cambria Math" panose="02040503050406030204" pitchFamily="18" charset="0"/>
                    </a:rPr>
                    <m:t>(</m:t>
                  </m:r>
                  <m:r>
                    <a:rPr>
                      <a:latin typeface="Cambria Math" panose="02040503050406030204" pitchFamily="18" charset="0"/>
                    </a:rPr>
                    <m:t>𝒚</m:t>
                  </m:r>
                  <m:r>
                    <a:rPr>
                      <a:latin typeface="Cambria Math" panose="02040503050406030204" pitchFamily="18" charset="0"/>
                    </a:rPr>
                    <m:t>)=∫</m:t>
                  </m:r>
                  <m:r>
                    <a:rPr>
                      <a:latin typeface="Cambria Math" panose="02040503050406030204" pitchFamily="18" charset="0"/>
                    </a:rPr>
                    <m:t>𝑝</m:t>
                  </m:r>
                  <m:r>
                    <a:rPr>
                      <a:latin typeface="Cambria Math" panose="02040503050406030204" pitchFamily="18" charset="0"/>
                    </a:rPr>
                    <m:t>(</m:t>
                  </m:r>
                  <m:r>
                    <a:rPr>
                      <a:latin typeface="Cambria Math" panose="02040503050406030204" pitchFamily="18" charset="0"/>
                    </a:rPr>
                    <m:t>𝒚</m:t>
                  </m:r>
                  <m:r>
                    <a:rPr>
                      <a:latin typeface="Cambria Math" panose="02040503050406030204" pitchFamily="18" charset="0"/>
                    </a:rPr>
                    <m:t>∣</m:t>
                  </m:r>
                  <m:r>
                    <a:rPr>
                      <a:latin typeface="Cambria Math" panose="02040503050406030204" pitchFamily="18" charset="0"/>
                    </a:rPr>
                    <m:t>𝜃</m:t>
                  </m:r>
                  <m:r>
                    <a:rPr>
                      <a:latin typeface="Cambria Math" panose="02040503050406030204" pitchFamily="18" charset="0"/>
                    </a:rPr>
                    <m:t>) </m:t>
                  </m:r>
                  <m:r>
                    <a:rPr>
                      <a:latin typeface="Cambria Math" panose="02040503050406030204" pitchFamily="18" charset="0"/>
                    </a:rPr>
                    <m:t>𝑝</m:t>
                  </m:r>
                  <m:r>
                    <a:rPr>
                      <a:latin typeface="Cambria Math" panose="02040503050406030204" pitchFamily="18" charset="0"/>
                    </a:rPr>
                    <m:t>(</m:t>
                  </m:r>
                  <m:r>
                    <a:rPr>
                      <a:latin typeface="Cambria Math" panose="02040503050406030204" pitchFamily="18" charset="0"/>
                    </a:rPr>
                    <m:t>𝜃</m:t>
                  </m:r>
                  <m:r>
                    <a:rPr>
                      <a:latin typeface="Cambria Math" panose="02040503050406030204" pitchFamily="18" charset="0"/>
                    </a:rPr>
                    <m:t>) </m:t>
                  </m:r>
                  <m:r>
                    <a:rPr>
                      <a:latin typeface="Cambria Math" panose="02040503050406030204" pitchFamily="18" charset="0"/>
                    </a:rPr>
                    <m:t>𝑑</m:t>
                  </m:r>
                  <m:r>
                    <a:rPr>
                      <a:latin typeface="Cambria Math" panose="02040503050406030204" pitchFamily="18" charset="0"/>
                    </a:rPr>
                    <m:t>𝜃</m:t>
                  </m:r>
                  <m:r>
                    <a:rPr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  <a:endParaRPr/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and since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𝑝</m:t>
                </m:r>
                <m:r>
                  <a:rPr>
                    <a:latin typeface="Cambria Math" panose="02040503050406030204" pitchFamily="18" charset="0"/>
                  </a:rPr>
                  <m:t>(</m:t>
                </m:r>
                <m:r>
                  <a:rPr>
                    <a:latin typeface="Cambria Math" panose="02040503050406030204" pitchFamily="18" charset="0"/>
                  </a:rPr>
                  <m:t>𝒚</m:t>
                </m:r>
                <m:r>
                  <a:rPr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is a constant once the data are observed,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/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borderBox>
                    <m:borderBox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borderBoxPr>
                    <m:e>
                      <m:r>
                        <a:rPr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>
                          <a:latin typeface="Cambria Math" panose="02040503050406030204" pitchFamily="18" charset="0"/>
                        </a:rPr>
                        <m:t>) ∝ 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>
                          <a:latin typeface="Cambria Math" panose="02040503050406030204" pitchFamily="18" charset="0"/>
                        </a:rPr>
                        <m:t>) 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>
                          <a:latin typeface="Cambria Math" panose="02040503050406030204" pitchFamily="18" charset="0"/>
                        </a:rPr>
                        <m:t>) </m:t>
                      </m:r>
                    </m:e>
                  </m:borderBox>
                  <m:r>
                    <a:rPr>
                      <a:latin typeface="Cambria Math" panose="02040503050406030204" pitchFamily="18" charset="0"/>
                    </a:rPr>
                    <m:t>  </m:t>
                  </m:r>
                  <m:r>
                    <m:rPr>
                      <m:nor/>
                    </m:rPr>
                    <a:rPr i="0"/>
                    <m:t>posterior</m:t>
                  </m:r>
                  <m:r>
                    <a:rPr>
                      <a:latin typeface="Cambria Math" panose="02040503050406030204" pitchFamily="18" charset="0"/>
                    </a:rPr>
                    <m:t>∝</m:t>
                  </m:r>
                  <m:r>
                    <m:rPr>
                      <m:nor/>
                    </m:rPr>
                    <a:rPr i="0"/>
                    <m:t>likelihood</m:t>
                  </m:r>
                  <m:r>
                    <a:rPr>
                      <a:latin typeface="Cambria Math" panose="02040503050406030204" pitchFamily="18" charset="0"/>
                    </a:rPr>
                    <m:t>×</m:t>
                  </m:r>
                  <m:r>
                    <m:rPr>
                      <m:nor/>
                    </m:rPr>
                    <a:rPr i="0"/>
                    <m:t>prior</m:t>
                  </m:r>
                  <m:r>
                    <a:rPr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22</a:t>
            </a:fld>
            <a:endParaRPr lang="en-GB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Bayesian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Everything in this course follows from this line. The ingredients are:</a:t>
            </a:r>
          </a:p>
          <a:p>
            <a:pPr lvl="0"/>
            <a:r>
              <a:t>The </a:t>
            </a:r>
            <a:r>
              <a:rPr b="1"/>
              <a:t>sampling model</a:t>
            </a:r>
            <a:r>
              <a:t>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𝑝</m:t>
                </m:r>
                <m:r>
                  <a:rPr>
                    <a:latin typeface="Cambria Math" panose="02040503050406030204" pitchFamily="18" charset="0"/>
                  </a:rPr>
                  <m:t>(</m:t>
                </m:r>
                <m:r>
                  <a:rPr>
                    <a:latin typeface="Cambria Math" panose="02040503050406030204" pitchFamily="18" charset="0"/>
                  </a:rPr>
                  <m:t>𝒚</m:t>
                </m:r>
                <m:r>
                  <a:rPr>
                    <a:latin typeface="Cambria Math" panose="02040503050406030204" pitchFamily="18" charset="0"/>
                  </a:rPr>
                  <m:t>∣</m:t>
                </m:r>
                <m:r>
                  <a:rPr>
                    <a:latin typeface="Cambria Math" panose="02040503050406030204" pitchFamily="18" charset="0"/>
                  </a:rPr>
                  <m:t>𝜃</m:t>
                </m:r>
                <m:r>
                  <a:rPr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: how data are generated if we knew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𝜃</m:t>
                </m:r>
              </m:oMath>
            </a14:m>
            <a:r>
              <a:t>. Viewed as a function of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𝜃</m:t>
                </m:r>
              </m:oMath>
            </a14:m>
            <a:r>
              <a:t> for fixed data it is the </a:t>
            </a:r>
            <a:r>
              <a:rPr b="1"/>
              <a:t>likelihood</a:t>
            </a:r>
            <a:r>
              <a:t>, the same object you use in GLMs;</a:t>
            </a:r>
          </a:p>
          <a:p>
            <a:pPr lvl="0"/>
            <a:r>
              <a:t>The </a:t>
            </a:r>
            <a:r>
              <a:rPr b="1"/>
              <a:t>prior</a:t>
            </a:r>
            <a:r>
              <a:t>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𝑝</m:t>
                </m:r>
                <m:r>
                  <a:rPr>
                    <a:latin typeface="Cambria Math" panose="02040503050406030204" pitchFamily="18" charset="0"/>
                  </a:rPr>
                  <m:t>(</m:t>
                </m:r>
                <m:r>
                  <a:rPr>
                    <a:latin typeface="Cambria Math" panose="02040503050406030204" pitchFamily="18" charset="0"/>
                  </a:rPr>
                  <m:t>𝜃</m:t>
                </m:r>
                <m:r>
                  <a:rPr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: what we know about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𝜃</m:t>
                </m:r>
              </m:oMath>
            </a14:m>
            <a:r>
              <a:t> before seeing these data;</a:t>
            </a:r>
          </a:p>
          <a:p>
            <a:pPr lvl="0"/>
            <a:r>
              <a:t>The </a:t>
            </a:r>
            <a:r>
              <a:rPr b="1"/>
              <a:t>posterior</a:t>
            </a:r>
            <a:r>
              <a:t>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𝑝</m:t>
                </m:r>
                <m:r>
                  <a:rPr>
                    <a:latin typeface="Cambria Math" panose="02040503050406030204" pitchFamily="18" charset="0"/>
                  </a:rPr>
                  <m:t>(</m:t>
                </m:r>
                <m:r>
                  <a:rPr>
                    <a:latin typeface="Cambria Math" panose="02040503050406030204" pitchFamily="18" charset="0"/>
                  </a:rPr>
                  <m:t>𝜃</m:t>
                </m:r>
                <m:r>
                  <a:rPr>
                    <a:latin typeface="Cambria Math" panose="02040503050406030204" pitchFamily="18" charset="0"/>
                  </a:rPr>
                  <m:t>∣</m:t>
                </m:r>
                <m:r>
                  <a:rPr>
                    <a:latin typeface="Cambria Math" panose="02040503050406030204" pitchFamily="18" charset="0"/>
                  </a:rPr>
                  <m:t>𝒚</m:t>
                </m:r>
                <m:r>
                  <a:rPr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: what we know after seeing the data;</a:t>
            </a:r>
          </a:p>
          <a:p>
            <a:pPr lvl="0"/>
            <a:r>
              <a:t>The </a:t>
            </a:r>
            <a:r>
              <a:rPr b="1"/>
              <a:t>marginal likelihood</a:t>
            </a:r>
            <a:r>
              <a:t> or </a:t>
            </a:r>
            <a:r>
              <a:rPr b="1"/>
              <a:t>evidence</a:t>
            </a:r>
            <a:r>
              <a:t>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𝑝</m:t>
                </m:r>
                <m:r>
                  <a:rPr>
                    <a:latin typeface="Cambria Math" panose="02040503050406030204" pitchFamily="18" charset="0"/>
                  </a:rPr>
                  <m:t>(</m:t>
                </m:r>
                <m:r>
                  <a:rPr>
                    <a:latin typeface="Cambria Math" panose="02040503050406030204" pitchFamily="18" charset="0"/>
                  </a:rPr>
                  <m:t>𝒚</m:t>
                </m:r>
                <m:r>
                  <a:rPr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: the normalising constant. It is usually the hard part to compute, and most computational methods in this course are designed to </a:t>
            </a:r>
            <a:r>
              <a:rPr i="1"/>
              <a:t>avoid</a:t>
            </a:r>
            <a:r>
              <a:t> computing it.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23</a:t>
            </a:fld>
            <a:endParaRPr lang="en-GB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11042-BDFA-4708-84AB-F848A1D5D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marL="0" lvl="0" indent="0">
              <a:buNone/>
            </a:pPr>
            <a:r>
              <a:t>A first computational method: grid approximation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AAC92-EEED-4232-ACDE-84003A647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24</a:t>
            </a:fld>
            <a:endParaRPr lang="en-GB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Grid approximation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Example.</a:t>
            </a:r>
          </a:p>
          <a:p>
            <a:pPr marL="0" lvl="0" indent="0">
              <a:buNone/>
            </a:pPr>
            <a:r>
              <a:t>A district health team wants to estimate the prevalence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𝜋</m:t>
                </m:r>
              </m:oMath>
            </a14:m>
            <a:r>
              <a:t> of malaria parasitaemia among under-fives in a village. They test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𝑛</m:t>
                </m:r>
                <m:r>
                  <a:rPr>
                    <a:latin typeface="Cambria Math" panose="02040503050406030204" pitchFamily="18" charset="0"/>
                  </a:rPr>
                  <m:t>=30</m:t>
                </m:r>
              </m:oMath>
            </a14:m>
            <a:r>
              <a:t> children and find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𝑘</m:t>
                </m:r>
                <m:r>
                  <a:rPr>
                    <a:latin typeface="Cambria Math" panose="02040503050406030204" pitchFamily="18" charset="0"/>
                  </a:rPr>
                  <m:t>=9</m:t>
                </m:r>
              </m:oMath>
            </a14:m>
            <a:r>
              <a:t> positive.</a:t>
            </a:r>
          </a:p>
          <a:p>
            <a:pPr marL="0" lvl="0" indent="0">
              <a:buNone/>
            </a:pPr>
            <a:r>
              <a:t>A survey two years ago in a neighbouring village suggested prevalence around 20-30%.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/>
          </a:p>
          <a:p>
            <a:pPr lvl="0"/>
            <a:r>
              <a:t>What is the sampling model?</a:t>
            </a:r>
          </a:p>
          <a:p>
            <a:pPr lvl="0"/>
            <a:r>
              <a:t>How would you encode a prior based on the previous survey?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25</a:t>
            </a:fld>
            <a:endParaRPr lang="en-GB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Grid approximation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Example.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 b="1"/>
          </a:p>
          <a:p>
            <a:pPr lvl="0"/>
            <a:r>
              <a:t>Sampling model: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𝑌</m:t>
                </m:r>
                <m:r>
                  <a:rPr>
                    <a:latin typeface="Cambria Math" panose="02040503050406030204" pitchFamily="18" charset="0"/>
                  </a:rPr>
                  <m:t>∣</m:t>
                </m:r>
                <m:r>
                  <a:rPr>
                    <a:latin typeface="Cambria Math" panose="02040503050406030204" pitchFamily="18" charset="0"/>
                  </a:rPr>
                  <m:t>𝜋</m:t>
                </m:r>
                <m:r>
                  <a:rPr>
                    <a:latin typeface="Cambria Math" panose="02040503050406030204" pitchFamily="18" charset="0"/>
                  </a:rPr>
                  <m:t>∼</m:t>
                </m:r>
                <m:r>
                  <m:rPr>
                    <m:nor/>
                  </m:rPr>
                  <a:rPr i="0"/>
                  <m:t>Bin</m:t>
                </m:r>
                <m:r>
                  <a:rPr>
                    <a:latin typeface="Cambria Math" panose="02040503050406030204" pitchFamily="18" charset="0"/>
                  </a:rPr>
                  <m:t>(</m:t>
                </m:r>
                <m:r>
                  <a:rPr>
                    <a:latin typeface="Cambria Math" panose="02040503050406030204" pitchFamily="18" charset="0"/>
                  </a:rPr>
                  <m:t>𝑛</m:t>
                </m:r>
                <m:r>
                  <a:rPr>
                    <a:latin typeface="Cambria Math" panose="02040503050406030204" pitchFamily="18" charset="0"/>
                  </a:rPr>
                  <m:t>=30,</m:t>
                </m:r>
                <m:r>
                  <a:rPr>
                    <a:latin typeface="Cambria Math" panose="02040503050406030204" pitchFamily="18" charset="0"/>
                  </a:rPr>
                  <m:t>𝜋</m:t>
                </m:r>
                <m:r>
                  <a:rPr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.</a:t>
            </a:r>
          </a:p>
          <a:p>
            <a:pPr lvl="0"/>
            <a:r>
              <a:t>Prior: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𝜋</m:t>
                </m:r>
                <m:r>
                  <a:rPr>
                    <a:latin typeface="Cambria Math" panose="02040503050406030204" pitchFamily="18" charset="0"/>
                  </a:rPr>
                  <m:t>∼</m:t>
                </m:r>
                <m:r>
                  <m:rPr>
                    <m:nor/>
                  </m:rPr>
                  <a:rPr i="0"/>
                  <m:t>Beta</m:t>
                </m:r>
                <m:r>
                  <a:rPr>
                    <a:latin typeface="Cambria Math" panose="02040503050406030204" pitchFamily="18" charset="0"/>
                  </a:rPr>
                  <m:t>(2,5)</m:t>
                </m:r>
              </m:oMath>
            </a14:m>
            <a:r>
              <a:t>, which has mean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2/7≈0.29</m:t>
                </m:r>
              </m:oMath>
            </a14:m>
            <a:r>
              <a:t> and is fairly wide.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We do not need any integration to find the posterior. We can evaluate </a:t>
            </a:r>
            <a14:m xmlns:a14="http://schemas.microsoft.com/office/drawing/2010/main">
              <m:oMath xmlns:m="http://schemas.openxmlformats.org/officeDocument/2006/math">
                <m:r>
                  <m:rPr>
                    <m:nor/>
                  </m:rPr>
                  <a:rPr i="0"/>
                  <m:t>likelihood</m:t>
                </m:r>
                <m:r>
                  <a:rPr>
                    <a:latin typeface="Cambria Math" panose="02040503050406030204" pitchFamily="18" charset="0"/>
                  </a:rPr>
                  <m:t>×</m:t>
                </m:r>
                <m:r>
                  <m:rPr>
                    <m:nor/>
                  </m:rPr>
                  <a:rPr i="0"/>
                  <m:t>prior</m:t>
                </m:r>
              </m:oMath>
            </a14:m>
            <a:r>
              <a:t> on a fine grid of values for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𝜋</m:t>
                </m:r>
              </m:oMath>
            </a14:m>
            <a:r>
              <a:t> and normalise numerically.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26</a:t>
            </a:fld>
            <a:endParaRPr lang="en-GB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Grid approximation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n &lt;- </a:t>
            </a:r>
            <a:r>
              <a:rPr>
                <a:solidFill>
                  <a:srgbClr val="AD0000"/>
                </a:solidFill>
                <a:latin typeface="Courier"/>
              </a:rPr>
              <a:t>30</a:t>
            </a:r>
            <a:r>
              <a:rPr>
                <a:solidFill>
                  <a:srgbClr val="003B4F"/>
                </a:solidFill>
                <a:latin typeface="Courier"/>
              </a:rPr>
              <a:t>; k &lt;- </a:t>
            </a:r>
            <a:r>
              <a:rPr>
                <a:solidFill>
                  <a:srgbClr val="AD0000"/>
                </a:solidFill>
                <a:latin typeface="Courier"/>
              </a:rPr>
              <a:t>9</a:t>
            </a:r>
            <a:br/>
            <a:r>
              <a:rPr>
                <a:solidFill>
                  <a:srgbClr val="003B4F"/>
                </a:solidFill>
                <a:latin typeface="Courier"/>
              </a:rPr>
              <a:t>a &lt;-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; b &lt;-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grid &lt;- </a:t>
            </a:r>
            <a:r>
              <a:rPr>
                <a:solidFill>
                  <a:srgbClr val="4758AB"/>
                </a:solidFill>
                <a:latin typeface="Courier"/>
              </a:rPr>
              <a:t>tibble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pi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seq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1001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prior 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dbeta</a:t>
            </a:r>
            <a:r>
              <a:rPr>
                <a:solidFill>
                  <a:srgbClr val="003B4F"/>
                </a:solidFill>
                <a:latin typeface="Courier"/>
              </a:rPr>
              <a:t>(pi, a, b),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</a:t>
            </a:r>
            <a:r>
              <a:rPr>
                <a:solidFill>
                  <a:srgbClr val="657422"/>
                </a:solidFill>
                <a:latin typeface="Courier"/>
              </a:rPr>
              <a:t>likelihood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dbinom</a:t>
            </a:r>
            <a:r>
              <a:rPr>
                <a:solidFill>
                  <a:srgbClr val="003B4F"/>
                </a:solidFill>
                <a:latin typeface="Courier"/>
              </a:rPr>
              <a:t>(k,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n, </a:t>
            </a:r>
            <a:r>
              <a:rPr>
                <a:solidFill>
                  <a:srgbClr val="657422"/>
                </a:solidFill>
                <a:latin typeface="Courier"/>
              </a:rPr>
              <a:t>prob =</a:t>
            </a:r>
            <a:r>
              <a:rPr>
                <a:solidFill>
                  <a:srgbClr val="003B4F"/>
                </a:solidFill>
                <a:latin typeface="Courier"/>
              </a:rPr>
              <a:t> pi),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</a:t>
            </a:r>
            <a:r>
              <a:rPr>
                <a:solidFill>
                  <a:srgbClr val="657422"/>
                </a:solidFill>
                <a:latin typeface="Courier"/>
              </a:rPr>
              <a:t>unnorm     =</a:t>
            </a:r>
            <a:r>
              <a:rPr>
                <a:solidFill>
                  <a:srgbClr val="003B4F"/>
                </a:solidFill>
                <a:latin typeface="Courier"/>
              </a:rPr>
              <a:t> likelihood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prior,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</a:t>
            </a:r>
            <a:r>
              <a:rPr>
                <a:solidFill>
                  <a:srgbClr val="657422"/>
                </a:solidFill>
                <a:latin typeface="Courier"/>
              </a:rPr>
              <a:t>posterior  =</a:t>
            </a:r>
            <a:r>
              <a:rPr>
                <a:solidFill>
                  <a:srgbClr val="003B4F"/>
                </a:solidFill>
                <a:latin typeface="Courier"/>
              </a:rPr>
              <a:t> unnorm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(unnorm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0.001</a:t>
            </a:r>
            <a:r>
              <a:rPr>
                <a:solidFill>
                  <a:srgbClr val="003B4F"/>
                </a:solidFill>
                <a:latin typeface="Courier"/>
              </a:rPr>
              <a:t>))   </a:t>
            </a:r>
            <a:r>
              <a:rPr>
                <a:solidFill>
                  <a:srgbClr val="5E5E5E"/>
                </a:solidFill>
                <a:latin typeface="Courier"/>
              </a:rPr>
              <a:t># 0.001 = grid spacing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grid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likelihood =</a:t>
            </a:r>
            <a:r>
              <a:rPr>
                <a:solidFill>
                  <a:srgbClr val="003B4F"/>
                </a:solidFill>
                <a:latin typeface="Courier"/>
              </a:rPr>
              <a:t> likelihood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(likelihood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0.001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scaled for plotting only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pivot_longer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(prior, likelihood, posterior), </a:t>
            </a:r>
            <a:r>
              <a:rPr>
                <a:solidFill>
                  <a:srgbClr val="657422"/>
                </a:solidFill>
                <a:latin typeface="Courier"/>
              </a:rPr>
              <a:t>names_to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"curve"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curve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factor</a:t>
            </a:r>
            <a:r>
              <a:rPr>
                <a:solidFill>
                  <a:srgbClr val="003B4F"/>
                </a:solidFill>
                <a:latin typeface="Courier"/>
              </a:rPr>
              <a:t>(curve, </a:t>
            </a:r>
            <a:r>
              <a:rPr>
                <a:solidFill>
                  <a:srgbClr val="657422"/>
                </a:solidFill>
                <a:latin typeface="Courier"/>
              </a:rPr>
              <a:t>levels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"prior"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"likelihood"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"posterior"</a:t>
            </a:r>
            <a:r>
              <a:rPr>
                <a:solidFill>
                  <a:srgbClr val="003B4F"/>
                </a:solidFill>
                <a:latin typeface="Courier"/>
              </a:rPr>
              <a:t>)))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(pi, value, </a:t>
            </a:r>
            <a:r>
              <a:rPr>
                <a:solidFill>
                  <a:srgbClr val="657422"/>
                </a:solidFill>
                <a:latin typeface="Courier"/>
              </a:rPr>
              <a:t>colour =</a:t>
            </a:r>
            <a:r>
              <a:rPr>
                <a:solidFill>
                  <a:srgbClr val="003B4F"/>
                </a:solidFill>
                <a:latin typeface="Courier"/>
              </a:rPr>
              <a:t> curve))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scale_colour_manual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values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"steelblue"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"salmon"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"mediumorchid"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expression</a:t>
            </a:r>
            <a:r>
              <a:rPr>
                <a:solidFill>
                  <a:srgbClr val="003B4F"/>
                </a:solidFill>
                <a:latin typeface="Courier"/>
              </a:rPr>
              <a:t>(pi),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"density"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colour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NULL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27</a:t>
            </a:fld>
            <a:endParaRPr lang="en-GB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Grid approximation</a:t>
            </a:r>
          </a:p>
        </p:txBody>
      </p:sp>
      <p:pic>
        <p:nvPicPr>
          <p:cNvPr id="3" name="Picture 1" descr="Chanco_STA623_BDA_2026_Henrion_Session1_files/figure-pptx/unnamed-chunk-4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05000" y="1816100"/>
            <a:ext cx="8394700" cy="466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28</a:t>
            </a:fld>
            <a:endParaRPr lang="en-GB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lvl="0" indent="0">
                  <a:buNone/>
                </a:pPr>
                <a:r>
                  <a:t>The posterior is a compromise between prior and likelihood, and it is narrower than either: combining two sources of information reduces uncertainty.</a:t>
                </a:r>
              </a:p>
              <a:p>
                <a:pPr marL="0" lvl="0" indent="0">
                  <a:buNone/>
                </a:pPr>
                <a:r>
                  <a:rPr b="1"/>
                  <a:t>Notes:</a:t>
                </a:r>
              </a:p>
              <a:p>
                <a:pPr lvl="0"/>
                <a:r>
                  <a:t>With many observations,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𝑝</m:t>
                    </m:r>
                    <m:r>
                      <a:rPr>
                        <a:latin typeface="Cambria Math" panose="02040503050406030204" pitchFamily="18" charset="0"/>
                      </a:rPr>
                      <m:t>(</m:t>
                    </m:r>
                    <m:r>
                      <a:rPr>
                        <a:latin typeface="Cambria Math" panose="02040503050406030204" pitchFamily="18" charset="0"/>
                      </a:rPr>
                      <m:t>𝒚</m:t>
                    </m:r>
                    <m:r>
                      <a:rPr>
                        <a:latin typeface="Cambria Math" panose="02040503050406030204" pitchFamily="18" charset="0"/>
                      </a:rPr>
                      <m:t>∣</m:t>
                    </m:r>
                    <m:r>
                      <a:rPr>
                        <a:latin typeface="Cambria Math" panose="02040503050406030204" pitchFamily="18" charset="0"/>
                      </a:rPr>
                      <m:t>𝜃</m:t>
                    </m:r>
                    <m:r>
                      <a:rPr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t> is a product of many small numbers and underflows to 0 on a computer. Always compute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log</m:t>
                    </m:r>
                    <m:r>
                      <a:rPr>
                        <a:latin typeface="Cambria Math" panose="02040503050406030204" pitchFamily="18" charset="0"/>
                      </a:rPr>
                      <m:t> </m:t>
                    </m:r>
                    <m:r>
                      <a:rPr>
                        <a:latin typeface="Cambria Math" panose="02040503050406030204" pitchFamily="18" charset="0"/>
                      </a:rPr>
                      <m:t>𝑝</m:t>
                    </m:r>
                    <m:r>
                      <a:rPr>
                        <a:latin typeface="Cambria Math" panose="02040503050406030204" pitchFamily="18" charset="0"/>
                      </a:rPr>
                      <m:t>(</m:t>
                    </m:r>
                    <m:r>
                      <a:rPr>
                        <a:latin typeface="Cambria Math" panose="02040503050406030204" pitchFamily="18" charset="0"/>
                      </a:rPr>
                      <m:t>𝒚</m:t>
                    </m:r>
                    <m:r>
                      <a:rPr>
                        <a:latin typeface="Cambria Math" panose="02040503050406030204" pitchFamily="18" charset="0"/>
                      </a:rPr>
                      <m:t>∣</m:t>
                    </m:r>
                    <m:r>
                      <a:rPr>
                        <a:latin typeface="Cambria Math" panose="02040503050406030204" pitchFamily="18" charset="0"/>
                      </a:rPr>
                      <m:t>𝜃</m:t>
                    </m:r>
                    <m:r>
                      <a:rPr>
                        <a:latin typeface="Cambria Math" panose="02040503050406030204" pitchFamily="18" charset="0"/>
                      </a:rPr>
                      <m:t>)+</m:t>
                    </m:r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log</m:t>
                    </m:r>
                    <m:r>
                      <a:rPr>
                        <a:latin typeface="Cambria Math" panose="02040503050406030204" pitchFamily="18" charset="0"/>
                      </a:rPr>
                      <m:t> </m:t>
                    </m:r>
                    <m:r>
                      <a:rPr>
                        <a:latin typeface="Cambria Math" panose="02040503050406030204" pitchFamily="18" charset="0"/>
                      </a:rPr>
                      <m:t>𝑝</m:t>
                    </m:r>
                    <m:r>
                      <a:rPr>
                        <a:latin typeface="Cambria Math" panose="02040503050406030204" pitchFamily="18" charset="0"/>
                      </a:rPr>
                      <m:t>(</m:t>
                    </m:r>
                    <m:r>
                      <a:rPr>
                        <a:latin typeface="Cambria Math" panose="02040503050406030204" pitchFamily="18" charset="0"/>
                      </a:rPr>
                      <m:t>𝜃</m:t>
                    </m:r>
                    <m:r>
                      <a:rPr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t>, subtract its maximum (for stabilisation), and only then exponentiate.</a:t>
                </a:r>
              </a:p>
              <a:p>
                <a:pPr lvl="0"/>
                <a:r>
                  <a:t>A </a:t>
                </a:r>
                <a:r>
                  <a:rPr b="1"/>
                  <a:t>discrete prior</a:t>
                </a:r>
                <a:r>
                  <a:t> (e.g. “the coin is one of three coins with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𝜋</m:t>
                    </m:r>
                    <m:r>
                      <a:rPr>
                        <a:latin typeface="Cambria Math" panose="02040503050406030204" pitchFamily="18" charset="0"/>
                      </a:rPr>
                      <m:t>=0.3,0.5,0.8</m:t>
                    </m:r>
                  </m:oMath>
                </a14:m>
                <a:r>
                  <a:t>”) is simply a grid with very few points: exactly the same code works.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981" r="-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29</a:t>
            </a:fld>
            <a:endParaRPr lang="en-GB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Summarising a grid posterior by sampling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Once we have the posterior on a grid, the easiest way to summarise it is to </a:t>
            </a:r>
            <a:r>
              <a:rPr b="1"/>
              <a:t>draw samples</a:t>
            </a:r>
            <a:r>
              <a:t> from it. This idea (replace a distribution by a large sample from it) is the foundation of everything in Lectures 3-5.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Posterior mean, standard deviation, median, 95% credible interval, and, for example, the probability that prevalence exceeds 40%: all of this can be obtained with a single line of code each, and no calculus.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30</a:t>
            </a:fld>
            <a:endParaRPr lang="en-GB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Summarising a grid posterior by sampling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draws &lt;- </a:t>
            </a:r>
            <a:r>
              <a:rPr>
                <a:solidFill>
                  <a:srgbClr val="4758AB"/>
                </a:solidFill>
                <a:latin typeface="Courier"/>
              </a:rPr>
              <a:t>sample</a:t>
            </a:r>
            <a:r>
              <a:rPr>
                <a:solidFill>
                  <a:srgbClr val="003B4F"/>
                </a:solidFill>
                <a:latin typeface="Courier"/>
              </a:rPr>
              <a:t>(grid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pi,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1e5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replace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prob =</a:t>
            </a:r>
            <a:r>
              <a:rPr>
                <a:solidFill>
                  <a:srgbClr val="003B4F"/>
                </a:solidFill>
                <a:latin typeface="Courier"/>
              </a:rPr>
              <a:t> grid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posterior)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post_mean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(draws),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post_sd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(draws),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quantile</a:t>
            </a:r>
            <a:r>
              <a:rPr>
                <a:solidFill>
                  <a:srgbClr val="003B4F"/>
                </a:solidFill>
                <a:latin typeface="Courier"/>
              </a:rPr>
              <a:t>(draws,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0.025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0.975</a:t>
            </a:r>
            <a:r>
              <a:rPr>
                <a:solidFill>
                  <a:srgbClr val="003B4F"/>
                </a:solidFill>
                <a:latin typeface="Courier"/>
              </a:rPr>
              <a:t>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P_above_0.4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(draws 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0.4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</a:p>
          <a:p>
            <a:pPr lvl="0" indent="0">
              <a:buNone/>
            </a:pPr>
            <a:r>
              <a:rPr>
                <a:latin typeface="Courier"/>
              </a:rPr>
              <a:t>  post_mean     post_sd        2.5%         50%       97.5% P_above_0.4 
 0.29711721  0.07414671  0.16300000  0.29300000  0.45200000  0.08868000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31</a:t>
            </a:fld>
            <a:endParaRPr lang="en-GB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exact answer: conjugacy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For this particular prior/likelihood pair we can also get the posterior exactly. Keeping only factors that depend on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𝜋</m:t>
                </m:r>
              </m:oMath>
            </a14:m>
            <a:r>
              <a:t>: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/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eqArr>
                    <m:eqArr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eqArrPr>
                    <m:e>
                      <m:r>
                        <a:rPr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>
                          <a:latin typeface="Cambria Math" panose="02040503050406030204" pitchFamily="18" charset="0"/>
                        </a:rPr>
                        <m:t>)&amp;∝&amp;</m:t>
                      </m:r>
                      <m:r>
                        <m:rPr>
                          <m:nor/>
                        </m:rPr>
                        <a:rPr i="0"/>
                        <m:t>likelihood</m:t>
                      </m:r>
                      <m:r>
                        <a:rPr>
                          <a:latin typeface="Cambria Math" panose="02040503050406030204" pitchFamily="18" charset="0"/>
                        </a:rPr>
                        <m:t>&amp;×</m:t>
                      </m:r>
                      <m:r>
                        <m:rPr>
                          <m:nor/>
                        </m:rPr>
                        <a:rPr i="0"/>
                        <m:t>prior</m:t>
                      </m:r>
                    </m:e>
                    <m:e>
                      <m:r>
                        <a:rPr>
                          <a:latin typeface="Cambria Math" panose="02040503050406030204" pitchFamily="18" charset="0"/>
                        </a:rPr>
                        <m:t>&amp;∝&amp;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𝑝𝑖</m:t>
                      </m:r>
                      <m:r>
                        <a:rPr>
                          <a:latin typeface="Cambria Math" panose="02040503050406030204" pitchFamily="18" charset="0"/>
                        </a:rPr>
                        <m:t>)&amp; 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e>
                    <m:e>
                      <m:r>
                        <a:rPr>
                          <a:latin typeface="Cambria Math" panose="02040503050406030204" pitchFamily="18" charset="0"/>
                        </a:rPr>
                        <m:t>&amp;∝&amp;</m:t>
                      </m:r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&amp; </m:t>
                      </m:r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e>
                    <m:e>
                      <m:r>
                        <a:rPr>
                          <a:latin typeface="Cambria Math" panose="02040503050406030204" pitchFamily="18" charset="0"/>
                        </a:rPr>
                        <m:t>&amp;=&amp;</m:t>
                      </m:r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&amp; (1−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e>
                  </m:eqArr>
                </m:oMath>
              </m:oMathPara>
            </a14:m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32</a:t>
            </a:fld>
            <a:endParaRPr lang="en-GB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exact answer: conjugacy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We can recognise this as the </a:t>
            </a:r>
            <a:r>
              <a:rPr i="1"/>
              <a:t>kernel</a:t>
            </a:r>
            <a:r>
              <a:t> of a </a:t>
            </a:r>
            <a14:m xmlns:a14="http://schemas.microsoft.com/office/drawing/2010/main">
              <m:oMath xmlns:m="http://schemas.openxmlformats.org/officeDocument/2006/math">
                <m:r>
                  <m:rPr>
                    <m:nor/>
                  </m:rPr>
                  <a:rPr i="0"/>
                  <m:t>Beta</m:t>
                </m:r>
                <m:r>
                  <a:rPr>
                    <a:latin typeface="Cambria Math" panose="02040503050406030204" pitchFamily="18" charset="0"/>
                  </a:rPr>
                  <m:t>(</m:t>
                </m:r>
                <m:r>
                  <a:rPr>
                    <a:latin typeface="Cambria Math" panose="02040503050406030204" pitchFamily="18" charset="0"/>
                  </a:rPr>
                  <m:t>𝑎</m:t>
                </m:r>
                <m:r>
                  <a:rPr>
                    <a:latin typeface="Cambria Math" panose="02040503050406030204" pitchFamily="18" charset="0"/>
                  </a:rPr>
                  <m:t>+</m:t>
                </m:r>
                <m:r>
                  <a:rPr>
                    <a:latin typeface="Cambria Math" panose="02040503050406030204" pitchFamily="18" charset="0"/>
                  </a:rPr>
                  <m:t>𝑘</m:t>
                </m:r>
                <m:r>
                  <a:rPr>
                    <a:latin typeface="Cambria Math" panose="02040503050406030204" pitchFamily="18" charset="0"/>
                  </a:rPr>
                  <m:t>, </m:t>
                </m:r>
                <m:r>
                  <a:rPr>
                    <a:latin typeface="Cambria Math" panose="02040503050406030204" pitchFamily="18" charset="0"/>
                  </a:rPr>
                  <m:t>𝑏</m:t>
                </m:r>
                <m:r>
                  <a:rPr>
                    <a:latin typeface="Cambria Math" panose="02040503050406030204" pitchFamily="18" charset="0"/>
                  </a:rPr>
                  <m:t>+</m:t>
                </m:r>
                <m:r>
                  <a:rPr>
                    <a:latin typeface="Cambria Math" panose="02040503050406030204" pitchFamily="18" charset="0"/>
                  </a:rPr>
                  <m:t>𝑛</m:t>
                </m:r>
                <m:r>
                  <a:rPr>
                    <a:latin typeface="Cambria Math" panose="02040503050406030204" pitchFamily="18" charset="0"/>
                  </a:rPr>
                  <m:t>−</m:t>
                </m:r>
                <m:r>
                  <a:rPr>
                    <a:latin typeface="Cambria Math" panose="02040503050406030204" pitchFamily="18" charset="0"/>
                  </a:rPr>
                  <m:t>𝑘</m:t>
                </m:r>
                <m:r>
                  <a:rPr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density. No integral is needed: the normalising constant must be whatever makes a Beta density integrate to 1. (The full derivation is in Appendix B.1. of the revision document on GitHub.)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When prior and posterior belong to the same family, the prior is called </a:t>
            </a:r>
            <a:r>
              <a:rPr b="1"/>
              <a:t>conjugate</a:t>
            </a:r>
            <a:r>
              <a:t> for the sampling model. We can check that the grid agrees with the exact result.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33</a:t>
            </a:fld>
            <a:endParaRPr lang="en-GB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C315F-F711-43BA-8C23-8D50769E3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marL="0" lvl="0" indent="0">
              <a:buNone/>
            </a:pPr>
            <a:r>
              <a:t>The exact answer: conjugacy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C278EB-CD3C-4569-8B41-D3DDD3B4004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(grid,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(pi, posterior))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colour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"grey70"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dbeta</a:t>
            </a:r>
            <a:r>
              <a:rPr>
                <a:solidFill>
                  <a:srgbClr val="003B4F"/>
                </a:solidFill>
                <a:latin typeface="Courier"/>
              </a:rPr>
              <a:t>(pi, a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k, b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n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k)), </a:t>
            </a:r>
            <a:r>
              <a:rPr>
                <a:solidFill>
                  <a:srgbClr val="657422"/>
                </a:solidFill>
                <a:latin typeface="Courier"/>
              </a:rPr>
              <a:t>colour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"mediumorchid"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linetype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coord_cartesian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xlim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0.7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expression</a:t>
            </a:r>
            <a:r>
              <a:rPr>
                <a:solidFill>
                  <a:srgbClr val="003B4F"/>
                </a:solidFill>
                <a:latin typeface="Courier"/>
              </a:rPr>
              <a:t>(pi),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"posterior density"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subtitle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"grey: grid approximation; dashed: exact Beta(a+k, b+n-k)"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id="3" name="Picture 1" descr="Chanco_STA623_BDA_2026_Henrion_Session1_files/figure-pptx/unnamed-chunk-6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81600" y="2209800"/>
            <a:ext cx="6172200" cy="2400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D33D4-F2B4-4E27-98BD-BC927283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34</a:t>
            </a:fld>
            <a:endParaRPr lang="en-GB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exact answer: conjugacy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The posterior mean is a weighted average of the prior mean and the sample proportion: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/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𝐸</m:t>
                  </m:r>
                  <m:r>
                    <a:rPr>
                      <a:latin typeface="Cambria Math" panose="02040503050406030204" pitchFamily="18" charset="0"/>
                    </a:rPr>
                    <m:t>[</m:t>
                  </m:r>
                  <m:r>
                    <a:rPr>
                      <a:latin typeface="Cambria Math" panose="02040503050406030204" pitchFamily="18" charset="0"/>
                    </a:rPr>
                    <m:t>𝜋</m:t>
                  </m:r>
                  <m:r>
                    <a:rPr>
                      <a:latin typeface="Cambria Math" panose="02040503050406030204" pitchFamily="18" charset="0"/>
                    </a:rPr>
                    <m:t>∣</m:t>
                  </m:r>
                  <m:r>
                    <a:rPr>
                      <a:latin typeface="Cambria Math" panose="02040503050406030204" pitchFamily="18" charset="0"/>
                    </a:rPr>
                    <m:t>𝑘</m:t>
                  </m:r>
                  <m:r>
                    <a:rPr>
                      <a:latin typeface="Cambria Math" panose="02040503050406030204" pitchFamily="18" charset="0"/>
                    </a:rPr>
                    <m:t>]=</m:t>
                  </m:r>
                  <m:f>
                    <m:f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fPr>
                    <m:num>
                      <m:r>
                        <a:rPr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𝑘</m:t>
                      </m:r>
                    </m:num>
                    <m:den>
                      <m:r>
                        <a:rPr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𝑛</m:t>
                      </m:r>
                    </m:den>
                  </m:f>
                  <m:r>
                    <a:rPr>
                      <a:latin typeface="Cambria Math" panose="02040503050406030204" pitchFamily="18" charset="0"/>
                    </a:rPr>
                    <m:t>=</m:t>
                  </m:r>
                  <m:limLow>
                    <m:limLow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limLowPr>
                    <m:e>
                      <m:limLow>
                        <m:limLow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f>
                            <m:f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num>
                            <m:den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  <m:lim>
                          <m:r>
                            <a:rPr>
                              <a:latin typeface="Cambria Math" panose="02040503050406030204" pitchFamily="18" charset="0"/>
                            </a:rPr>
                            <m:t>​</m:t>
                          </m:r>
                        </m:lim>
                      </m:limLow>
                    </m:e>
                    <m:lim>
                      <m:r>
                        <m:rPr>
                          <m:nor/>
                        </m:rPr>
                        <a:rPr i="0"/>
                        <m:t>weight on prior</m:t>
                      </m:r>
                    </m:lim>
                  </m:limLow>
                  <m:r>
                    <a:rPr>
                      <a:latin typeface="Cambria Math" panose="02040503050406030204" pitchFamily="18" charset="0"/>
                    </a:rPr>
                    <m:t>⋅</m:t>
                  </m:r>
                  <m:f>
                    <m:f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fPr>
                    <m:num>
                      <m:r>
                        <a:rPr>
                          <a:latin typeface="Cambria Math" panose="02040503050406030204" pitchFamily="18" charset="0"/>
                        </a:rPr>
                        <m:t>𝑎</m:t>
                      </m:r>
                    </m:num>
                    <m:den>
                      <m:r>
                        <a:rPr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𝑏</m:t>
                      </m:r>
                    </m:den>
                  </m:f>
                  <m:r>
                    <a:rPr>
                      <a:latin typeface="Cambria Math" panose="02040503050406030204" pitchFamily="18" charset="0"/>
                    </a:rPr>
                    <m:t>+</m:t>
                  </m:r>
                  <m:limLow>
                    <m:limLow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limLowPr>
                    <m:e>
                      <m:limLow>
                        <m:limLow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f>
                            <m:f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  <m:lim>
                          <m:r>
                            <a:rPr>
                              <a:latin typeface="Cambria Math" panose="02040503050406030204" pitchFamily="18" charset="0"/>
                            </a:rPr>
                            <m:t>​</m:t>
                          </m:r>
                        </m:lim>
                      </m:limLow>
                    </m:e>
                    <m:lim>
                      <m:r>
                        <m:rPr>
                          <m:nor/>
                        </m:rPr>
                        <a:rPr i="0"/>
                        <m:t>weight on data</m:t>
                      </m:r>
                    </m:lim>
                  </m:limLow>
                  <m:r>
                    <a:rPr>
                      <a:latin typeface="Cambria Math" panose="02040503050406030204" pitchFamily="18" charset="0"/>
                    </a:rPr>
                    <m:t>⋅</m:t>
                  </m:r>
                  <m:f>
                    <m:f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fPr>
                    <m:num>
                      <m:r>
                        <a:rPr>
                          <a:latin typeface="Cambria Math" panose="02040503050406030204" pitchFamily="18" charset="0"/>
                        </a:rPr>
                        <m:t>𝑘</m:t>
                      </m:r>
                    </m:num>
                    <m:den>
                      <m:r>
                        <a:rPr>
                          <a:latin typeface="Cambria Math" panose="02040503050406030204" pitchFamily="18" charset="0"/>
                        </a:rPr>
                        <m:t>𝑛</m:t>
                      </m:r>
                    </m:den>
                  </m:f>
                </m:oMath>
              </m:oMathPara>
            </a14:m>
            <a:endParaRPr/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So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𝑎</m:t>
                </m:r>
                <m:r>
                  <a:rPr>
                    <a:latin typeface="Cambria Math" panose="02040503050406030204" pitchFamily="18" charset="0"/>
                  </a:rPr>
                  <m:t>+</m:t>
                </m:r>
                <m:r>
                  <a:rPr>
                    <a:latin typeface="Cambria Math" panose="02040503050406030204" pitchFamily="18" charset="0"/>
                  </a:rPr>
                  <m:t>𝑏</m:t>
                </m:r>
              </m:oMath>
            </a14:m>
            <a:r>
              <a:t> behaves like a </a:t>
            </a:r>
            <a:r>
              <a:rPr b="1"/>
              <a:t>prior sample size</a:t>
            </a:r>
            <a:r>
              <a:t>: the Beta(2,5) prior carries the information of about 7 children, the data carry 30.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35</a:t>
            </a:fld>
            <a:endParaRPr lang="en-GB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Prior versus data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lvl="0" indent="0">
                  <a:buNone/>
                </a:pPr>
                <a:r>
                  <a:rPr sz="4000" dirty="0"/>
                  <a:t>What happens as data accumulate? Keep the observed proportion at 30% and increase </a:t>
                </a:r>
                <a14:m>
                  <m:oMath xmlns:m="http://schemas.openxmlformats.org/officeDocument/2006/math">
                    <m:r>
                      <a:rPr sz="400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4000" dirty="0"/>
                  <a:t>:</a:t>
                </a:r>
              </a:p>
              <a:p>
                <a:pPr lvl="0" indent="0">
                  <a:buNone/>
                </a:pPr>
                <a:r>
                  <a:rPr dirty="0" err="1">
                    <a:solidFill>
                      <a:srgbClr val="003B4F"/>
                    </a:solidFill>
                    <a:latin typeface="Courier"/>
                  </a:rPr>
                  <a:t>post_curves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 &lt;- </a:t>
                </a:r>
                <a:r>
                  <a:rPr dirty="0" err="1">
                    <a:solidFill>
                      <a:srgbClr val="4758AB"/>
                    </a:solidFill>
                    <a:latin typeface="Courier"/>
                  </a:rPr>
                  <a:t>expand_grid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(</a:t>
                </a:r>
                <a:r>
                  <a:rPr dirty="0">
                    <a:solidFill>
                      <a:srgbClr val="657422"/>
                    </a:solidFill>
                    <a:latin typeface="Courier"/>
                  </a:rPr>
                  <a:t>n =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 dirty="0">
                    <a:solidFill>
                      <a:srgbClr val="4758AB"/>
                    </a:solidFill>
                    <a:latin typeface="Courier"/>
                  </a:rPr>
                  <a:t>c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(</a:t>
                </a:r>
                <a:r>
                  <a:rPr dirty="0">
                    <a:solidFill>
                      <a:srgbClr val="AD0000"/>
                    </a:solidFill>
                    <a:latin typeface="Courier"/>
                  </a:rPr>
                  <a:t>10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, </a:t>
                </a:r>
                <a:r>
                  <a:rPr dirty="0">
                    <a:solidFill>
                      <a:srgbClr val="AD0000"/>
                    </a:solidFill>
                    <a:latin typeface="Courier"/>
                  </a:rPr>
                  <a:t>30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, </a:t>
                </a:r>
                <a:r>
                  <a:rPr dirty="0">
                    <a:solidFill>
                      <a:srgbClr val="AD0000"/>
                    </a:solidFill>
                    <a:latin typeface="Courier"/>
                  </a:rPr>
                  <a:t>100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, </a:t>
                </a:r>
                <a:r>
                  <a:rPr dirty="0">
                    <a:solidFill>
                      <a:srgbClr val="AD0000"/>
                    </a:solidFill>
                    <a:latin typeface="Courier"/>
                  </a:rPr>
                  <a:t>500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), </a:t>
                </a:r>
                <a:r>
                  <a:rPr dirty="0">
                    <a:solidFill>
                      <a:srgbClr val="657422"/>
                    </a:solidFill>
                    <a:latin typeface="Courier"/>
                  </a:rPr>
                  <a:t>pi =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 dirty="0">
                    <a:solidFill>
                      <a:srgbClr val="4758AB"/>
                    </a:solidFill>
                    <a:latin typeface="Courier"/>
                  </a:rPr>
                  <a:t>seq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(</a:t>
                </a:r>
                <a:r>
                  <a:rPr dirty="0">
                    <a:solidFill>
                      <a:srgbClr val="AD0000"/>
                    </a:solidFill>
                    <a:latin typeface="Courier"/>
                  </a:rPr>
                  <a:t>0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, </a:t>
                </a:r>
                <a:r>
                  <a:rPr dirty="0">
                    <a:solidFill>
                      <a:srgbClr val="AD0000"/>
                    </a:solidFill>
                    <a:latin typeface="Courier"/>
                  </a:rPr>
                  <a:t>1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, </a:t>
                </a:r>
                <a:r>
                  <a:rPr dirty="0">
                    <a:solidFill>
                      <a:srgbClr val="657422"/>
                    </a:solidFill>
                    <a:latin typeface="Courier"/>
                  </a:rPr>
                  <a:t>length =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 dirty="0">
                    <a:solidFill>
                      <a:srgbClr val="AD0000"/>
                    </a:solidFill>
                    <a:latin typeface="Courier"/>
                  </a:rPr>
                  <a:t>500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)) </a:t>
                </a:r>
                <a:r>
                  <a:rPr dirty="0">
                    <a:solidFill>
                      <a:srgbClr val="5E5E5E"/>
                    </a:solidFill>
                    <a:latin typeface="Courier"/>
                  </a:rPr>
                  <a:t>|&gt;</a:t>
                </a:r>
                <a:br>
                  <a:rPr dirty="0"/>
                </a:br>
                <a:r>
                  <a:rPr dirty="0">
                    <a:solidFill>
                      <a:srgbClr val="003B4F"/>
                    </a:solidFill>
                    <a:latin typeface="Courier"/>
                  </a:rPr>
                  <a:t>  </a:t>
                </a:r>
                <a:r>
                  <a:rPr dirty="0">
                    <a:solidFill>
                      <a:srgbClr val="4758AB"/>
                    </a:solidFill>
                    <a:latin typeface="Courier"/>
                  </a:rPr>
                  <a:t>mutate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(</a:t>
                </a:r>
                <a:r>
                  <a:rPr dirty="0">
                    <a:solidFill>
                      <a:srgbClr val="657422"/>
                    </a:solidFill>
                    <a:latin typeface="Courier"/>
                  </a:rPr>
                  <a:t>k =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 dirty="0">
                    <a:solidFill>
                      <a:srgbClr val="AD0000"/>
                    </a:solidFill>
                    <a:latin typeface="Courier"/>
                  </a:rPr>
                  <a:t>0.3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 dirty="0">
                    <a:solidFill>
                      <a:srgbClr val="5E5E5E"/>
                    </a:solidFill>
                    <a:latin typeface="Courier"/>
                  </a:rPr>
                  <a:t>*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 n,</a:t>
                </a:r>
                <a:br>
                  <a:rPr dirty="0"/>
                </a:br>
                <a:r>
                  <a:rPr dirty="0">
                    <a:solidFill>
                      <a:srgbClr val="003B4F"/>
                    </a:solidFill>
                    <a:latin typeface="Courier"/>
                  </a:rPr>
                  <a:t>         </a:t>
                </a:r>
                <a:r>
                  <a:rPr dirty="0">
                    <a:solidFill>
                      <a:srgbClr val="657422"/>
                    </a:solidFill>
                    <a:latin typeface="Courier"/>
                  </a:rPr>
                  <a:t>Prior =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 dirty="0" err="1">
                    <a:solidFill>
                      <a:srgbClr val="4758AB"/>
                    </a:solidFill>
                    <a:latin typeface="Courier"/>
                  </a:rPr>
                  <a:t>dbeta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(pi, a, b),</a:t>
                </a:r>
                <a:br>
                  <a:rPr dirty="0"/>
                </a:br>
                <a:r>
                  <a:rPr dirty="0">
                    <a:solidFill>
                      <a:srgbClr val="003B4F"/>
                    </a:solidFill>
                    <a:latin typeface="Courier"/>
                  </a:rPr>
                  <a:t>         </a:t>
                </a:r>
                <a:r>
                  <a:rPr dirty="0">
                    <a:solidFill>
                      <a:srgbClr val="657422"/>
                    </a:solidFill>
                    <a:latin typeface="Courier"/>
                  </a:rPr>
                  <a:t>Posterior =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 dirty="0" err="1">
                    <a:solidFill>
                      <a:srgbClr val="4758AB"/>
                    </a:solidFill>
                    <a:latin typeface="Courier"/>
                  </a:rPr>
                  <a:t>dbeta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(pi, a </a:t>
                </a:r>
                <a:r>
                  <a:rPr dirty="0">
                    <a:solidFill>
                      <a:srgbClr val="5E5E5E"/>
                    </a:solidFill>
                    <a:latin typeface="Courier"/>
                  </a:rPr>
                  <a:t>+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 k, b </a:t>
                </a:r>
                <a:r>
                  <a:rPr dirty="0">
                    <a:solidFill>
                      <a:srgbClr val="5E5E5E"/>
                    </a:solidFill>
                    <a:latin typeface="Courier"/>
                  </a:rPr>
                  <a:t>+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 n </a:t>
                </a:r>
                <a:r>
                  <a:rPr dirty="0">
                    <a:solidFill>
                      <a:srgbClr val="5E5E5E"/>
                    </a:solidFill>
                    <a:latin typeface="Courier"/>
                  </a:rPr>
                  <a:t>-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 k),</a:t>
                </a:r>
                <a:br>
                  <a:rPr dirty="0"/>
                </a:br>
                <a:r>
                  <a:rPr dirty="0">
                    <a:solidFill>
                      <a:srgbClr val="003B4F"/>
                    </a:solidFill>
                    <a:latin typeface="Courier"/>
                  </a:rPr>
                  <a:t>         </a:t>
                </a:r>
                <a:r>
                  <a:rPr dirty="0">
                    <a:solidFill>
                      <a:srgbClr val="20794D"/>
                    </a:solidFill>
                    <a:latin typeface="Courier"/>
                  </a:rPr>
                  <a:t>`</a:t>
                </a:r>
                <a:r>
                  <a:rPr dirty="0">
                    <a:solidFill>
                      <a:srgbClr val="657422"/>
                    </a:solidFill>
                    <a:latin typeface="Courier"/>
                  </a:rPr>
                  <a:t>Scaled likelihood</a:t>
                </a:r>
                <a:r>
                  <a:rPr dirty="0">
                    <a:solidFill>
                      <a:srgbClr val="20794D"/>
                    </a:solidFill>
                    <a:latin typeface="Courier"/>
                  </a:rPr>
                  <a:t>`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 = </a:t>
                </a:r>
                <a:r>
                  <a:rPr dirty="0" err="1">
                    <a:solidFill>
                      <a:srgbClr val="4758AB"/>
                    </a:solidFill>
                    <a:latin typeface="Courier"/>
                  </a:rPr>
                  <a:t>dbeta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(pi, k </a:t>
                </a:r>
                <a:r>
                  <a:rPr dirty="0">
                    <a:solidFill>
                      <a:srgbClr val="5E5E5E"/>
                    </a:solidFill>
                    <a:latin typeface="Courier"/>
                  </a:rPr>
                  <a:t>+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 dirty="0">
                    <a:solidFill>
                      <a:srgbClr val="AD0000"/>
                    </a:solidFill>
                    <a:latin typeface="Courier"/>
                  </a:rPr>
                  <a:t>1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, n </a:t>
                </a:r>
                <a:r>
                  <a:rPr dirty="0">
                    <a:solidFill>
                      <a:srgbClr val="5E5E5E"/>
                    </a:solidFill>
                    <a:latin typeface="Courier"/>
                  </a:rPr>
                  <a:t>-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 k </a:t>
                </a:r>
                <a:r>
                  <a:rPr dirty="0">
                    <a:solidFill>
                      <a:srgbClr val="5E5E5E"/>
                    </a:solidFill>
                    <a:latin typeface="Courier"/>
                  </a:rPr>
                  <a:t>+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 dirty="0">
                    <a:solidFill>
                      <a:srgbClr val="AD0000"/>
                    </a:solidFill>
                    <a:latin typeface="Courier"/>
                  </a:rPr>
                  <a:t>1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)) </a:t>
                </a:r>
                <a:r>
                  <a:rPr dirty="0">
                    <a:solidFill>
                      <a:srgbClr val="5E5E5E"/>
                    </a:solidFill>
                    <a:latin typeface="Courier"/>
                  </a:rPr>
                  <a:t>|&gt;</a:t>
                </a:r>
                <a:br>
                  <a:rPr dirty="0"/>
                </a:br>
                <a:r>
                  <a:rPr dirty="0">
                    <a:solidFill>
                      <a:srgbClr val="003B4F"/>
                    </a:solidFill>
                    <a:latin typeface="Courier"/>
                  </a:rPr>
                  <a:t>  </a:t>
                </a:r>
                <a:r>
                  <a:rPr dirty="0" err="1">
                    <a:solidFill>
                      <a:srgbClr val="4758AB"/>
                    </a:solidFill>
                    <a:latin typeface="Courier"/>
                  </a:rPr>
                  <a:t>pivot_longer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(</a:t>
                </a:r>
                <a:r>
                  <a:rPr dirty="0">
                    <a:solidFill>
                      <a:srgbClr val="4758AB"/>
                    </a:solidFill>
                    <a:latin typeface="Courier"/>
                  </a:rPr>
                  <a:t>c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(Prior, Posterior, </a:t>
                </a:r>
                <a:r>
                  <a:rPr dirty="0">
                    <a:solidFill>
                      <a:srgbClr val="20794D"/>
                    </a:solidFill>
                    <a:latin typeface="Courier"/>
                  </a:rPr>
                  <a:t>`</a:t>
                </a:r>
                <a:r>
                  <a:rPr dirty="0">
                    <a:solidFill>
                      <a:srgbClr val="657422"/>
                    </a:solidFill>
                    <a:latin typeface="Courier"/>
                  </a:rPr>
                  <a:t>Scaled likelihood</a:t>
                </a:r>
                <a:r>
                  <a:rPr dirty="0">
                    <a:solidFill>
                      <a:srgbClr val="20794D"/>
                    </a:solidFill>
                    <a:latin typeface="Courier"/>
                  </a:rPr>
                  <a:t>`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), </a:t>
                </a:r>
                <a:r>
                  <a:rPr dirty="0" err="1">
                    <a:solidFill>
                      <a:srgbClr val="657422"/>
                    </a:solidFill>
                    <a:latin typeface="Courier"/>
                  </a:rPr>
                  <a:t>names_to</a:t>
                </a:r>
                <a:r>
                  <a:rPr dirty="0">
                    <a:solidFill>
                      <a:srgbClr val="657422"/>
                    </a:solidFill>
                    <a:latin typeface="Courier"/>
                  </a:rPr>
                  <a:t> =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 dirty="0">
                    <a:solidFill>
                      <a:srgbClr val="20794D"/>
                    </a:solidFill>
                    <a:latin typeface="Courier"/>
                  </a:rPr>
                  <a:t>"curve"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)</a:t>
                </a:r>
                <a:br>
                  <a:rPr dirty="0"/>
                </a:br>
                <a:br>
                  <a:rPr dirty="0"/>
                </a:br>
                <a:r>
                  <a:rPr dirty="0" err="1">
                    <a:solidFill>
                      <a:srgbClr val="4758AB"/>
                    </a:solidFill>
                    <a:latin typeface="Courier"/>
                  </a:rPr>
                  <a:t>ggplot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(</a:t>
                </a:r>
                <a:r>
                  <a:rPr dirty="0" err="1">
                    <a:solidFill>
                      <a:srgbClr val="003B4F"/>
                    </a:solidFill>
                    <a:latin typeface="Courier"/>
                  </a:rPr>
                  <a:t>post_curves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, </a:t>
                </a:r>
                <a:r>
                  <a:rPr dirty="0" err="1">
                    <a:solidFill>
                      <a:srgbClr val="4758AB"/>
                    </a:solidFill>
                    <a:latin typeface="Courier"/>
                  </a:rPr>
                  <a:t>aes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(pi, value, </a:t>
                </a:r>
                <a:r>
                  <a:rPr dirty="0" err="1">
                    <a:solidFill>
                      <a:srgbClr val="657422"/>
                    </a:solidFill>
                    <a:latin typeface="Courier"/>
                  </a:rPr>
                  <a:t>colour</a:t>
                </a:r>
                <a:r>
                  <a:rPr dirty="0">
                    <a:solidFill>
                      <a:srgbClr val="657422"/>
                    </a:solidFill>
                    <a:latin typeface="Courier"/>
                  </a:rPr>
                  <a:t> =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 curve)) </a:t>
                </a:r>
                <a:r>
                  <a:rPr dirty="0">
                    <a:solidFill>
                      <a:srgbClr val="5E5E5E"/>
                    </a:solidFill>
                    <a:latin typeface="Courier"/>
                  </a:rPr>
                  <a:t>+</a:t>
                </a:r>
                <a:br>
                  <a:rPr dirty="0"/>
                </a:br>
                <a:r>
                  <a:rPr dirty="0">
                    <a:solidFill>
                      <a:srgbClr val="003B4F"/>
                    </a:solidFill>
                    <a:latin typeface="Courier"/>
                  </a:rPr>
                  <a:t>  </a:t>
                </a:r>
                <a:r>
                  <a:rPr dirty="0" err="1">
                    <a:solidFill>
                      <a:srgbClr val="4758AB"/>
                    </a:solidFill>
                    <a:latin typeface="Courier"/>
                  </a:rPr>
                  <a:t>geom_line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(</a:t>
                </a:r>
                <a:r>
                  <a:rPr dirty="0">
                    <a:solidFill>
                      <a:srgbClr val="657422"/>
                    </a:solidFill>
                    <a:latin typeface="Courier"/>
                  </a:rPr>
                  <a:t>linewidth =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 dirty="0">
                    <a:solidFill>
                      <a:srgbClr val="AD0000"/>
                    </a:solidFill>
                    <a:latin typeface="Courier"/>
                  </a:rPr>
                  <a:t>0.9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) </a:t>
                </a:r>
                <a:r>
                  <a:rPr dirty="0">
                    <a:solidFill>
                      <a:srgbClr val="5E5E5E"/>
                    </a:solidFill>
                    <a:latin typeface="Courier"/>
                  </a:rPr>
                  <a:t>+</a:t>
                </a:r>
                <a:br>
                  <a:rPr dirty="0"/>
                </a:br>
                <a:r>
                  <a:rPr dirty="0">
                    <a:solidFill>
                      <a:srgbClr val="003B4F"/>
                    </a:solidFill>
                    <a:latin typeface="Courier"/>
                  </a:rPr>
                  <a:t>  </a:t>
                </a:r>
                <a:r>
                  <a:rPr dirty="0" err="1">
                    <a:solidFill>
                      <a:srgbClr val="4758AB"/>
                    </a:solidFill>
                    <a:latin typeface="Courier"/>
                  </a:rPr>
                  <a:t>facet_wrap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(</a:t>
                </a:r>
                <a:r>
                  <a:rPr dirty="0">
                    <a:solidFill>
                      <a:srgbClr val="5E5E5E"/>
                    </a:solidFill>
                    <a:latin typeface="Courier"/>
                  </a:rPr>
                  <a:t>~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 dirty="0">
                    <a:solidFill>
                      <a:srgbClr val="4758AB"/>
                    </a:solidFill>
                    <a:latin typeface="Courier"/>
                  </a:rPr>
                  <a:t>paste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(</a:t>
                </a:r>
                <a:r>
                  <a:rPr dirty="0">
                    <a:solidFill>
                      <a:srgbClr val="20794D"/>
                    </a:solidFill>
                    <a:latin typeface="Courier"/>
                  </a:rPr>
                  <a:t>"n ="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, n), </a:t>
                </a:r>
                <a:r>
                  <a:rPr dirty="0" err="1">
                    <a:solidFill>
                      <a:srgbClr val="657422"/>
                    </a:solidFill>
                    <a:latin typeface="Courier"/>
                  </a:rPr>
                  <a:t>nrow</a:t>
                </a:r>
                <a:r>
                  <a:rPr dirty="0">
                    <a:solidFill>
                      <a:srgbClr val="657422"/>
                    </a:solidFill>
                    <a:latin typeface="Courier"/>
                  </a:rPr>
                  <a:t> =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 dirty="0">
                    <a:solidFill>
                      <a:srgbClr val="AD0000"/>
                    </a:solidFill>
                    <a:latin typeface="Courier"/>
                  </a:rPr>
                  <a:t>1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, </a:t>
                </a:r>
                <a:r>
                  <a:rPr dirty="0">
                    <a:solidFill>
                      <a:srgbClr val="657422"/>
                    </a:solidFill>
                    <a:latin typeface="Courier"/>
                  </a:rPr>
                  <a:t>scales =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 dirty="0">
                    <a:solidFill>
                      <a:srgbClr val="20794D"/>
                    </a:solidFill>
                    <a:latin typeface="Courier"/>
                  </a:rPr>
                  <a:t>"</a:t>
                </a:r>
                <a:r>
                  <a:rPr dirty="0" err="1">
                    <a:solidFill>
                      <a:srgbClr val="20794D"/>
                    </a:solidFill>
                    <a:latin typeface="Courier"/>
                  </a:rPr>
                  <a:t>free_y</a:t>
                </a:r>
                <a:r>
                  <a:rPr dirty="0">
                    <a:solidFill>
                      <a:srgbClr val="20794D"/>
                    </a:solidFill>
                    <a:latin typeface="Courier"/>
                  </a:rPr>
                  <a:t>"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) </a:t>
                </a:r>
                <a:r>
                  <a:rPr dirty="0">
                    <a:solidFill>
                      <a:srgbClr val="5E5E5E"/>
                    </a:solidFill>
                    <a:latin typeface="Courier"/>
                  </a:rPr>
                  <a:t>+</a:t>
                </a:r>
                <a:br>
                  <a:rPr dirty="0"/>
                </a:br>
                <a:r>
                  <a:rPr dirty="0">
                    <a:solidFill>
                      <a:srgbClr val="003B4F"/>
                    </a:solidFill>
                    <a:latin typeface="Courier"/>
                  </a:rPr>
                  <a:t>  </a:t>
                </a:r>
                <a:r>
                  <a:rPr dirty="0" err="1">
                    <a:solidFill>
                      <a:srgbClr val="4758AB"/>
                    </a:solidFill>
                    <a:latin typeface="Courier"/>
                  </a:rPr>
                  <a:t>scale_colour_manual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(</a:t>
                </a:r>
                <a:r>
                  <a:rPr dirty="0">
                    <a:solidFill>
                      <a:srgbClr val="657422"/>
                    </a:solidFill>
                    <a:latin typeface="Courier"/>
                  </a:rPr>
                  <a:t>values =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 dirty="0">
                    <a:solidFill>
                      <a:srgbClr val="4758AB"/>
                    </a:solidFill>
                    <a:latin typeface="Courier"/>
                  </a:rPr>
                  <a:t>c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(</a:t>
                </a:r>
                <a:r>
                  <a:rPr dirty="0">
                    <a:solidFill>
                      <a:srgbClr val="20794D"/>
                    </a:solidFill>
                    <a:latin typeface="Courier"/>
                  </a:rPr>
                  <a:t>"</a:t>
                </a:r>
                <a:r>
                  <a:rPr dirty="0" err="1">
                    <a:solidFill>
                      <a:srgbClr val="20794D"/>
                    </a:solidFill>
                    <a:latin typeface="Courier"/>
                  </a:rPr>
                  <a:t>mediumorchid</a:t>
                </a:r>
                <a:r>
                  <a:rPr dirty="0">
                    <a:solidFill>
                      <a:srgbClr val="20794D"/>
                    </a:solidFill>
                    <a:latin typeface="Courier"/>
                  </a:rPr>
                  <a:t>"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, </a:t>
                </a:r>
                <a:r>
                  <a:rPr dirty="0">
                    <a:solidFill>
                      <a:srgbClr val="20794D"/>
                    </a:solidFill>
                    <a:latin typeface="Courier"/>
                  </a:rPr>
                  <a:t>"</a:t>
                </a:r>
                <a:r>
                  <a:rPr dirty="0" err="1">
                    <a:solidFill>
                      <a:srgbClr val="20794D"/>
                    </a:solidFill>
                    <a:latin typeface="Courier"/>
                  </a:rPr>
                  <a:t>steelblue</a:t>
                </a:r>
                <a:r>
                  <a:rPr dirty="0">
                    <a:solidFill>
                      <a:srgbClr val="20794D"/>
                    </a:solidFill>
                    <a:latin typeface="Courier"/>
                  </a:rPr>
                  <a:t>"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, </a:t>
                </a:r>
                <a:r>
                  <a:rPr dirty="0">
                    <a:solidFill>
                      <a:srgbClr val="20794D"/>
                    </a:solidFill>
                    <a:latin typeface="Courier"/>
                  </a:rPr>
                  <a:t>"salmon"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)) </a:t>
                </a:r>
                <a:r>
                  <a:rPr dirty="0">
                    <a:solidFill>
                      <a:srgbClr val="5E5E5E"/>
                    </a:solidFill>
                    <a:latin typeface="Courier"/>
                  </a:rPr>
                  <a:t>+</a:t>
                </a:r>
                <a:br>
                  <a:rPr dirty="0"/>
                </a:br>
                <a:r>
                  <a:rPr dirty="0">
                    <a:solidFill>
                      <a:srgbClr val="003B4F"/>
                    </a:solidFill>
                    <a:latin typeface="Courier"/>
                  </a:rPr>
                  <a:t>  </a:t>
                </a:r>
                <a:r>
                  <a:rPr dirty="0">
                    <a:solidFill>
                      <a:srgbClr val="4758AB"/>
                    </a:solidFill>
                    <a:latin typeface="Courier"/>
                  </a:rPr>
                  <a:t>labs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(</a:t>
                </a:r>
                <a:r>
                  <a:rPr dirty="0">
                    <a:solidFill>
                      <a:srgbClr val="657422"/>
                    </a:solidFill>
                    <a:latin typeface="Courier"/>
                  </a:rPr>
                  <a:t>x =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 dirty="0">
                    <a:solidFill>
                      <a:srgbClr val="4758AB"/>
                    </a:solidFill>
                    <a:latin typeface="Courier"/>
                  </a:rPr>
                  <a:t>expression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(pi), </a:t>
                </a:r>
                <a:r>
                  <a:rPr dirty="0">
                    <a:solidFill>
                      <a:srgbClr val="657422"/>
                    </a:solidFill>
                    <a:latin typeface="Courier"/>
                  </a:rPr>
                  <a:t>y =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 dirty="0">
                    <a:solidFill>
                      <a:srgbClr val="20794D"/>
                    </a:solidFill>
                    <a:latin typeface="Courier"/>
                  </a:rPr>
                  <a:t>"density"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, </a:t>
                </a:r>
                <a:r>
                  <a:rPr dirty="0" err="1">
                    <a:solidFill>
                      <a:srgbClr val="657422"/>
                    </a:solidFill>
                    <a:latin typeface="Courier"/>
                  </a:rPr>
                  <a:t>colour</a:t>
                </a:r>
                <a:r>
                  <a:rPr dirty="0">
                    <a:solidFill>
                      <a:srgbClr val="657422"/>
                    </a:solidFill>
                    <a:latin typeface="Courier"/>
                  </a:rPr>
                  <a:t> =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 dirty="0">
                    <a:solidFill>
                      <a:srgbClr val="8F5902"/>
                    </a:solidFill>
                    <a:latin typeface="Courier"/>
                  </a:rPr>
                  <a:t>NULL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) </a:t>
                </a:r>
                <a:r>
                  <a:rPr dirty="0">
                    <a:solidFill>
                      <a:srgbClr val="5E5E5E"/>
                    </a:solidFill>
                    <a:latin typeface="Courier"/>
                  </a:rPr>
                  <a:t>+</a:t>
                </a:r>
                <a:br>
                  <a:rPr dirty="0"/>
                </a:br>
                <a:r>
                  <a:rPr dirty="0">
                    <a:solidFill>
                      <a:srgbClr val="003B4F"/>
                    </a:solidFill>
                    <a:latin typeface="Courier"/>
                  </a:rPr>
                  <a:t>  </a:t>
                </a:r>
                <a:r>
                  <a:rPr dirty="0">
                    <a:solidFill>
                      <a:srgbClr val="4758AB"/>
                    </a:solidFill>
                    <a:latin typeface="Courier"/>
                  </a:rPr>
                  <a:t>theme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(</a:t>
                </a:r>
                <a:r>
                  <a:rPr dirty="0" err="1">
                    <a:solidFill>
                      <a:srgbClr val="657422"/>
                    </a:solidFill>
                    <a:latin typeface="Courier"/>
                  </a:rPr>
                  <a:t>legend.position</a:t>
                </a:r>
                <a:r>
                  <a:rPr dirty="0">
                    <a:solidFill>
                      <a:srgbClr val="657422"/>
                    </a:solidFill>
                    <a:latin typeface="Courier"/>
                  </a:rPr>
                  <a:t> =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 dirty="0">
                    <a:solidFill>
                      <a:srgbClr val="20794D"/>
                    </a:solidFill>
                    <a:latin typeface="Courier"/>
                  </a:rPr>
                  <a:t>"bottom"</a:t>
                </a:r>
                <a:r>
                  <a:rPr dirty="0">
                    <a:solidFill>
                      <a:srgbClr val="003B4F"/>
                    </a:solidFill>
                    <a:latin typeface="Courier"/>
                  </a:rPr>
                  <a:t>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3523" r="-15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36</a:t>
            </a:fld>
            <a:endParaRPr lang="en-GB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Prior versus data</a:t>
            </a:r>
          </a:p>
        </p:txBody>
      </p:sp>
      <p:pic>
        <p:nvPicPr>
          <p:cNvPr id="3" name="Picture 1" descr="Chanco_STA623_BDA_2026_Henrion_Session1_files/figure-pptx/unnamed-chunk-8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50900" y="1816100"/>
            <a:ext cx="10490200" cy="466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37</a:t>
            </a:fld>
            <a:endParaRPr lang="en-GB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Prior versus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With more data the posterior concentrates and the likelihood dominates: different reasonable priors lead to practically the same conclusions.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One exception: </a:t>
            </a:r>
            <a:r>
              <a:rPr b="1"/>
              <a:t>if the prior gives zero probability to a region, so does the posterior, no matter how much data we collect</a:t>
            </a:r>
            <a:r>
              <a:t> (because posterior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∝</m:t>
                </m:r>
              </m:oMath>
            </a14:m>
            <a:r>
              <a:t> likelihood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×</m:t>
                </m:r>
              </m:oMath>
            </a14:m>
            <a:r>
              <a:t> 0). Never put zero prior probability on values that are physically possible.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38</a:t>
            </a:fld>
            <a:endParaRPr lang="en-GB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Sequential updating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Today’s posterior is tomorrow’s prior.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If the team tests another 20 children and finds 4 positive, then starting from the </a:t>
            </a:r>
            <a14:m xmlns:a14="http://schemas.microsoft.com/office/drawing/2010/main">
              <m:oMath xmlns:m="http://schemas.openxmlformats.org/officeDocument/2006/math">
                <m:r>
                  <m:rPr>
                    <m:nor/>
                  </m:rPr>
                  <a:rPr i="0"/>
                  <m:t>Beta</m:t>
                </m:r>
                <m:r>
                  <a:rPr>
                    <a:latin typeface="Cambria Math" panose="02040503050406030204" pitchFamily="18" charset="0"/>
                  </a:rPr>
                  <m:t>(11,26)</m:t>
                </m:r>
              </m:oMath>
            </a14:m>
            <a:r>
              <a:t> posterior gives a </a:t>
            </a:r>
            <a14:m xmlns:a14="http://schemas.microsoft.com/office/drawing/2010/main">
              <m:oMath xmlns:m="http://schemas.openxmlformats.org/officeDocument/2006/math">
                <m:r>
                  <m:rPr>
                    <m:nor/>
                  </m:rPr>
                  <a:rPr i="0"/>
                  <m:t>Beta</m:t>
                </m:r>
                <m:r>
                  <a:rPr>
                    <a:latin typeface="Cambria Math" panose="02040503050406030204" pitchFamily="18" charset="0"/>
                  </a:rPr>
                  <m:t>(15,42)</m:t>
                </m:r>
              </m:oMath>
            </a14:m>
            <a:r>
              <a:t> posterior, which is exactly the same as analysing all 50 children at once with the original </a:t>
            </a:r>
            <a14:m xmlns:a14="http://schemas.microsoft.com/office/drawing/2010/main">
              <m:oMath xmlns:m="http://schemas.openxmlformats.org/officeDocument/2006/math">
                <m:r>
                  <m:rPr>
                    <m:nor/>
                  </m:rPr>
                  <a:rPr i="0"/>
                  <m:t>Beta</m:t>
                </m:r>
                <m:r>
                  <a:rPr>
                    <a:latin typeface="Cambria Math" panose="02040503050406030204" pitchFamily="18" charset="0"/>
                  </a:rPr>
                  <m:t>(2,5)</m:t>
                </m:r>
              </m:oMath>
            </a14:m>
            <a:r>
              <a:t> prior.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Bayesian inference is coherent in this sense.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39</a:t>
            </a:fld>
            <a:endParaRPr lang="en-GB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Exchangeability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Why is it reasonable to treat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𝑌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  <m:r>
                  <a:rPr>
                    <a:latin typeface="Cambria Math" panose="02040503050406030204" pitchFamily="18" charset="0"/>
                  </a:rPr>
                  <m:t>,…,</m:t>
                </m:r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𝑌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𝑛</m:t>
                    </m:r>
                  </m:sub>
                </m:sSub>
              </m:oMath>
            </a14:m>
            <a:r>
              <a:t> as i.i.d. given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𝜋</m:t>
                </m:r>
              </m:oMath>
            </a14:m>
            <a:r>
              <a:t>? If the labels of the children carry no information (we would assign the same joint probability to the data in any order), the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𝑌</m:t>
                    </m:r>
                  </m:e>
                  <m:sub>
                    <m:r>
                      <a:rPr>
                        <a:latin typeface="Cambria Math" panose="02040503050406030204" pitchFamily="18" charset="0"/>
                      </a:rPr>
                      <m:t>𝑖</m:t>
                    </m:r>
                  </m:sub>
                </m:sSub>
              </m:oMath>
            </a14:m>
            <a:r>
              <a:t> are </a:t>
            </a:r>
            <a:r>
              <a:rPr b="1"/>
              <a:t>exchangeable</a:t>
            </a:r>
            <a:r>
              <a:t>.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De Finetti’s theorem says that (for an infinite exchangeable sequence) this is equivalent to assuming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 </m:t>
                  </m:r>
                </m:oMath>
              </m:oMathPara>
            </a14:m>
            <a:endParaRPr/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𝑌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,…,</m:t>
                  </m:r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𝑌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𝑛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∣</m:t>
                  </m:r>
                  <m:r>
                    <a:rPr>
                      <a:latin typeface="Cambria Math" panose="02040503050406030204" pitchFamily="18" charset="0"/>
                    </a:rPr>
                    <m:t>𝜃</m:t>
                  </m:r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∼</m:t>
                      </m:r>
                    </m:e>
                    <m:sub>
                      <m:r>
                        <m:rPr>
                          <m:nor/>
                        </m:rPr>
                        <a:rPr i="0"/>
                        <m:t>iid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𝑝</m:t>
                  </m:r>
                  <m:r>
                    <a:rPr>
                      <a:latin typeface="Cambria Math" panose="02040503050406030204" pitchFamily="18" charset="0"/>
                    </a:rPr>
                    <m:t>(</m:t>
                  </m:r>
                  <m:r>
                    <a:rPr>
                      <a:latin typeface="Cambria Math" panose="02040503050406030204" pitchFamily="18" charset="0"/>
                    </a:rPr>
                    <m:t>𝑦</m:t>
                  </m:r>
                  <m:r>
                    <a:rPr>
                      <a:latin typeface="Cambria Math" panose="02040503050406030204" pitchFamily="18" charset="0"/>
                    </a:rPr>
                    <m:t>∣</m:t>
                  </m:r>
                  <m:r>
                    <a:rPr>
                      <a:latin typeface="Cambria Math" panose="02040503050406030204" pitchFamily="18" charset="0"/>
                    </a:rPr>
                    <m:t>𝜃</m:t>
                  </m:r>
                  <m:r>
                    <a:rPr>
                      <a:latin typeface="Cambria Math" panose="02040503050406030204" pitchFamily="18" charset="0"/>
                    </a:rPr>
                    <m:t>),  </m:t>
                  </m:r>
                  <m:r>
                    <a:rPr>
                      <a:latin typeface="Cambria Math" panose="02040503050406030204" pitchFamily="18" charset="0"/>
                    </a:rPr>
                    <m:t>𝜃</m:t>
                  </m:r>
                  <m:r>
                    <a:rPr>
                      <a:latin typeface="Cambria Math" panose="02040503050406030204" pitchFamily="18" charset="0"/>
                    </a:rPr>
                    <m:t>∼</m:t>
                  </m:r>
                  <m:r>
                    <a:rPr>
                      <a:latin typeface="Cambria Math" panose="02040503050406030204" pitchFamily="18" charset="0"/>
                    </a:rPr>
                    <m:t>𝑝</m:t>
                  </m:r>
                  <m:r>
                    <a:rPr>
                      <a:latin typeface="Cambria Math" panose="02040503050406030204" pitchFamily="18" charset="0"/>
                    </a:rPr>
                    <m:t>(</m:t>
                  </m:r>
                  <m:r>
                    <a:rPr>
                      <a:latin typeface="Cambria Math" panose="02040503050406030204" pitchFamily="18" charset="0"/>
                    </a:rPr>
                    <m:t>𝜃</m:t>
                  </m:r>
                  <m:r>
                    <a:rPr>
                      <a:latin typeface="Cambria Math" panose="02040503050406030204" pitchFamily="18" charset="0"/>
                    </a:rPr>
                    <m:t>).</m:t>
                  </m:r>
                </m:oMath>
              </m:oMathPara>
            </a14:m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40</a:t>
            </a:fld>
            <a:endParaRPr lang="en-GB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Exchangeability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So the familiar “i.i.d. given a parameter, plus a prior” set-up is a </a:t>
            </a:r>
            <a:r>
              <a:rPr i="1"/>
              <a:t>consequence</a:t>
            </a:r>
            <a:r>
              <a:t> of a simple symmetry judgement. When the labels </a:t>
            </a:r>
            <a:r>
              <a:rPr i="1"/>
              <a:t>do</a:t>
            </a:r>
            <a:r>
              <a:t> carry information (children from different villages, patients before and after a power cut), exchangeability fails and the model must account for this. We will return to this with hierarchical models in Lecture 5.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41</a:t>
            </a:fld>
            <a:endParaRPr lang="en-GB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Why grids are not enough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lvl="0" indent="0">
                  <a:buNone/>
                </a:pPr>
                <a:r>
                  <a:rPr dirty="0"/>
                  <a:t>The grid method needs the posterior evaluated at every grid point. With 100 grid points per parameter:</a:t>
                </a:r>
              </a:p>
              <a:p>
                <a:pPr lvl="0"/>
                <a:r>
                  <a:rPr sz="2400" dirty="0"/>
                  <a:t>1 parameters </a:t>
                </a:r>
                <a14:m>
                  <m:oMath xmlns:m="http://schemas.openxmlformats.org/officeDocument/2006/math">
                    <m:r>
                      <a:rPr sz="240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dirty="0"/>
                  <a:t> 100 grid points</a:t>
                </a:r>
              </a:p>
              <a:p>
                <a:pPr lvl="0"/>
                <a:r>
                  <a:rPr sz="2400" dirty="0"/>
                  <a:t>2 parameters </a:t>
                </a:r>
                <a14:m>
                  <m:oMath xmlns:m="http://schemas.openxmlformats.org/officeDocument/2006/math">
                    <m:r>
                      <a:rPr sz="240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dirty="0"/>
                  <a:t> 10,000 grid points</a:t>
                </a:r>
              </a:p>
              <a:p>
                <a:pPr lvl="0"/>
                <a:r>
                  <a:rPr sz="2400" dirty="0"/>
                  <a:t>5 parameters </a:t>
                </a:r>
                <a14:m>
                  <m:oMath xmlns:m="http://schemas.openxmlformats.org/officeDocument/2006/math">
                    <m:r>
                      <a:rPr sz="240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dirty="0"/>
                  <a:t> 10</a:t>
                </a:r>
                <a:r>
                  <a:rPr sz="2400" baseline="30000" dirty="0"/>
                  <a:t>5</a:t>
                </a:r>
                <a:r>
                  <a:rPr sz="2400" dirty="0"/>
                  <a:t> grid points</a:t>
                </a:r>
              </a:p>
              <a:p>
                <a:pPr lvl="0"/>
                <a:r>
                  <a:rPr sz="2400" dirty="0"/>
                  <a:t>10 parameters </a:t>
                </a:r>
                <a14:m>
                  <m:oMath xmlns:m="http://schemas.openxmlformats.org/officeDocument/2006/math">
                    <m:r>
                      <a:rPr sz="240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dirty="0"/>
                  <a:t> 10</a:t>
                </a:r>
                <a:r>
                  <a:rPr sz="2400" baseline="30000" dirty="0"/>
                  <a:t>10</a:t>
                </a:r>
                <a:r>
                  <a:rPr sz="2400" dirty="0"/>
                  <a:t> grid points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 dirty="0"/>
              </a:p>
              <a:p>
                <a:pPr marL="0" lvl="0" indent="0">
                  <a:buNone/>
                </a:pPr>
                <a:r>
                  <a:rPr dirty="0"/>
                  <a:t>A logistic regression with 10 covariates cannot be computed anymore by standard computers. This </a:t>
                </a:r>
                <a:r>
                  <a:rPr b="1" dirty="0"/>
                  <a:t>curse of dimensionality</a:t>
                </a:r>
                <a:r>
                  <a:rPr dirty="0"/>
                  <a:t> motivates Monte Carlo and MCMC (Lecture 3), which spend computational effort only where the posterior has appreciable mass.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981" r="-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42</a:t>
            </a:fld>
            <a:endParaRPr lang="en-GB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[end of STA623 Bayesian Data analysis Session 1]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43</a:t>
            </a:fld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3437</Words>
  <Application>Microsoft Macintosh PowerPoint</Application>
  <PresentationFormat>Widescreen</PresentationFormat>
  <Paragraphs>268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9" baseType="lpstr">
      <vt:lpstr>Arial</vt:lpstr>
      <vt:lpstr>Calibri</vt:lpstr>
      <vt:lpstr>Calibri Light</vt:lpstr>
      <vt:lpstr>Cambria Math</vt:lpstr>
      <vt:lpstr>Courier</vt:lpstr>
      <vt:lpstr>Office Theme</vt:lpstr>
      <vt:lpstr>STA623 Bayesian Data Analysis</vt:lpstr>
      <vt:lpstr>Preliminaries</vt:lpstr>
      <vt:lpstr>How this course is organised</vt:lpstr>
      <vt:lpstr>How this course is organised</vt:lpstr>
      <vt:lpstr>Code notes</vt:lpstr>
      <vt:lpstr>License</vt:lpstr>
      <vt:lpstr>References</vt:lpstr>
      <vt:lpstr>Notation</vt:lpstr>
      <vt:lpstr>Morning quiz</vt:lpstr>
      <vt:lpstr>Introduction</vt:lpstr>
      <vt:lpstr>Introduction</vt:lpstr>
      <vt:lpstr>Bayesian reasoning</vt:lpstr>
      <vt:lpstr>Bayesian reasoning</vt:lpstr>
      <vt:lpstr>Two ways of thinking about the unknown</vt:lpstr>
      <vt:lpstr>Two ways of thinking about the unknown</vt:lpstr>
      <vt:lpstr>The only probability rules you need</vt:lpstr>
      <vt:lpstr>Example: a malaria rapid diagnostic test</vt:lpstr>
      <vt:lpstr>Example: a malaria rapid diagnostic test</vt:lpstr>
      <vt:lpstr>Example: a malaria rapid diagnostic test</vt:lpstr>
      <vt:lpstr>Example: a malaria rapid diagnostic test</vt:lpstr>
      <vt:lpstr>Example: a malaria rapid diagnostic test</vt:lpstr>
      <vt:lpstr>From hypotheses to parameters</vt:lpstr>
      <vt:lpstr>Bayesian analysis</vt:lpstr>
      <vt:lpstr>A first computational method: grid approximation</vt:lpstr>
      <vt:lpstr>Grid approximation</vt:lpstr>
      <vt:lpstr>Grid approximation</vt:lpstr>
      <vt:lpstr>Grid approximation</vt:lpstr>
      <vt:lpstr>Grid approximation</vt:lpstr>
      <vt:lpstr>PowerPoint Presentation</vt:lpstr>
      <vt:lpstr>Summarising a grid posterior by sampling</vt:lpstr>
      <vt:lpstr>Summarising a grid posterior by sampling</vt:lpstr>
      <vt:lpstr>The exact answer: conjugacy</vt:lpstr>
      <vt:lpstr>The exact answer: conjugacy</vt:lpstr>
      <vt:lpstr>The exact answer: conjugacy</vt:lpstr>
      <vt:lpstr>The exact answer: conjugacy</vt:lpstr>
      <vt:lpstr>Prior versus data</vt:lpstr>
      <vt:lpstr>Prior versus data</vt:lpstr>
      <vt:lpstr>Prior versus data</vt:lpstr>
      <vt:lpstr>Sequential updating</vt:lpstr>
      <vt:lpstr>Exchangeability</vt:lpstr>
      <vt:lpstr>Exchangeability</vt:lpstr>
      <vt:lpstr>Why grids are not enough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10</TotalTime>
  <Words>2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STA623 Bayesian Data Analysis</dc:title>
  <dc:creator>Marc Henrion</dc:creator>
  <cp:keywords/>
  <cp:lastModifiedBy>Marc Henrion</cp:lastModifiedBy>
  <cp:revision>1</cp:revision>
  <dcterms:created xsi:type="dcterms:W3CDTF">2026-09-25T20:35:34Z</dcterms:created>
  <dcterms:modified xsi:type="dcterms:W3CDTF">2026-09-25T20:36:48Z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2026-09-28</vt:lpwstr>
  </property>
  <property fmtid="{D5CDD505-2E9C-101B-9397-08002B2CF9AE}" pid="6" name="execute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subtitle">
    <vt:lpwstr>Session 1: Bayesian reasoning: prior, likelihood, posterior</vt:lpwstr>
  </property>
  <property fmtid="{D5CDD505-2E9C-101B-9397-08002B2CF9AE}" pid="12" name="toc-title">
    <vt:lpwstr>Table of contents</vt:lpwstr>
  </property>
</Properties>
</file>